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b1789a92cf40cc" /><Relationship Type="http://schemas.openxmlformats.org/officeDocument/2006/relationships/extended-properties" Target="/docProps/app.xml" Id="Rc2f12fb719b5422f" /><Relationship Type="http://schemas.openxmlformats.org/officeDocument/2006/relationships/officeDocument" Target="/ppt/presentation.xml" Id="R932e2b68f83347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9a571213e345cc"/>
  </p:sldMasterIdLst>
  <p:notesMasterIdLst>
    <p:notesMasterId xmlns:r="http://schemas.openxmlformats.org/officeDocument/2006/relationships" r:id="Rc5a65475d8a74111"/>
  </p:notesMasterIdLst>
  <p:sldIdLst>
    <p:sldId xmlns:r="http://schemas.openxmlformats.org/officeDocument/2006/relationships" id="256" r:id="R9a483034eab14a7c"/>
    <p:sldId xmlns:r="http://schemas.openxmlformats.org/officeDocument/2006/relationships" id="257" r:id="Rc6cbda2d85494943"/>
    <p:sldId xmlns:r="http://schemas.openxmlformats.org/officeDocument/2006/relationships" id="258" r:id="Rbe3c00d037624d7e"/>
    <p:sldId xmlns:r="http://schemas.openxmlformats.org/officeDocument/2006/relationships" id="259" r:id="Ra6d1a3ca05f34a9c"/>
    <p:sldId xmlns:r="http://schemas.openxmlformats.org/officeDocument/2006/relationships" id="260" r:id="R581991240076432f"/>
    <p:sldId xmlns:r="http://schemas.openxmlformats.org/officeDocument/2006/relationships" id="261" r:id="R9f8278e017054a2a"/>
    <p:sldId xmlns:r="http://schemas.openxmlformats.org/officeDocument/2006/relationships" id="262" r:id="R159903e9351f4c8e"/>
    <p:sldId xmlns:r="http://schemas.openxmlformats.org/officeDocument/2006/relationships" id="263" r:id="Rb1cfc59cc5054781"/>
    <p:sldId xmlns:r="http://schemas.openxmlformats.org/officeDocument/2006/relationships" id="264" r:id="Rfcd7286919b348cb"/>
    <p:sldId xmlns:r="http://schemas.openxmlformats.org/officeDocument/2006/relationships" id="265" r:id="R2103a4135a83401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34e47ec34b4d59" /><Relationship Type="http://schemas.openxmlformats.org/officeDocument/2006/relationships/slideMaster" Target="/ppt/slideMasters/slideMaster1.xml" Id="R6d9a571213e345cc" /><Relationship Type="http://schemas.openxmlformats.org/officeDocument/2006/relationships/notesMaster" Target="/ppt/notesMasters/notesMaster1.xml" Id="Rc5a65475d8a74111" /><Relationship Type="http://schemas.openxmlformats.org/officeDocument/2006/relationships/presProps" Target="/ppt/presProps.xml" Id="R5f80d249e594437d" /><Relationship Type="http://schemas.openxmlformats.org/officeDocument/2006/relationships/tableStyles" Target="/ppt/tableStyles.xml" Id="R5f63a12611ce4150" /><Relationship Type="http://schemas.openxmlformats.org/officeDocument/2006/relationships/slide" Target="/ppt/slides/slide1.xml" Id="R9a483034eab14a7c" /><Relationship Type="http://schemas.openxmlformats.org/officeDocument/2006/relationships/slide" Target="/ppt/slides/slide2.xml" Id="Rc6cbda2d85494943" /><Relationship Type="http://schemas.openxmlformats.org/officeDocument/2006/relationships/slide" Target="/ppt/slides/slide3.xml" Id="Rbe3c00d037624d7e" /><Relationship Type="http://schemas.openxmlformats.org/officeDocument/2006/relationships/slide" Target="/ppt/slides/slide4.xml" Id="Ra6d1a3ca05f34a9c" /><Relationship Type="http://schemas.openxmlformats.org/officeDocument/2006/relationships/slide" Target="/ppt/slides/slide5.xml" Id="R581991240076432f" /><Relationship Type="http://schemas.openxmlformats.org/officeDocument/2006/relationships/slide" Target="/ppt/slides/slide6.xml" Id="R9f8278e017054a2a" /><Relationship Type="http://schemas.openxmlformats.org/officeDocument/2006/relationships/slide" Target="/ppt/slides/slide7.xml" Id="R159903e9351f4c8e" /><Relationship Type="http://schemas.openxmlformats.org/officeDocument/2006/relationships/slide" Target="/ppt/slides/slide8.xml" Id="Rb1cfc59cc5054781" /><Relationship Type="http://schemas.openxmlformats.org/officeDocument/2006/relationships/slide" Target="/ppt/slides/slide9.xml" Id="Rfcd7286919b348cb" /><Relationship Type="http://schemas.openxmlformats.org/officeDocument/2006/relationships/slide" Target="/ppt/slides/slide10.xml" Id="R2103a4135a8340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82a4990b2d45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retendard"/>
        <a:ea typeface=""/>
        <a:cs typeface=""/>
      </a:majorFont>
      <a:minorFont>
        <a:latin typeface="Pretendard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942129935f4ae7" /><Relationship Type="http://schemas.openxmlformats.org/officeDocument/2006/relationships/notesMaster" Target="/ppt/notesMasters/notesMaster1.xml" Id="Raa97d8a7567345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0633b8a51cc40df" /><Relationship Type="http://schemas.openxmlformats.org/officeDocument/2006/relationships/notesMaster" Target="/ppt/notesMasters/notesMaster1.xml" Id="R3e08a3aceb7442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31180a8a1748b9" /><Relationship Type="http://schemas.openxmlformats.org/officeDocument/2006/relationships/notesMaster" Target="/ppt/notesMasters/notesMaster1.xml" Id="R3e9927604f08409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51f668b3434c37" /><Relationship Type="http://schemas.openxmlformats.org/officeDocument/2006/relationships/notesMaster" Target="/ppt/notesMasters/notesMaster1.xml" Id="R8bcb3cc84f5c4c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83e7a6e25041a2" /><Relationship Type="http://schemas.openxmlformats.org/officeDocument/2006/relationships/notesMaster" Target="/ppt/notesMasters/notesMaster1.xml" Id="R3934640a5faf42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c35cbdc7ef4516" /><Relationship Type="http://schemas.openxmlformats.org/officeDocument/2006/relationships/notesMaster" Target="/ppt/notesMasters/notesMaster1.xml" Id="Rde03418c2a32404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d1664d9b9f4c9f" /><Relationship Type="http://schemas.openxmlformats.org/officeDocument/2006/relationships/notesMaster" Target="/ppt/notesMasters/notesMaster1.xml" Id="R0e9adb4ac4474fe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2435978ea184f0a" /><Relationship Type="http://schemas.openxmlformats.org/officeDocument/2006/relationships/notesMaster" Target="/ppt/notesMasters/notesMaster1.xml" Id="R20700002e29345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baf4388b704a74" /><Relationship Type="http://schemas.openxmlformats.org/officeDocument/2006/relationships/notesMaster" Target="/ppt/notesMasters/notesMaster1.xml" Id="R9a59134efa18476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3123cfe8f574d72" /><Relationship Type="http://schemas.openxmlformats.org/officeDocument/2006/relationships/notesMaster" Target="/ppt/notesMasters/notesMaster1.xml" Id="R4dbc5bf427294674" /></Relationships>
</file>

<file path=ppt/notesSlides/notesSlide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3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4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5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6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7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8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9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notesSlides/notesSlide10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/>
      </ns0:grpSpPr>
      <ns0:sp>
        <ns0:nvSpPr>
          <ns0:cNvPr id="2" name="Slide Image Placeholder 1"/>
          <ns0:cNvSpPr>
            <ns1:spLocks noGrp="1"/>
          </ns0:cNvSpPr>
          <ns0:nvPr>
            <ns0:ph type="sldImg" idx="0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  <ns1:p>
            <ns1:r>
              <ns1:t/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/>
        </ns0:txBody>
      </ns0:sp>
    </ns0:spTree>
  </ns0:cSld>
  <ns0:clrMapOvr>
    <ns1:masterClrMapping/>
  </ns0:clrMapOvr>
</ns0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a8ab69a3f84dc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3bd085d86747b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c86335cb134dc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7abc276838438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0e727523404d2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2162f0626242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4E4114-B2A3-4067-A4E1-769163CAF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8D8EC17-C825-4379-A852-73FC182AD7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BFFF7CA-6C05-4311-AF46-0EF53F002F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FFB140E-588C-4044-BD56-3E807960F8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901E70C-1AA9-43AD-B499-AE795857FA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697B3B1-3F6C-4B83-91FC-DB1B21AE18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6314714-53B1-408C-ADBC-D6643F254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A4D8653-0983-4699-BDED-6B52101AEBD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C2CC6FE-944F-4122-8DE0-2A0641DA04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D1FA363-3A55-4685-BCF5-AB267F442C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47c1e0ce8c4189" /><Relationship Type="http://schemas.openxmlformats.org/officeDocument/2006/relationships/slideLayout" Target="/ppt/slideLayouts/slideLayout1.xml" Id="Rf26fa536330c4feb" /><Relationship Type="http://schemas.openxmlformats.org/officeDocument/2006/relationships/slideLayout" Target="/ppt/slideLayouts/slideLayout2.xml" Id="R49ca1b97d5a94856" /><Relationship Type="http://schemas.openxmlformats.org/officeDocument/2006/relationships/slideLayout" Target="/ppt/slideLayouts/slideLayout3.xml" Id="R895b3c7aecb44baf" /><Relationship Type="http://schemas.openxmlformats.org/officeDocument/2006/relationships/slideLayout" Target="/ppt/slideLayouts/slideLayout4.xml" Id="Rb9004658caa0417e" /><Relationship Type="http://schemas.openxmlformats.org/officeDocument/2006/relationships/slideLayout" Target="/ppt/slideLayouts/slideLayout5.xml" Id="Rc049be0d36024c85" /><Relationship Type="http://schemas.openxmlformats.org/officeDocument/2006/relationships/slideLayout" Target="/ppt/slideLayouts/slideLayout6.xml" Id="R6311f42452e4473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6fa536330c4feb"/>
    <p:sldLayoutId xmlns:r="http://schemas.openxmlformats.org/officeDocument/2006/relationships" id="2147483650" r:id="R49ca1b97d5a94856"/>
    <p:sldLayoutId xmlns:r="http://schemas.openxmlformats.org/officeDocument/2006/relationships" id="2147483651" r:id="R895b3c7aecb44baf"/>
    <p:sldLayoutId xmlns:r="http://schemas.openxmlformats.org/officeDocument/2006/relationships" id="2147483652" r:id="Rb9004658caa0417e"/>
    <p:sldLayoutId xmlns:r="http://schemas.openxmlformats.org/officeDocument/2006/relationships" id="2147483653" r:id="Rc049be0d36024c85"/>
    <p:sldLayoutId xmlns:r="http://schemas.openxmlformats.org/officeDocument/2006/relationships" id="2147483654" r:id="R6311f42452e4473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retendard"/>
        <a:ea typeface=""/>
        <a:cs typeface=""/>
      </a:majorFont>
      <a:minorFont>
        <a:latin typeface="Pretendard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67b2e06440416f" /><Relationship Type="http://schemas.openxmlformats.org/officeDocument/2006/relationships/image" Target="/ppt/media/image.png" Id="Re2f034a2442a4800" /><Relationship Type="http://schemas.openxmlformats.org/officeDocument/2006/relationships/notesSlide" Target="/ppt/notesSlides/notesSlide1.xml" Id="Rd0049062115842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62ae005919452d" /><Relationship Type="http://schemas.openxmlformats.org/officeDocument/2006/relationships/image" Target="/ppt/media/image2.png" Id="Re25d0b75c168460d" /><Relationship Type="http://schemas.openxmlformats.org/officeDocument/2006/relationships/notesSlide" Target="/ppt/notesSlides/notesSlide2.xml" Id="Rbdad44e87a0e45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f1c00f4f594d12" /><Relationship Type="http://schemas.openxmlformats.org/officeDocument/2006/relationships/image" Target="/ppt/media/image3.png" Id="Rfeaf4e0b7d5d4582" /><Relationship Type="http://schemas.openxmlformats.org/officeDocument/2006/relationships/notesSlide" Target="/ppt/notesSlides/notesSlide3.xml" Id="Re7655e9b30ae47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f58513c6864c4b" /><Relationship Type="http://schemas.openxmlformats.org/officeDocument/2006/relationships/notesSlide" Target="/ppt/notesSlides/notesSlide4.xml" Id="Rb07e7bd9ad534f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19e324f6af4030" /><Relationship Type="http://schemas.openxmlformats.org/officeDocument/2006/relationships/notesSlide" Target="/ppt/notesSlides/notesSlide5.xml" Id="R1bd6c4c252e64e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1cfdfac9604a27" /><Relationship Type="http://schemas.openxmlformats.org/officeDocument/2006/relationships/notesSlide" Target="/ppt/notesSlides/notesSlide6.xml" Id="R1b458b71da4d43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ec074dea734468" /><Relationship Type="http://schemas.openxmlformats.org/officeDocument/2006/relationships/image" Target="/ppt/media/image4.png" Id="R58c04fde98ac44f9" /><Relationship Type="http://schemas.openxmlformats.org/officeDocument/2006/relationships/notesSlide" Target="/ppt/notesSlides/notesSlide7.xml" Id="R4804f391c08a46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8db9ea6edf41ad" /><Relationship Type="http://schemas.openxmlformats.org/officeDocument/2006/relationships/chart" Target="/ppt/slides/charts/chart1.xml" Id="R85bf4b988ef5487b" /><Relationship Type="http://schemas.openxmlformats.org/officeDocument/2006/relationships/notesSlide" Target="/ppt/notesSlides/notesSlide8.xml" Id="R83fafdf3d30343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0f47b979094bfe" /><Relationship Type="http://schemas.openxmlformats.org/officeDocument/2006/relationships/notesSlide" Target="/ppt/notesSlides/notesSlide9.xml" Id="R8b913181447a413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3678628ce347c0" /><Relationship Type="http://schemas.openxmlformats.org/officeDocument/2006/relationships/notesSlide" Target="/ppt/notesSlides/notesSlide10.xml" Id="R9aefd05a5f01451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SQL 호출 수</c:v>
          </c:tx>
          <c:dPt>
            <c:idx val="0"/>
            <c:invertIfNegative val="0"/>
            <c:spPr>
              <a:solidFill xmlns:a="http://schemas.openxmlformats.org/drawingml/2006/main">
                <a:srgbClr val="A5B3B7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5485A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변경 전</c:v>
                </c:pt>
                <c:pt idx="1">
                  <c:v>변경 후</c:v>
                </c:pt>
              </c:strCache>
            </c:strRef>
          </c:cat>
          <c:val>
            <c:numRef>
              <c:f>'Chart Data'!$B$2:$B$3</c:f>
              <c:numCache>
                <c:formatCode>#,##0</c:formatCode>
                <c:ptCount val="2"/>
                <c:pt idx="0">
                  <c:v>1639</c:v>
                </c:pt>
                <c:pt idx="1">
                  <c:v>32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latin typeface="Pretendard"/>
                  <a:ea typeface="Pretendard"/>
                  <a:cs typeface="Pretendar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666666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DCE2DF"/>
              </a:solidFill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AF9F6"/>
        </a:solidFill>
      </c:spPr>
    </c:plotArea>
    <c:plotVisOnly val="1"/>
  </c:chart>
  <c:spPr>
    <a:solidFill xmlns:a="http://schemas.openxmlformats.org/drawingml/2006/main">
      <a:srgbClr val="FAF9F6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5485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D8425-247E-46DC-880E-89D4CE7E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8191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88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8850" b="1">
                <a:solidFill>
                  <a:srgbClr val="FFFFFF"/>
                </a:solidFill>
              </a:defRPr>
            </a:pPr>
            <a:r>
              <a:rPr sz="88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34A2F-0790-4E65-8437-CB30FA96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76675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0">
                <a:solidFill>
                  <a:srgbClr val="E9EFEC"/>
                </a:solidFill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E9EFEC"/>
                </a:solidFill>
              </a:defRPr>
            </a:pPr>
            <a:r>
              <a:rPr sz="3150" b="0">
                <a:solidFill>
                  <a:srgbClr val="E9EFEC"/>
                </a:solidFill>
                <a:latin typeface="Pretendard"/>
                <a:ea typeface="Pretendard"/>
                <a:cs typeface="Pretendard"/>
              </a:rPr>
              <a:t>리뷰의 근거로 고르고, 내 여행에 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317A4-00D0-48D7-991D-C77ABB23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BFD4D3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BFD4D3"/>
                </a:solidFill>
              </a:defRPr>
            </a:pPr>
            <a:r>
              <a:rPr sz="2100" b="0">
                <a:solidFill>
                  <a:srgbClr val="BFD4D3"/>
                </a:solidFill>
                <a:latin typeface="Pretendard"/>
                <a:ea typeface="Pretendard"/>
                <a:cs typeface="Pretendard"/>
              </a:rPr>
              <a:t>GOING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E7502-F442-4970-A057-EE9B6378C1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f034a2442a4800"/>
          <a:stretch xmlns:a="http://schemas.openxmlformats.org/drawingml/2006/main"/>
        </p:blipFill>
        <p:spPr>
          <a:xfrm xmlns:a="http://schemas.openxmlformats.org/drawingml/2006/main">
            <a:off x="9334500" y="2190750"/>
            <a:ext cx="1714500" cy="1714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385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C4896C-C7B6-4226-83A1-E5AD3BAF9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30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5485A"/>
                </a:solidFill>
              </a:defRPr>
            </a:pPr>
            <a:r>
              <a:rPr sz="33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여행 준비에서 반복되는 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F20B4-5702-43F1-B36D-7528392A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86970"/>
                </a:solidFill>
              </a:defRPr>
            </a:pPr>
            <a:r>
              <a:rPr sz="20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이미 있는 정보를 계속 다시 정리했습니다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04BD13-C65A-4368-8604-35724C2E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86970"/>
                </a:solidFill>
              </a:defRPr>
            </a:pPr>
            <a:r>
              <a:rPr sz="1500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2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7CA5A-7B27-44C9-A6C8-3ACA04C5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905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25485A"/>
                </a:solidFill>
              </a:defRPr>
            </a:pPr>
            <a:r>
              <a: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“체크아웃이 몇 시였지?”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7571B7-B041-4026-937B-8C31A64E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3905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25485A"/>
                </a:solidFill>
              </a:defRPr>
            </a:pPr>
            <a:r>
              <a: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“어떤 식당을 가야 할까?”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6F88CF-E3FB-41BA-9599-2B834B6A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3810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586970"/>
                </a:solidFill>
              </a:defRPr>
            </a:pPr>
            <a:r>
              <a:rPr sz="217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예약과 장소를</a:t>
            </a:r>
            <a:br>
              <a:rPr sz="217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</a:br>
            <a:r>
              <a:rPr sz="217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한 여행 안에서 이어서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53D799-2B90-4D06-8F99-51131BA687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5d0b75c168460d"/>
          <a:stretch xmlns:a="http://schemas.openxmlformats.org/drawingml/2006/main"/>
        </p:blipFill>
        <p:spPr>
          <a:xfrm xmlns:a="http://schemas.openxmlformats.org/drawingml/2006/main">
            <a:off x="4905375" y="2059753"/>
            <a:ext cx="6648450" cy="420534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3223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267A52-3A57-46E1-B4CF-6AB53B4C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30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5485A"/>
                </a:solidFill>
              </a:defRPr>
            </a:pPr>
            <a:r>
              <a:rPr sz="33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예약 메일이 여행의 기준이 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6F449E-1531-4A8E-9146-73B29E4E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86970"/>
                </a:solidFill>
              </a:defRPr>
            </a:pPr>
            <a:r>
              <a:rPr sz="20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추출한 값은 확인하고 고칠 수 있습니다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C8853B-FB4A-4A50-AB6B-FCB3CFDC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86970"/>
                </a:solidFill>
              </a:defRPr>
            </a:pPr>
            <a:r>
              <a:rPr sz="1500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3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450294-A816-4BC9-8A52-3EB26679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25485A"/>
                </a:solidFill>
              </a:defRPr>
            </a:pPr>
            <a:r>
              <a: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AI 추출값과</a:t>
            </a:r>
            <a:br>
              <a: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</a:br>
            <a:r>
              <a: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사용자 교정값을 분리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E12C0F-E7D7-43A9-A4AA-832F8444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2C31"/>
                </a:solidFill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02C31"/>
                </a:solidFill>
              </a:defRPr>
            </a:pP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하루 전체 질문은</a:t>
            </a:r>
            <a:b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</a:b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날짜 기준으로 모두 조회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C3D28-C7DC-46A8-8F8E-4AE32E27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86970"/>
                </a:solidFill>
              </a:defRPr>
            </a:pPr>
            <a:r>
              <a:rPr sz="17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가상 메일로 촬영한 기존 화면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EF1099-13F3-4B8D-971A-0931C6F323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f4e0b7d5d4582"/>
          <a:stretch xmlns:a="http://schemas.openxmlformats.org/drawingml/2006/main"/>
        </p:blipFill>
        <p:spPr>
          <a:xfrm xmlns:a="http://schemas.openxmlformats.org/drawingml/2006/main">
            <a:off x="4602389" y="1933575"/>
            <a:ext cx="6625771" cy="4191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1429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9B0A62-4DE4-470C-9C60-A711C104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30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5485A"/>
                </a:solidFill>
              </a:defRPr>
            </a:pPr>
            <a:r>
              <a:rPr sz="33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장소를 고르는 두 가지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D3F642-073E-4B79-9849-EC8589FC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86970"/>
                </a:solidFill>
              </a:defRPr>
            </a:pPr>
            <a:r>
              <a:rPr sz="20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현지어 리뷰로 찾기와 유명한 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B6EFD-9114-44EA-B03E-96C722B1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86970"/>
                </a:solidFill>
              </a:defRPr>
            </a:pPr>
            <a:r>
              <a:rPr sz="1500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4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E3AE0F-4922-46F8-9273-FB79F9CD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143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850" b="1">
                <a:solidFill>
                  <a:srgbClr val="3F706F"/>
                </a:solidFill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3F706F"/>
                </a:solidFill>
              </a:defRPr>
            </a:pPr>
            <a:r>
              <a:rPr sz="2850" b="1">
                <a:solidFill>
                  <a:srgbClr val="3F706F"/>
                </a:solidFill>
                <a:latin typeface="Pretendard"/>
                <a:ea typeface="Pretendard"/>
                <a:cs typeface="Pretendard"/>
              </a:rPr>
              <a:t>현지어 리뷰로 찾기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E2302-3F66-48F2-B56D-8344EDAE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50006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325" b="0">
                <a:solidFill>
                  <a:srgbClr val="202C31"/>
                </a:solidFill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02C31"/>
                </a:solidFill>
              </a:defRPr>
            </a:pPr>
            <a:r>
              <a:rPr sz="2325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관측한 원문 언어</a:t>
            </a:r>
            <a:br>
              <a:rPr sz="2325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</a:br>
            <a:r>
              <a:rPr sz="2325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현지어와 한국어의 구성</a:t>
            </a:r>
            <a:br>
              <a:rPr sz="2325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</a:br>
            <a:r>
              <a:rPr sz="2325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미판별 리뷰까지 함께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49B5A3-B1D7-4BBD-92F3-BEBFE8D6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76475"/>
            <a:ext cx="5162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85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25485A"/>
                </a:solidFill>
              </a:defRPr>
            </a:pPr>
            <a:r>
              <a:rPr sz="28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유명한 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087A2-F8CE-45FD-AC07-0082A3F1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00400"/>
            <a:ext cx="50006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325" b="0">
                <a:solidFill>
                  <a:srgbClr val="202C31"/>
                </a:solidFill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02C31"/>
                </a:solidFill>
              </a:defRPr>
            </a:pPr>
            <a:r>
              <a:rPr sz="2325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공식 대표성</a:t>
            </a:r>
            <a:br>
              <a:rPr sz="2325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</a:br>
            <a:r>
              <a:rPr sz="2325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동일 플랫폼의 평가 규모</a:t>
            </a:r>
            <a:br>
              <a:rPr sz="2325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</a:br>
            <a:r>
              <a:rPr sz="2325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편집 자료에서 소개한 이유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F6E29C-034B-4351-BE24-0CB91306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586970"/>
                </a:solidFill>
              </a:defRPr>
            </a:pPr>
            <a:r>
              <a:rPr sz="217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음식점 · 카페 · 볼거리는 따로 선택합니다</a:t>
            </a:r>
          </a:p>
        </p:txBody>
      </p:sp>
    </p:spTree>
    <p:extLst>
      <p:ext uri="{BB962C8B-B14F-4D97-AF65-F5344CB8AC3E}">
        <p14:creationId xmlns:p14="http://schemas.microsoft.com/office/powerpoint/2010/main" val="15998876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FC4829-69D4-43F7-B0E9-86BC0F73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30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5485A"/>
                </a:solidFill>
              </a:defRPr>
            </a:pPr>
            <a:r>
              <a:rPr sz="33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리뷰 숫자를 해석하는 방법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336657-9FBA-481F-AB0B-C6D67DF7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86970"/>
                </a:solidFill>
              </a:defRPr>
            </a:pPr>
            <a:r>
              <a:rPr sz="20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관측한 200건으로 계산한 합성 예시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692081-8AF8-4979-93B1-A146BCC1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86970"/>
                </a:solidFill>
              </a:defRPr>
            </a:pPr>
            <a:r>
              <a:rPr sz="1500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5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30265B-A2B8-45C6-B2A9-7230A8E6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86970"/>
                </a:solidFill>
              </a:defRPr>
            </a:pPr>
            <a:r>
              <a:rPr sz="2100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현지어 보수적 하한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C5982A-DC11-4E4E-929D-FF2F8C1D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5143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7500" b="1">
                <a:solidFill>
                  <a:srgbClr val="3F706F"/>
                </a:solidFill>
              </a:defRPr>
            </a:defPPr>
          </a:lstStyle>
          <a:p xmlns:a="http://schemas.openxmlformats.org/drawingml/2006/main">
            <a:pPr>
              <a:defRPr sz="7500" b="1">
                <a:solidFill>
                  <a:srgbClr val="3F706F"/>
                </a:solidFill>
              </a:defRPr>
            </a:pPr>
            <a:r>
              <a:rPr sz="7500" b="1">
                <a:solidFill>
                  <a:srgbClr val="3F706F"/>
                </a:solidFill>
                <a:latin typeface="Pretendard"/>
                <a:ea typeface="Pretendard"/>
                <a:cs typeface="Pretendard"/>
              </a:rPr>
              <a:t>75%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82B675-A42F-4BA0-8E6A-8AC82FB69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04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 b="0">
                <a:solidFill>
                  <a:srgbClr val="202C31"/>
                </a:solidFill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2C31"/>
                </a:solidFill>
              </a:defRPr>
            </a:pPr>
            <a:r>
              <a:rPr sz="240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150 / 본문 200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AE8488-D3A3-456F-9703-F6444BD2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5740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86970"/>
                </a:solidFill>
              </a:defRPr>
            </a:pPr>
            <a:r>
              <a:rPr sz="2100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한국어 보수적 상한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5E22B-6B5E-4D1D-902D-C3CA9ECE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81275"/>
            <a:ext cx="5143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7500" b="1">
                <a:solidFill>
                  <a:srgbClr val="996D50"/>
                </a:solidFill>
              </a:defRPr>
            </a:defPPr>
          </a:lstStyle>
          <a:p xmlns:a="http://schemas.openxmlformats.org/drawingml/2006/main">
            <a:pPr>
              <a:defRPr sz="7500" b="1">
                <a:solidFill>
                  <a:srgbClr val="996D50"/>
                </a:solidFill>
              </a:defRPr>
            </a:pPr>
            <a:r>
              <a:rPr sz="7500" b="1">
                <a:solidFill>
                  <a:srgbClr val="996D50"/>
                </a:solidFill>
                <a:latin typeface="Pretendard"/>
                <a:ea typeface="Pretendard"/>
                <a:cs typeface="Pretendard"/>
              </a:rPr>
              <a:t>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9408E9-CF6D-43C8-9D21-B851BB44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10025"/>
            <a:ext cx="5162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2C31"/>
                </a:solidFill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02C31"/>
                </a:solidFill>
              </a:defRPr>
            </a:pP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(4 + 미판별 10) / 본문 200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8FD1C1-0074-4268-B6CB-36C4A2E3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86970"/>
                </a:solidFill>
              </a:defRPr>
            </a:pPr>
            <a:r>
              <a:rPr sz="20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판별 190건 기준 표시 비율은 현지어 78.9%, 한국어 2.1%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F70353-51E9-4AE5-BC5E-AB89E75A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86970"/>
                </a:solidFill>
              </a:defRPr>
            </a:pPr>
            <a:r>
              <a:rPr sz="1800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합성 계산 예시이며 주민 비율·통계적 신뢰구간이 아닙니다</a:t>
            </a:r>
          </a:p>
        </p:txBody>
      </p:sp>
    </p:spTree>
    <p:extLst>
      <p:ext uri="{BB962C8B-B14F-4D97-AF65-F5344CB8AC3E}">
        <p14:creationId xmlns:p14="http://schemas.microsoft.com/office/powerpoint/2010/main" val="14050674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C8B5B-67AF-473D-9955-513115FD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30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5485A"/>
                </a:solidFill>
              </a:defRPr>
            </a:pPr>
            <a:r>
              <a:rPr sz="33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추천은 근거를 먼저 검사합니다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B433EF-9910-440A-919C-9EBB4D76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86970"/>
                </a:solidFill>
              </a:defRPr>
            </a:pPr>
            <a:r>
              <a:rPr sz="20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취향과 예산을 비워도 기본 추천을 시작합니다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411DC4-94CC-410C-B2BF-793D99E9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86970"/>
                </a:solidFill>
              </a:defRPr>
            </a:pPr>
            <a:r>
              <a:rPr sz="1500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6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88187-5A9E-46EF-AA6C-E52985C9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5485A"/>
                </a:solidFill>
              </a:defRPr>
            </a:pPr>
            <a:r>
              <a: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01  지점 연결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E75A5-88A6-4D0B-B078-FB9A66EC3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152650"/>
            <a:ext cx="7334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2C31"/>
                </a:solidFill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02C31"/>
                </a:solidFill>
              </a:defRPr>
            </a:pP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이름이 같아도 주소와 외부 ID를 대조합니다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02B615-8FB7-4478-A07A-7D395137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5485A"/>
                </a:solidFill>
              </a:defRPr>
            </a:pPr>
            <a:r>
              <a: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02  근거 검사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33E8AC-EF58-41E9-A577-AA2A992B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362325"/>
            <a:ext cx="7334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2C31"/>
                </a:solidFill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02C31"/>
                </a:solidFill>
              </a:defRPr>
            </a:pP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권한·휴무·언어 품질의 실패를 점수로 덮지 않습니다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FE3F2E-B578-4120-8A88-265B8EF6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5485A"/>
                </a:solidFill>
              </a:defRPr>
            </a:pPr>
            <a:r>
              <a: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03  규칙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149D60-94EB-4917-BC39-EF931E26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581525"/>
            <a:ext cx="7334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2C31"/>
                </a:solidFill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02C31"/>
                </a:solidFill>
              </a:defRPr>
            </a:pP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선호를 비워 두면 일반 모델로 시작합니다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A7EFC2-2306-4E7A-B72F-51E235C6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86970"/>
                </a:solidFill>
              </a:defRPr>
            </a:pPr>
            <a:r>
              <a:rPr sz="17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학습 성과나 맛있을 확률을 생성하지 않습니다</a:t>
            </a:r>
          </a:p>
        </p:txBody>
      </p:sp>
    </p:spTree>
    <p:extLst>
      <p:ext uri="{BB962C8B-B14F-4D97-AF65-F5344CB8AC3E}">
        <p14:creationId xmlns:p14="http://schemas.microsoft.com/office/powerpoint/2010/main" val="18476051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B0AEF1-A27C-4C71-93BC-950BF35D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30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5485A"/>
                </a:solidFill>
              </a:defRPr>
            </a:pPr>
            <a:r>
              <a:rPr sz="33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선택한 장소를 일정에 담습니다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0FA738-75FF-4CAE-BD79-85D9B013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86970"/>
                </a:solidFill>
              </a:defRPr>
            </a:pPr>
            <a:r>
              <a:rPr sz="20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미리보기에서 확인하고, 적용한 뒤 되돌립니다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CC8F18-68F8-4C6D-AA56-7422B2BC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86970"/>
                </a:solidFill>
              </a:defRPr>
            </a:pPr>
            <a:r>
              <a:rPr sz="1500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7 / 10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699E47-D3C7-4BB2-87E8-33F8C77AF2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c04fde98ac44f9"/>
          <a:stretch xmlns:a="http://schemas.openxmlformats.org/drawingml/2006/main"/>
        </p:blipFill>
        <p:spPr>
          <a:xfrm xmlns:a="http://schemas.openxmlformats.org/drawingml/2006/main">
            <a:off x="611831" y="2095500"/>
            <a:ext cx="7767938" cy="4038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93D4B7-B1D5-4FEB-8B5C-EDC11586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526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5485A"/>
                </a:solidFill>
              </a:defRPr>
            </a:pPr>
            <a:r>
              <a:rPr sz="22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빈 시간 120분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2FA1CA-6B93-4CD5-BCBC-1F067269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048000"/>
            <a:ext cx="2762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2C31"/>
                </a:solidFill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02C31"/>
                </a:solidFill>
              </a:defRPr>
            </a:pP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체류 90분</a:t>
            </a:r>
            <a:b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</a:b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양쪽 이동 60분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5E52D7-4F50-4DED-A48C-DB5A5060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24375"/>
            <a:ext cx="2762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325" b="1">
                <a:solidFill>
                  <a:srgbClr val="996D50"/>
                </a:solidFill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996D50"/>
                </a:solidFill>
              </a:defRPr>
            </a:pPr>
            <a:r>
              <a:rPr sz="2325" b="1">
                <a:solidFill>
                  <a:srgbClr val="996D50"/>
                </a:solidFill>
                <a:latin typeface="Pretendard"/>
                <a:ea typeface="Pretendard"/>
                <a:cs typeface="Pretendard"/>
              </a:rPr>
              <a:t>총 150분</a:t>
            </a:r>
            <a:br>
              <a:rPr sz="2325" b="1">
                <a:solidFill>
                  <a:srgbClr val="996D50"/>
                </a:solidFill>
                <a:latin typeface="Pretendard"/>
                <a:ea typeface="Pretendard"/>
                <a:cs typeface="Pretendard"/>
              </a:rPr>
            </a:br>
            <a:r>
              <a:rPr sz="2325" b="1">
                <a:solidFill>
                  <a:srgbClr val="996D50"/>
                </a:solidFill>
                <a:latin typeface="Pretendard"/>
                <a:ea typeface="Pretendard"/>
                <a:cs typeface="Pretendard"/>
              </a:rPr>
              <a:t>배치할 수 없음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0E059A-01D9-4E4E-AFA4-646BCC6E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86970"/>
                </a:solidFill>
              </a:defRPr>
            </a:pPr>
            <a:r>
              <a:rPr sz="17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기존 합성 일정 화면 / 원본 예약을 자동으로 이동하지 않습니다</a:t>
            </a:r>
          </a:p>
        </p:txBody>
      </p:sp>
    </p:spTree>
    <p:extLst>
      <p:ext uri="{BB962C8B-B14F-4D97-AF65-F5344CB8AC3E}">
        <p14:creationId xmlns:p14="http://schemas.microsoft.com/office/powerpoint/2010/main" val="17282963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06917F-8FAF-4E91-B1E2-9A3184EA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30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5485A"/>
                </a:solidFill>
              </a:defRPr>
            </a:pPr>
            <a:r>
              <a:rPr sz="33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후보를 빠뜨리지 않고 읽기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752032-98B3-4619-B467-BD807E3AF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86970"/>
                </a:solidFill>
              </a:defRPr>
            </a:pPr>
            <a:r>
              <a:rPr sz="20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합성 후보 100개에서 추천 결과 조회를 비교했습니다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6D3166-6A7E-435B-8FE3-7592600C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86970"/>
                </a:solidFill>
              </a:defRPr>
            </a:pPr>
            <a:r>
              <a:rPr sz="1500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8 / 10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7D8C31F4-7FE2-463B-8EF5-5D486DAC0807}"/>
              </a:ext>
            </a:extLst>
          </p:cNvPr>
          <p:cNvGraphicFramePr/>
          <p:nvPr/>
        </p:nvGraphicFramePr>
        <p:xfrm>
          <a:off xmlns:a="http://schemas.openxmlformats.org/drawingml/2006/main" x="609600" y="1981200"/>
          <a:ext xmlns:a="http://schemas.openxmlformats.org/drawingml/2006/main" cx="7086600" cy="3695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bf4b988ef5487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C6803A-8471-4533-84AD-22D80813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28875"/>
            <a:ext cx="3209925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630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6300" b="1">
                <a:solidFill>
                  <a:srgbClr val="25485A"/>
                </a:solidFill>
              </a:defRPr>
            </a:pPr>
            <a:r>
              <a:rPr sz="63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32회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BCF012-4710-41F9-98A2-491DD5D9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67150"/>
            <a:ext cx="31718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2C31"/>
                </a:solidFill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02C31"/>
                </a:solidFill>
              </a:defRPr>
            </a:pP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후보별 반복 조회를</a:t>
            </a:r>
            <a:b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</a:b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일괄 조회로 변경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7C37C8-C07D-4D77-B871-84A81056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86970"/>
                </a:solidFill>
              </a:defRPr>
            </a:pPr>
            <a:r>
              <a:rPr sz="1800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SQLite·임시 PostgreSQL 동일 fixture / 운영 응답시간 비교는 별도</a:t>
            </a:r>
          </a:p>
        </p:txBody>
      </p:sp>
    </p:spTree>
    <p:extLst>
      <p:ext uri="{BB962C8B-B14F-4D97-AF65-F5344CB8AC3E}">
        <p14:creationId xmlns:p14="http://schemas.microsoft.com/office/powerpoint/2010/main" val="9763211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0ADCEC-D860-43E6-B1BE-26B06E61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30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5485A"/>
                </a:solidFill>
              </a:defRPr>
            </a:pPr>
            <a:r>
              <a:rPr sz="33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구현과 실제 데이터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C7DB3B-A582-4B82-B5F0-84990745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86970"/>
                </a:solidFill>
              </a:defRPr>
            </a:pPr>
            <a:r>
              <a:rPr sz="20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완료한 코드와 아직 확인할 자료를 구분합니다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EC7FC6-D4CD-4578-8434-F7BA4A2A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86970"/>
                </a:solidFill>
              </a:defRPr>
            </a:pPr>
            <a:r>
              <a:rPr sz="1500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9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A7D447-4F4E-4B25-87C7-C9E6B08C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5010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775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25485A"/>
                </a:solidFill>
              </a:defRPr>
            </a:pPr>
            <a:r>
              <a:rPr sz="277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코드와 합성 시험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04FD0B-9D72-45CE-B20C-A199AFC0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509587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2C31"/>
                </a:solidFill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02C31"/>
                </a:solidFill>
              </a:defRPr>
            </a:pP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지점 연결과 근거 검증</a:t>
            </a:r>
            <a:b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</a:b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두 추천 방식과 기본 모델</a:t>
            </a:r>
            <a:b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</a:b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일정 미리보기·적용·복원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E514FB-B89D-4408-9D47-A5E98521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62175"/>
            <a:ext cx="5162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775" b="1">
                <a:solidFill>
                  <a:srgbClr val="996D50"/>
                </a:solidFill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996D50"/>
                </a:solidFill>
              </a:defRPr>
            </a:pPr>
            <a:r>
              <a:rPr sz="2775" b="1">
                <a:solidFill>
                  <a:srgbClr val="996D50"/>
                </a:solidFill>
                <a:latin typeface="Pretendard"/>
                <a:ea typeface="Pretendard"/>
                <a:cs typeface="Pretendard"/>
              </a:rPr>
              <a:t>실제 데이터 확인 필요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FAAE3D-D49E-4500-9D8E-6604971A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33725"/>
            <a:ext cx="5143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02C31"/>
                </a:solidFill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02C31"/>
                </a:solidFill>
              </a:defRPr>
            </a:pP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공급자 계약과 이용 범위</a:t>
            </a:r>
            <a:b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</a:b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실제 리뷰 언어의 독립 평가</a:t>
            </a:r>
            <a:b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</a:br>
            <a:r>
              <a:rPr sz="225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도시별 엄격 추천 활성화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5A6945-9634-48D7-B8A3-3EC0978A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347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86970"/>
                </a:solidFill>
              </a:defRPr>
            </a:pPr>
            <a:r>
              <a:rPr sz="20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엄격 언어 추천은 OFF / 100개 도시 선택과 언어 품질 검증은 별개</a:t>
            </a:r>
          </a:p>
        </p:txBody>
      </p:sp>
    </p:spTree>
    <p:extLst>
      <p:ext uri="{BB962C8B-B14F-4D97-AF65-F5344CB8AC3E}">
        <p14:creationId xmlns:p14="http://schemas.microsoft.com/office/powerpoint/2010/main" val="8131296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3A8A05-6BA9-4393-A607-B5C23B59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30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5485A"/>
                </a:solidFill>
              </a:defRPr>
            </a:pPr>
            <a:r>
              <a:rPr sz="33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다음에는 실제 사용으로 확인합니다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2BE623-10EB-4634-9C37-CC5A65D6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86970"/>
                </a:solidFill>
              </a:defRPr>
            </a:pPr>
            <a:r>
              <a:rPr sz="2025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원문 리뷰가 장소 선택에 도움이 되는지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DF42B1-3BD8-4E17-848A-D9A94946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43650"/>
            <a:ext cx="66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586970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86970"/>
                </a:solidFill>
              </a:defRPr>
            </a:pPr>
            <a:r>
              <a:rPr sz="1500" b="0">
                <a:solidFill>
                  <a:srgbClr val="586970"/>
                </a:solidFill>
                <a:latin typeface="Pretendard"/>
                <a:ea typeface="Pretendard"/>
                <a:cs typeface="Pretendard"/>
              </a:rPr>
              <a:t>10 /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884060-A78A-436B-B0E1-B10FBCDC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5918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4800" b="1">
                <a:solidFill>
                  <a:srgbClr val="25485A"/>
                </a:solidFill>
              </a:defRPr>
            </a:defPPr>
          </a:lstStyle>
          <a:p xmlns:a="http://schemas.openxmlformats.org/drawingml/2006/main">
            <a:pPr>
              <a:defRPr sz="4800" b="1">
                <a:solidFill>
                  <a:srgbClr val="25485A"/>
                </a:solidFill>
              </a:defRPr>
            </a:pPr>
            <a:r>
              <a:rPr sz="48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리뷰의 근거가</a:t>
            </a:r>
            <a:br>
              <a:rPr sz="48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</a:br>
            <a:r>
              <a:rPr sz="48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선택에 도움이 되는지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6A7902-96F9-4C17-B4CB-2624BA08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620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 b="0">
                <a:solidFill>
                  <a:srgbClr val="202C31"/>
                </a:solidFill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2C31"/>
                </a:solidFill>
              </a:defRPr>
            </a:pPr>
            <a:r>
              <a:rPr sz="240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도쿄·바르셀로나의 실제 자료 검증 후</a:t>
            </a:r>
            <a:br>
              <a:rPr sz="240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</a:br>
            <a:r>
              <a:rPr sz="2400" b="0">
                <a:solidFill>
                  <a:srgbClr val="202C31"/>
                </a:solidFill>
                <a:latin typeface="Pretendard"/>
                <a:ea typeface="Pretendard"/>
                <a:cs typeface="Pretendard"/>
              </a:rPr>
              <a:t>소수 사용자의 선택과 방문 경험을 확인합니다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7A7EF5-4358-4DDB-B0F6-15F3AFB8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9525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3F706F"/>
                </a:solidFill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F706F"/>
                </a:solidFill>
              </a:defRPr>
            </a:pPr>
            <a:r>
              <a:rPr sz="1875" b="0">
                <a:solidFill>
                  <a:srgbClr val="3F706F"/>
                </a:solidFill>
                <a:latin typeface="Pretendard"/>
                <a:ea typeface="Pretendard"/>
                <a:cs typeface="Pretendard"/>
              </a:rPr>
              <a:t>github.com/Jin-s-work/Travel-Agent</a:t>
            </a:r>
          </a:p>
        </p:txBody>
      </p:sp>
    </p:spTree>
    <p:extLst>
      <p:ext uri="{BB962C8B-B14F-4D97-AF65-F5344CB8AC3E}">
        <p14:creationId xmlns:p14="http://schemas.microsoft.com/office/powerpoint/2010/main" val="12439750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retendard"/>
        <a:ea typeface=""/>
        <a:cs typeface=""/>
      </a:majorFont>
      <a:minorFont>
        <a:latin typeface="Pretendard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2026-10-07T06:48:40.8670000Z</dcterms:created>
  <dcterms:modified xsi:type="dcterms:W3CDTF">2026-10-07T06:48:40.8670000Z</dcterms:modified>
</coreProperties>
</file>