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core.xml" Id="R60f35d9ed5774080"/><Relationship Type="http://schemas.openxmlformats.org/officeDocument/2006/relationships/extended-properties" Target="docProps/app.xml" Id="R58f4d76c3b6049dd"/><Relationship Type="http://schemas.openxmlformats.org/officeDocument/2006/relationships/officeDocument" Target="ppt/presentation.xml" Id="R2631a2827e6f4ff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3a9417d7d14bcf"/>
  </p:sldMasterIdLst>
  <p:notesMasterIdLst>
    <p:notesMasterId xmlns:r="http://schemas.openxmlformats.org/officeDocument/2006/relationships" r:id="R3c5cf03e12f34a87"/>
  </p:notesMasterIdLst>
  <p:sldIdLst>
    <p:sldId xmlns:r="http://schemas.openxmlformats.org/officeDocument/2006/relationships" id="256" r:id="Rc8f3bed7c30c4174"/>
    <p:sldId xmlns:r="http://schemas.openxmlformats.org/officeDocument/2006/relationships" id="257" r:id="R102a184654fb47bb"/>
    <p:sldId xmlns:r="http://schemas.openxmlformats.org/officeDocument/2006/relationships" id="258" r:id="R35c743aaa8fa4191"/>
    <p:sldId xmlns:r="http://schemas.openxmlformats.org/officeDocument/2006/relationships" id="259" r:id="Rb7cf771543b14bce"/>
    <p:sldId xmlns:r="http://schemas.openxmlformats.org/officeDocument/2006/relationships" id="260" r:id="R506b15e81f8149ef"/>
    <p:sldId xmlns:r="http://schemas.openxmlformats.org/officeDocument/2006/relationships" id="261" r:id="R5d467931bdcd487a"/>
    <p:sldId xmlns:r="http://schemas.openxmlformats.org/officeDocument/2006/relationships" id="262" r:id="R8b2e5d3e88d24a52"/>
    <p:sldId xmlns:r="http://schemas.openxmlformats.org/officeDocument/2006/relationships" id="263" r:id="Rfe67aafee9184c5c"/>
    <p:sldId xmlns:r="http://schemas.openxmlformats.org/officeDocument/2006/relationships" id="264" r:id="Rbbbe09c2922c44d3"/>
    <p:sldId xmlns:r="http://schemas.openxmlformats.org/officeDocument/2006/relationships" id="265" r:id="R316a72ec0d7a4252"/>
    <p:sldId xmlns:r="http://schemas.openxmlformats.org/officeDocument/2006/relationships" id="266" r:id="Rdd1c857f99cc4960"/>
    <p:sldId xmlns:r="http://schemas.openxmlformats.org/officeDocument/2006/relationships" id="267" r:id="R9b3472f1a3154334"/>
  </p:sldIdLst>
  <p:sldSz cx="12192000" cy="6858000"/>
  <p:notesSz cx="6858000" cy="9144000"/>
  <p:defaultTextStyle>
    <a:def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1pPr>
    <a:lvl2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2pPr>
    <a:lvl3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3pPr>
    <a:lvl4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4pPr>
    <a:lvl5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5pPr>
    <a:lvl6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6pPr>
    <a:lvl7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7pPr>
    <a:lvl8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8pPr>
    <a:lvl9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theme1.xml" Id="R4dfdc5c458594930"/><Relationship Type="http://schemas.openxmlformats.org/officeDocument/2006/relationships/slideMaster" Target="slideMasters/slideMaster1.xml" Id="R263a9417d7d14bcf"/><Relationship Type="http://schemas.openxmlformats.org/officeDocument/2006/relationships/notesMaster" Target="notesMasters/notesMaster1.xml" Id="R3c5cf03e12f34a87"/><Relationship Type="http://schemas.openxmlformats.org/officeDocument/2006/relationships/presProps" Target="presProps.xml" Id="R4eec21418421490f"/><Relationship Type="http://schemas.openxmlformats.org/officeDocument/2006/relationships/tableStyles" Target="tableStyles.xml" Id="R187d379c90ea4bf1"/><Relationship Type="http://schemas.openxmlformats.org/officeDocument/2006/relationships/slide" Target="slides/slide1.xml" Id="Rc8f3bed7c30c4174"/><Relationship Type="http://schemas.openxmlformats.org/officeDocument/2006/relationships/slide" Target="slides/slide2.xml" Id="R102a184654fb47bb"/><Relationship Type="http://schemas.openxmlformats.org/officeDocument/2006/relationships/slide" Target="slides/slide3.xml" Id="R35c743aaa8fa4191"/><Relationship Type="http://schemas.openxmlformats.org/officeDocument/2006/relationships/slide" Target="slides/slide4.xml" Id="Rb7cf771543b14bce"/><Relationship Type="http://schemas.openxmlformats.org/officeDocument/2006/relationships/slide" Target="slides/slide5.xml" Id="R506b15e81f8149ef"/><Relationship Type="http://schemas.openxmlformats.org/officeDocument/2006/relationships/slide" Target="slides/slide6.xml" Id="R5d467931bdcd487a"/><Relationship Type="http://schemas.openxmlformats.org/officeDocument/2006/relationships/slide" Target="slides/slide7.xml" Id="R8b2e5d3e88d24a52"/><Relationship Type="http://schemas.openxmlformats.org/officeDocument/2006/relationships/slide" Target="slides/slide8.xml" Id="Rfe67aafee9184c5c"/><Relationship Type="http://schemas.openxmlformats.org/officeDocument/2006/relationships/slide" Target="slides/slide9.xml" Id="Rbbbe09c2922c44d3"/><Relationship Type="http://schemas.openxmlformats.org/officeDocument/2006/relationships/slide" Target="slides/slide10.xml" Id="R316a72ec0d7a4252"/><Relationship Type="http://schemas.openxmlformats.org/officeDocument/2006/relationships/slide" Target="slides/slide11.xml" Id="Rdd1c857f99cc4960"/><Relationship Type="http://schemas.openxmlformats.org/officeDocument/2006/relationships/slide" Target="slides/slide12.xml" Id="R9b3472f1a3154334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b84a0a1b97e04f32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Pretendard"/>
      </a:defRPr>
    </a:lvl1pPr>
    <a:lvl2pPr indent="228600" latinLnBrk="0">
      <a:defRPr sz="1200">
        <a:latin typeface="+mn-lt"/>
        <a:ea typeface="+mn-ea"/>
        <a:cs typeface="+mn-cs"/>
        <a:sym typeface="Pretendard"/>
      </a:defRPr>
    </a:lvl2pPr>
    <a:lvl3pPr indent="457200" latinLnBrk="0">
      <a:defRPr sz="1200">
        <a:latin typeface="+mn-lt"/>
        <a:ea typeface="+mn-ea"/>
        <a:cs typeface="+mn-cs"/>
        <a:sym typeface="Pretendard"/>
      </a:defRPr>
    </a:lvl3pPr>
    <a:lvl4pPr indent="685800" latinLnBrk="0">
      <a:defRPr sz="1200">
        <a:latin typeface="+mn-lt"/>
        <a:ea typeface="+mn-ea"/>
        <a:cs typeface="+mn-cs"/>
        <a:sym typeface="Pretendard"/>
      </a:defRPr>
    </a:lvl4pPr>
    <a:lvl5pPr indent="914400" latinLnBrk="0">
      <a:defRPr sz="1200">
        <a:latin typeface="+mn-lt"/>
        <a:ea typeface="+mn-ea"/>
        <a:cs typeface="+mn-cs"/>
        <a:sym typeface="Pretendard"/>
      </a:defRPr>
    </a:lvl5pPr>
    <a:lvl6pPr indent="1143000" latinLnBrk="0">
      <a:defRPr sz="1200">
        <a:latin typeface="+mn-lt"/>
        <a:ea typeface="+mn-ea"/>
        <a:cs typeface="+mn-cs"/>
        <a:sym typeface="Pretendard"/>
      </a:defRPr>
    </a:lvl6pPr>
    <a:lvl7pPr indent="1371600" latinLnBrk="0">
      <a:defRPr sz="1200">
        <a:latin typeface="+mn-lt"/>
        <a:ea typeface="+mn-ea"/>
        <a:cs typeface="+mn-cs"/>
        <a:sym typeface="Pretendard"/>
      </a:defRPr>
    </a:lvl7pPr>
    <a:lvl8pPr indent="1600200" latinLnBrk="0">
      <a:defRPr sz="1200">
        <a:latin typeface="+mn-lt"/>
        <a:ea typeface="+mn-ea"/>
        <a:cs typeface="+mn-cs"/>
        <a:sym typeface="Pretendard"/>
      </a:defRPr>
    </a:lvl8pPr>
    <a:lvl9pPr indent="1828800" latinLnBrk="0">
      <a:defRPr sz="1200">
        <a:latin typeface="+mn-lt"/>
        <a:ea typeface="+mn-ea"/>
        <a:cs typeface="+mn-cs"/>
        <a:sym typeface="Pretendard"/>
      </a:defRPr>
    </a:lvl9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0a48cc59810d49e3"/><Relationship Type="http://schemas.openxmlformats.org/officeDocument/2006/relationships/notesMaster" Target="../notesMasters/notesMaster1.xml" Id="R091102e3c42343cc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6e9bde1c6acf4513"/><Relationship Type="http://schemas.openxmlformats.org/officeDocument/2006/relationships/notesMaster" Target="../notesMasters/notesMaster1.xml" Id="R132dba0cfa404c63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dd48b2c8e5cd4810"/><Relationship Type="http://schemas.openxmlformats.org/officeDocument/2006/relationships/notesMaster" Target="../notesMasters/notesMaster1.xml" Id="Rbc4c76de4271469f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346917ba0745493f"/><Relationship Type="http://schemas.openxmlformats.org/officeDocument/2006/relationships/notesMaster" Target="../notesMasters/notesMaster1.xml" Id="Ra7803a0ee51c4914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0cc3a67c83ea4938"/><Relationship Type="http://schemas.openxmlformats.org/officeDocument/2006/relationships/notesMaster" Target="../notesMasters/notesMaster1.xml" Id="R2050ddaaf8244b91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49860dec0c37415a"/><Relationship Type="http://schemas.openxmlformats.org/officeDocument/2006/relationships/notesMaster" Target="../notesMasters/notesMaster1.xml" Id="Rb10b52a649f944c8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66088fcabdcf43c7"/><Relationship Type="http://schemas.openxmlformats.org/officeDocument/2006/relationships/notesMaster" Target="../notesMasters/notesMaster1.xml" Id="Rbb463014eed446f8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33490f387fb14890"/><Relationship Type="http://schemas.openxmlformats.org/officeDocument/2006/relationships/notesMaster" Target="../notesMasters/notesMaster1.xml" Id="Rcc2312b4e857416a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5da8c330637b4441"/><Relationship Type="http://schemas.openxmlformats.org/officeDocument/2006/relationships/notesMaster" Target="../notesMasters/notesMaster1.xml" Id="R719c4b3d79ba4627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slides/slide10.xml" Id="Rb4fa8a75c23b45ca"/><Relationship Type="http://schemas.openxmlformats.org/officeDocument/2006/relationships/notesMaster" Target="../notesMasters/notesMaster1.xml" Id="R497f722fc2784b35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slides/slide11.xml" Id="R1c5f0ee4cb924bea"/><Relationship Type="http://schemas.openxmlformats.org/officeDocument/2006/relationships/notesMaster" Target="../notesMasters/notesMaster1.xml" Id="R266b6687947b4161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slides/slide12.xml" Id="Rb65a7e43be2341a0"/><Relationship Type="http://schemas.openxmlformats.org/officeDocument/2006/relationships/notesMaster" Target="../notesMasters/notesMaster1.xml" Id="R3f4fd3ee8a9948ba"/></Relationships>
</file>

<file path=ppt/notesSlides/notesSlide1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12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5c6fb834b1f4d77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8470792a2034bec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fb2601acbef947e5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05aa9e8ebb304fde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9e2a89abcb24c34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7f516cce5aa4e67"/></Relationships>
</file>

<file path=ppt/slideLayouts/slideLayout1.xml><?xml version="1.0" encoding="utf-8"?>
<p:sldLayout xmlns:p="http://schemas.openxmlformats.org/presentationml/2006/main" showMasterSp="1" showMasterPhAnim="1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AD67843B-E562-4949-896A-FD57732B3E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1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7DEA3AF2-AB6E-4554-8E69-35CB1690F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spcBef>
                <a:spcPts val="0"/>
              </a:spcBef>
              <a:buSzTx/>
              <a:buNone/>
              <a:defRPr/>
            </a:lvl1pPr>
            <a:lvl2pPr marL="0" indent="0">
              <a:spcBef>
                <a:spcPts val="0"/>
              </a:spcBef>
              <a:buSzTx/>
              <a:buNone/>
              <a:defRPr/>
            </a:lvl2pPr>
            <a:lvl3pPr marL="0" indent="0">
              <a:spcBef>
                <a:spcPts val="0"/>
              </a:spcBef>
              <a:buSzTx/>
              <a:buNone/>
              <a:defRPr/>
            </a:lvl3pPr>
            <a:lvl4pPr marL="0" indent="0">
              <a:spcBef>
                <a:spcPts val="0"/>
              </a:spcBef>
              <a:buSzTx/>
              <a:buNone/>
              <a:defRPr/>
            </a:lvl4pPr>
            <a:lvl5pPr marL="0" indent="0">
              <a:spcBef>
                <a:spcPts val="0"/>
              </a:spcBef>
              <a:buSzTx/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13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CD76CDA1-485D-47A2-8F62-5FB9F60462E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6A0A4053-121D-4EF7-B72A-A598D2F3E3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2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D9842E-DEC1-4AFD-A2B8-41DEAFC470A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CA099289-509F-4F7B-BE32-9AA9EAE81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29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000430D-5359-4D7C-93ED-5B7A6EBC5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3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DB248BC-C1AA-4E1B-A02E-70C4B0B83B7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370E8C44-F261-4A0F-909D-2897A9141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3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047623B1-F9B5-44D7-80BB-FFB903B908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39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5CC2B2-3BCD-438E-BB94-7B3D949DAB07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89F48A5E-22F0-4E13-9A81-B0C586FE4B4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C96C138E-21AF-474F-8F9B-4F73A1B3A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4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83DC08EB-600C-40A5-96F4-BAFAFD4D34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49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ECCFC985-6123-47AA-BE35-0BC3F24CA3F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7BFB5C2-3A16-4101-96CA-38564802D0B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9bc1a0b589034bf0"/><Relationship Type="http://schemas.openxmlformats.org/officeDocument/2006/relationships/slideLayout" Target="../slideLayouts/slideLayout1.xml" Id="Rdb3f6ec4c1324310"/><Relationship Type="http://schemas.openxmlformats.org/officeDocument/2006/relationships/slideLayout" Target="../slideLayouts/slideLayout2.xml" Id="R2af1d4f155e24b68"/><Relationship Type="http://schemas.openxmlformats.org/officeDocument/2006/relationships/slideLayout" Target="../slideLayouts/slideLayout3.xml" Id="R41076d5596b44e31"/><Relationship Type="http://schemas.openxmlformats.org/officeDocument/2006/relationships/slideLayout" Target="../slideLayouts/slideLayout4.xml" Id="Rf10df99536694c5e"/><Relationship Type="http://schemas.openxmlformats.org/officeDocument/2006/relationships/slideLayout" Target="../slideLayouts/slideLayout5.xml" Id="Re1124230a49f413e"/><Relationship Type="http://schemas.openxmlformats.org/officeDocument/2006/relationships/slideLayout" Target="../slideLayouts/slideLayout6.xml" Id="R883685eb02c54a3e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1172680B-B882-482F-84A6-821F970C7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2975F19-77D3-47E9-834A-0589BBDC8B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8372A27F-12B1-4FB3-BAC9-2D5E236F928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f6ec4c1324310"/>
    <p:sldLayoutId xmlns:r="http://schemas.openxmlformats.org/officeDocument/2006/relationships" id="2147483650" r:id="R2af1d4f155e24b68"/>
    <p:sldLayoutId xmlns:r="http://schemas.openxmlformats.org/officeDocument/2006/relationships" id="2147483651" r:id="R41076d5596b44e31"/>
    <p:sldLayoutId xmlns:r="http://schemas.openxmlformats.org/officeDocument/2006/relationships" id="2147483652" r:id="Rf10df99536694c5e"/>
    <p:sldLayoutId xmlns:r="http://schemas.openxmlformats.org/officeDocument/2006/relationships" id="2147483653" r:id="Re1124230a49f413e"/>
    <p:sldLayoutId xmlns:r="http://schemas.openxmlformats.org/officeDocument/2006/relationships" id="2147483654" r:id="R883685eb02c54a3e"/>
  </p:sldLayoutIdLst>
  <p:txStyles>
    <p:titleStyle>
      <a:lvl1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1pPr>
      <a:lvl2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2pPr>
      <a:lvl3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3pPr>
      <a:lvl4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4pPr>
      <a:lvl5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5pPr>
      <a:lvl6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6pPr>
      <a:lvl7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7pPr>
      <a:lvl8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8pPr>
      <a:lvl9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9pPr>
    </p:titleStyle>
    <p:bodyStyle>
      <a:lvl1pPr xmlns:a="http://schemas.openxmlformats.org/drawingml/2006/main" marL="228600" marR="0" indent="-228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1pPr>
      <a:lvl2pPr xmlns:a="http://schemas.openxmlformats.org/drawingml/2006/main" marL="571500" marR="0" indent="-2667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2pPr>
      <a:lvl3pPr xmlns:a="http://schemas.openxmlformats.org/drawingml/2006/main" marL="929639" marR="0" indent="-320039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3pPr>
      <a:lvl4pPr xmlns:a="http://schemas.openxmlformats.org/drawingml/2006/main" marL="12700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4pPr>
      <a:lvl5pPr xmlns:a="http://schemas.openxmlformats.org/drawingml/2006/main" marL="15748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5pPr>
      <a:lvl6pPr xmlns:a="http://schemas.openxmlformats.org/drawingml/2006/main" marL="18796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6pPr>
      <a:lvl7pPr xmlns:a="http://schemas.openxmlformats.org/drawingml/2006/main" marL="21844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7pPr>
      <a:lvl8pPr xmlns:a="http://schemas.openxmlformats.org/drawingml/2006/main" marL="24892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8pPr>
      <a:lvl9pPr xmlns:a="http://schemas.openxmlformats.org/drawingml/2006/main" marL="27940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6d73e4e009bf4c03"/><Relationship Type="http://schemas.openxmlformats.org/officeDocument/2006/relationships/image" Target="../media/image.png" Id="R77b4c1220d2c4b91"/><Relationship Type="http://schemas.openxmlformats.org/officeDocument/2006/relationships/notesSlide" Target="../notesSlides/notesSlide1.xml" Id="R7a2e10e53f75455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8385a238b224460a"/><Relationship Type="http://schemas.openxmlformats.org/officeDocument/2006/relationships/notesSlide" Target="../notesSlides/notesSlide2.xml" Id="R4c24d08dc0884c95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e3fc057e3cbe4e1d"/><Relationship Type="http://schemas.openxmlformats.org/officeDocument/2006/relationships/notesSlide" Target="../notesSlides/notesSlide3.xml" Id="R10caea0943614cc8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2f27ae9ad99f4cb1"/><Relationship Type="http://schemas.openxmlformats.org/officeDocument/2006/relationships/image" Target="../media/image.jpeg" Id="R99064f0dd5ea4cab"/><Relationship Type="http://schemas.openxmlformats.org/officeDocument/2006/relationships/notesSlide" Target="../notesSlides/notesSlide4.xml" Id="Rb37c9020f49444d2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54a795f3ea5b4780"/><Relationship Type="http://schemas.openxmlformats.org/officeDocument/2006/relationships/notesSlide" Target="../notesSlides/notesSlide5.xml" Id="R9714a696cd334e93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b10fd2bf61c843cf"/><Relationship Type="http://schemas.openxmlformats.org/officeDocument/2006/relationships/image" Target="../media/image2.png" Id="Rada0c916b3c54fd2"/><Relationship Type="http://schemas.openxmlformats.org/officeDocument/2006/relationships/notesSlide" Target="../notesSlides/notesSlide6.xml" Id="R7fd1de4d144c413c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28cb30ecf01b4bc2"/><Relationship Type="http://schemas.openxmlformats.org/officeDocument/2006/relationships/image" Target="../media/image2.jpeg" Id="R4d3688ab2cf74457"/><Relationship Type="http://schemas.openxmlformats.org/officeDocument/2006/relationships/notesSlide" Target="../notesSlides/notesSlide7.xml" Id="R00e54c1b4c924c34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91ea73772a264613"/><Relationship Type="http://schemas.openxmlformats.org/officeDocument/2006/relationships/image" Target="../media/image3.png" Id="R644ca6858c944315"/><Relationship Type="http://schemas.openxmlformats.org/officeDocument/2006/relationships/notesSlide" Target="../notesSlides/notesSlide8.xml" Id="Ree0ac78d93494da7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5a61f3eee6a24492"/><Relationship Type="http://schemas.openxmlformats.org/officeDocument/2006/relationships/notesSlide" Target="../notesSlides/notesSlide9.xml" Id="Rde39dbb4ae954282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cd75c02482d24733"/><Relationship Type="http://schemas.openxmlformats.org/officeDocument/2006/relationships/notesSlide" Target="../notesSlides/notesSlide10.xml" Id="R7dacbb8316754f8c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9ca8854177124e76"/><Relationship Type="http://schemas.openxmlformats.org/officeDocument/2006/relationships/notesSlide" Target="../notesSlides/notesSlide11.xml" Id="Rf3bbd5fdc5294eb3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06efb89f227d47e1"/><Relationship Type="http://schemas.openxmlformats.org/officeDocument/2006/relationships/notesSlide" Target="../notesSlides/notesSlide12.xml" Id="Rdd747abe860242c0"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254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image.png">
            <a:extLst xmlns:a="http://schemas.openxmlformats.org/drawingml/2006/main">
              <a:ext uri="{FF2B5EF4-FFF2-40B4-BE49-F238E27FC236}">
                <a16:creationId xmlns:a16="http://schemas.microsoft.com/office/drawing/2014/main" id="{03DAFE9C-39E8-45E0-A56B-2F3620B8D1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4c1220d2c4b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838200" cy="838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6" name="여행 준비 서비스">
            <a:extLst xmlns:a="http://schemas.openxmlformats.org/drawingml/2006/main">
              <a:ext uri="{FF2B5EF4-FFF2-40B4-BE49-F238E27FC236}">
                <a16:creationId xmlns:a16="http://schemas.microsoft.com/office/drawing/2014/main" id="{97854122-FDC1-4219-B265-FE57884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여행 준비 서비스</a:t>
            </a:r>
          </a:p>
        </p:txBody>
      </p:sp>
      <p:sp>
        <p:nvSpPr>
          <p:cNvPr id="67" name="고잉">
            <a:extLst xmlns:a="http://schemas.openxmlformats.org/drawingml/2006/main">
              <a:ext uri="{FF2B5EF4-FFF2-40B4-BE49-F238E27FC236}">
                <a16:creationId xmlns:a16="http://schemas.microsoft.com/office/drawing/2014/main" id="{EA158E71-74AE-4158-BC78-61E8099E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7620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고잉</a:t>
            </a:r>
          </a:p>
        </p:txBody>
      </p:sp>
      <p:sp>
        <p:nvSpPr>
          <p:cNvPr id="68" name="예약 메일부터 하루 일정까지">
            <a:extLst xmlns:a="http://schemas.openxmlformats.org/drawingml/2006/main">
              <a:ext uri="{FF2B5EF4-FFF2-40B4-BE49-F238E27FC236}">
                <a16:creationId xmlns:a16="http://schemas.microsoft.com/office/drawing/2014/main" id="{0F485C22-27B7-44BE-9DA7-DEE7B2DF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가볼 곳부터 하루 일정까지</a:t>
            </a:r>
          </a:p>
        </p:txBody>
      </p:sp>
      <p:sp>
        <p:nvSpPr>
          <p:cNvPr id="69" name="흩어진 예약을 모으고, 가고 싶은 곳을 일정으로 연결합니다.">
            <a:extLst xmlns:a="http://schemas.openxmlformats.org/drawingml/2006/main">
              <a:ext uri="{FF2B5EF4-FFF2-40B4-BE49-F238E27FC236}">
                <a16:creationId xmlns:a16="http://schemas.microsoft.com/office/drawing/2014/main" id="{E83C5B15-B435-42C5-BB70-4343EE4A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CE5E7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CE5E7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DCE5E7"/>
                </a:solidFill>
                <a:latin typeface="Pretendard"/>
                <a:ea typeface="Pretendard"/>
                <a:cs typeface="Pretendard"/>
              </a:rPr>
              <a:t>여행과 음식점 탐색을 좋아해서 시작한 개인 프로젝트</a:t>
            </a:r>
          </a:p>
        </p:txBody>
      </p:sp>
      <p:sp>
        <p:nvSpPr>
          <p:cNvPr id="70" name="프로젝트 발표  ·  2026.10">
            <a:extLst xmlns:a="http://schemas.openxmlformats.org/drawingml/2006/main">
              <a:ext uri="{FF2B5EF4-FFF2-40B4-BE49-F238E27FC236}">
                <a16:creationId xmlns:a16="http://schemas.microsoft.com/office/drawing/2014/main" id="{34D0E286-7FE3-45FA-8DC2-0FDC6594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프로젝트 발표  ·  2026.10</a:t>
            </a:r>
          </a:p>
        </p:txBody>
      </p:sp>
    </p:spTree>
    <p:extLst>
      <p:ext uri="{BB962C8B-B14F-4D97-AF65-F5344CB8AC3E}">
        <p14:creationId xmlns:p14="http://schemas.microsoft.com/office/powerpoint/2010/main" val="1740770962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고잉  /  문제">
            <a:extLst xmlns:a="http://schemas.openxmlformats.org/drawingml/2006/main">
              <a:ext uri="{FF2B5EF4-FFF2-40B4-BE49-F238E27FC236}">
                <a16:creationId xmlns:a16="http://schemas.microsoft.com/office/drawing/2014/main" id="{69EFCD91-44D5-43F5-8084-53AB806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만든 이유</a:t>
            </a:r>
          </a:p>
        </p:txBody>
      </p:sp>
      <p:sp>
        <p:nvSpPr>
          <p:cNvPr id="75" name="여행할 때마다 다시 찾는 정보">
            <a:extLst xmlns:a="http://schemas.openxmlformats.org/drawingml/2006/main">
              <a:ext uri="{FF2B5EF4-FFF2-40B4-BE49-F238E27FC236}">
                <a16:creationId xmlns:a16="http://schemas.microsoft.com/office/drawing/2014/main" id="{158F85F1-F4D5-41AA-B162-30FB92E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여행할 때마다 반복됐던 준비</a:t>
            </a:r>
          </a:p>
        </p:txBody>
      </p:sp>
      <p:sp>
        <p:nvSpPr>
          <p:cNvPr id="76" name="장소를 고른 뒤에도 예약과 동선을 다시 확인해야 했습니다">
            <a:extLst xmlns:a="http://schemas.openxmlformats.org/drawingml/2006/main">
              <a:ext uri="{FF2B5EF4-FFF2-40B4-BE49-F238E27FC236}">
                <a16:creationId xmlns:a16="http://schemas.microsoft.com/office/drawing/2014/main" id="{983A3FE3-2B8A-4C1A-80A1-56699F0E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찾아 둔 정보도 실제 일정에 맞추려면 다시 확인해야 했습니다</a:t>
            </a:r>
          </a:p>
        </p:txBody>
      </p:sp>
      <p:sp>
        <p:nvSpPr>
          <p:cNvPr id="77" name="02">
            <a:extLst xmlns:a="http://schemas.openxmlformats.org/drawingml/2006/main">
              <a:ext uri="{FF2B5EF4-FFF2-40B4-BE49-F238E27FC236}">
                <a16:creationId xmlns:a16="http://schemas.microsoft.com/office/drawing/2014/main" id="{7A880379-EDFC-4D3F-ACB1-0D79144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8" name="“현지어 리뷰가 많은 식당도 가보고 싶다”">
            <a:extLst xmlns:a="http://schemas.openxmlformats.org/drawingml/2006/main">
              <a:ext uri="{FF2B5EF4-FFF2-40B4-BE49-F238E27FC236}">
                <a16:creationId xmlns:a16="http://schemas.microsoft.com/office/drawing/2014/main" id="{68612817-C324-4E7A-9B9C-602CDA7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“가보고 싶은 식당은 많은데, 어디로 갈까?”</a:t>
            </a:r>
          </a:p>
        </p:txBody>
      </p:sp>
      <p:sp>
        <p:nvSpPr>
          <p:cNvPr id="79" name="“이 식당을 들렀다가 다음 예약에 갈 수 있을까?”">
            <a:extLst xmlns:a="http://schemas.openxmlformats.org/drawingml/2006/main">
              <a:ext uri="{FF2B5EF4-FFF2-40B4-BE49-F238E27FC236}">
                <a16:creationId xmlns:a16="http://schemas.microsoft.com/office/drawing/2014/main" id="{0DDB1FA1-5A49-4177-BFF8-3862EB1B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“예약한 시간은 어디에 적어 뒀더라?”</a:t>
            </a:r>
          </a:p>
        </p:txBody>
      </p:sp>
      <p:sp>
        <p:nvSpPr>
          <p:cNvPr id="80" name="메일함">
            <a:extLst xmlns:a="http://schemas.openxmlformats.org/drawingml/2006/main">
              <a:ext uri="{FF2B5EF4-FFF2-40B4-BE49-F238E27FC236}">
                <a16:creationId xmlns:a16="http://schemas.microsoft.com/office/drawing/2014/main" id="{5F28332E-1545-4F95-9235-BA734CE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지도와 리뷰</a:t>
            </a:r>
          </a:p>
        </p:txBody>
      </p:sp>
      <p:sp>
        <p:nvSpPr>
          <p:cNvPr id="81" name="예약 날짜와 시간">
            <a:extLst xmlns:a="http://schemas.openxmlformats.org/drawingml/2006/main">
              <a:ext uri="{FF2B5EF4-FFF2-40B4-BE49-F238E27FC236}">
                <a16:creationId xmlns:a16="http://schemas.microsoft.com/office/drawing/2014/main" id="{74A801B6-E675-431D-9488-20BF4451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장소 후보와 거리 비교</a:t>
            </a:r>
          </a:p>
        </p:txBody>
      </p:sp>
      <p:sp>
        <p:nvSpPr>
          <p:cNvPr id="82" name="지도와 리뷰">
            <a:extLst xmlns:a="http://schemas.openxmlformats.org/drawingml/2006/main">
              <a:ext uri="{FF2B5EF4-FFF2-40B4-BE49-F238E27FC236}">
                <a16:creationId xmlns:a16="http://schemas.microsoft.com/office/drawing/2014/main" id="{3A5A0D36-01B5-422D-BA2F-CEE72E8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메일함</a:t>
            </a:r>
          </a:p>
        </p:txBody>
      </p:sp>
      <p:sp>
        <p:nvSpPr>
          <p:cNvPr id="83" name="장소를 고르고 거리 비교">
            <a:extLst xmlns:a="http://schemas.openxmlformats.org/drawingml/2006/main">
              <a:ext uri="{FF2B5EF4-FFF2-40B4-BE49-F238E27FC236}">
                <a16:creationId xmlns:a16="http://schemas.microsoft.com/office/drawing/2014/main" id="{1EAA2EE7-2EC9-4A30-A68D-49BE9DA0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예약 날짜와 이용 조건</a:t>
            </a:r>
          </a:p>
        </p:txBody>
      </p:sp>
      <p:sp>
        <p:nvSpPr>
          <p:cNvPr id="84" name="여행 메모">
            <a:extLst xmlns:a="http://schemas.openxmlformats.org/drawingml/2006/main">
              <a:ext uri="{FF2B5EF4-FFF2-40B4-BE49-F238E27FC236}">
                <a16:creationId xmlns:a16="http://schemas.microsoft.com/office/drawing/2014/main" id="{C8C86696-9FB9-46F1-AA9C-2A14BC62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메모</a:t>
            </a:r>
          </a:p>
        </p:txBody>
      </p:sp>
      <p:sp>
        <p:nvSpPr>
          <p:cNvPr id="85" name="예약과 동선을 다시 맞추기">
            <a:extLst xmlns:a="http://schemas.openxmlformats.org/drawingml/2006/main">
              <a:ext uri="{FF2B5EF4-FFF2-40B4-BE49-F238E27FC236}">
                <a16:creationId xmlns:a16="http://schemas.microsoft.com/office/drawing/2014/main" id="{0351A8FA-234E-4C44-ADB2-34317572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다시 맞추는 방문 순서</a:t>
            </a:r>
          </a:p>
        </p:txBody>
      </p:sp>
    </p:spTree>
    <p:extLst>
      <p:ext uri="{BB962C8B-B14F-4D97-AF65-F5344CB8AC3E}">
        <p14:creationId xmlns:p14="http://schemas.microsoft.com/office/powerpoint/2010/main" val="2030801100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고잉  /  다음 개발">
            <a:extLst xmlns:a="http://schemas.openxmlformats.org/drawingml/2006/main">
              <a:ext uri="{FF2B5EF4-FFF2-40B4-BE49-F238E27FC236}">
                <a16:creationId xmlns:a16="http://schemas.microsoft.com/office/drawing/2014/main" id="{89D6AA73-8A05-429A-8743-2D26880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기획 방향</a:t>
            </a:r>
          </a:p>
        </p:txBody>
      </p:sp>
      <p:sp>
        <p:nvSpPr>
          <p:cNvPr id="176" name="직접 써 보며 이어갈 개발">
            <a:extLst xmlns:a="http://schemas.openxmlformats.org/drawingml/2006/main">
              <a:ext uri="{FF2B5EF4-FFF2-40B4-BE49-F238E27FC236}">
                <a16:creationId xmlns:a16="http://schemas.microsoft.com/office/drawing/2014/main" id="{C887D872-5FB0-4835-9619-6BD1913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제가 만들고 싶었던 서비스</a:t>
            </a:r>
          </a:p>
        </p:txBody>
      </p:sp>
      <p:sp>
        <p:nvSpPr>
          <p:cNvPr id="177" name="연결한 사용 흐름을 실제 여행에서 더 확인하려고 합니다">
            <a:extLst xmlns:a="http://schemas.openxmlformats.org/drawingml/2006/main">
              <a:ext uri="{FF2B5EF4-FFF2-40B4-BE49-F238E27FC236}">
                <a16:creationId xmlns:a16="http://schemas.microsoft.com/office/drawing/2014/main" id="{51F6900F-32D9-4980-8533-1824A31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한 여행 안에서 장소 선택과 예약, 일정을 이어서 사용합니다</a:t>
            </a:r>
          </a:p>
        </p:txBody>
      </p:sp>
      <p:sp>
        <p:nvSpPr>
          <p:cNvPr id="178" name="10">
            <a:extLst xmlns:a="http://schemas.openxmlformats.org/drawingml/2006/main">
              <a:ext uri="{FF2B5EF4-FFF2-40B4-BE49-F238E27FC236}">
                <a16:creationId xmlns:a16="http://schemas.microsoft.com/office/drawing/2014/main" id="{E5EE845E-A590-4552-A80B-935B80E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9" name="지금 연결한 흐름">
            <a:extLst xmlns:a="http://schemas.openxmlformats.org/drawingml/2006/main">
              <a:ext uri="{FF2B5EF4-FFF2-40B4-BE49-F238E27FC236}">
                <a16:creationId xmlns:a16="http://schemas.microsoft.com/office/drawing/2014/main" id="{95284986-8F3C-4BC3-8E26-816FFEC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정보는 한 번</a:t>
            </a:r>
          </a:p>
        </p:txBody>
      </p:sp>
      <p:sp>
        <p:nvSpPr>
          <p:cNvPr id="180" name="예약 정리와 근거 질문 장소 선택과 일정 편집">
            <a:extLst xmlns:a="http://schemas.openxmlformats.org/drawingml/2006/main">
              <a:ext uri="{FF2B5EF4-FFF2-40B4-BE49-F238E27FC236}">
                <a16:creationId xmlns:a16="http://schemas.microsoft.com/office/drawing/2014/main" id="{5815AE1D-6BEC-4506-AE1A-CC8D2E0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도시와 날짜로 시작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숙소와 취향은 나중에 추가</a:t>
            </a:r>
          </a:p>
        </p:txBody>
      </p:sp>
      <p:sp>
        <p:nvSpPr>
          <p:cNvPr id="181" name="다음에 확인할 것">
            <a:extLst xmlns:a="http://schemas.openxmlformats.org/drawingml/2006/main">
              <a:ext uri="{FF2B5EF4-FFF2-40B4-BE49-F238E27FC236}">
                <a16:creationId xmlns:a16="http://schemas.microsoft.com/office/drawing/2014/main" id="{E847F38C-D514-4016-9591-5A5488A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선택한 정보는 계속 사용</a:t>
            </a:r>
          </a:p>
        </p:txBody>
      </p:sp>
      <p:sp>
        <p:nvSpPr>
          <p:cNvPr id="182" name="실제 리뷰의 이용 범위와 언어 품질 다른 사람의 선택과 방문 경험">
            <a:extLst xmlns:a="http://schemas.openxmlformats.org/drawingml/2006/main">
              <a:ext uri="{FF2B5EF4-FFF2-40B4-BE49-F238E27FC236}">
                <a16:creationId xmlns:a16="http://schemas.microsoft.com/office/drawing/2014/main" id="{A1C0331F-98E3-4A93-BD7F-013BF73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고른 장소를 저장하고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예약과 일정에서 이어 보기</a:t>
            </a:r>
          </a:p>
        </p:txBody>
      </p:sp>
      <p:sp>
        <p:nvSpPr>
          <p:cNvPr id="183" name="도시별 자료와 이동 경로 보강">
            <a:extLst xmlns:a="http://schemas.openxmlformats.org/drawingml/2006/main">
              <a:ext uri="{FF2B5EF4-FFF2-40B4-BE49-F238E27FC236}">
                <a16:creationId xmlns:a16="http://schemas.microsoft.com/office/drawing/2014/main" id="{720E8A2F-4FAD-4FDC-B54C-DE0A78C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여행을 준비하는 사람을 위해</a:t>
            </a:r>
          </a:p>
        </p:txBody>
      </p:sp>
      <p:sp>
        <p:nvSpPr>
          <p:cNvPr id="184" name="100개 도시 입력 지원 / 도시별 추천 자료는 확보 수준이 다릅니다">
            <a:extLst xmlns:a="http://schemas.openxmlformats.org/drawingml/2006/main">
              <a:ext uri="{FF2B5EF4-FFF2-40B4-BE49-F238E27FC236}">
                <a16:creationId xmlns:a16="http://schemas.microsoft.com/office/drawing/2014/main" id="{D2546EE9-BF56-49D4-9D14-2B11E4B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식당을 찾은 다음에도 처음부터 다시 정리하지 않도록</a:t>
            </a:r>
          </a:p>
        </p:txBody>
      </p:sp>
      <p:sp>
        <p:nvSpPr>
          <p:cNvPr id="185" name="마지막으로, 실제 사용 화면을 보여드리겠습니다.">
            <a:extLst xmlns:a="http://schemas.openxmlformats.org/drawingml/2006/main">
              <a:ext uri="{FF2B5EF4-FFF2-40B4-BE49-F238E27FC236}">
                <a16:creationId xmlns:a16="http://schemas.microsoft.com/office/drawing/2014/main" id="{BBE57039-794A-4713-8485-F54AEB0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소수 지인용 비공개 베타</a:t>
            </a:r>
          </a:p>
        </p:txBody>
      </p:sp>
    </p:spTree>
    <p:extLst>
      <p:ext uri="{BB962C8B-B14F-4D97-AF65-F5344CB8AC3E}">
        <p14:creationId xmlns:p14="http://schemas.microsoft.com/office/powerpoint/2010/main" val="300745530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고잉  /  사용 흐름">
            <a:extLst xmlns:a="http://schemas.openxmlformats.org/drawingml/2006/main">
              <a:ext uri="{FF2B5EF4-FFF2-40B4-BE49-F238E27FC236}">
                <a16:creationId xmlns:a16="http://schemas.microsoft.com/office/drawing/2014/main" id="{3411D6DE-A84F-4051-A617-52EC08D6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핵심 기능</a:t>
            </a:r>
          </a:p>
        </p:txBody>
      </p:sp>
      <p:sp>
        <p:nvSpPr>
          <p:cNvPr id="90" name="여행 하나를 중심으로">
            <a:extLst xmlns:a="http://schemas.openxmlformats.org/drawingml/2006/main">
              <a:ext uri="{FF2B5EF4-FFF2-40B4-BE49-F238E27FC236}">
                <a16:creationId xmlns:a16="http://schemas.microsoft.com/office/drawing/2014/main" id="{E3FBAEAB-0A6E-4736-928E-A1ECC411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내 여행에 맞는 장소 찾기</a:t>
            </a:r>
          </a:p>
        </p:txBody>
      </p:sp>
      <p:sp>
        <p:nvSpPr>
          <p:cNvPr id="91" name="도시와 날짜를 한 번 입력하고 계속 이어서 사용합니다">
            <a:extLst xmlns:a="http://schemas.openxmlformats.org/drawingml/2006/main">
              <a:ext uri="{FF2B5EF4-FFF2-40B4-BE49-F238E27FC236}">
                <a16:creationId xmlns:a16="http://schemas.microsoft.com/office/drawing/2014/main" id="{6010E9E6-6CCB-4B40-BE00-6928E5E5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메인에서 최근 장소를 확인하고 마음에 드는 곳을 저장합니다</a:t>
            </a:r>
          </a:p>
        </p:txBody>
      </p:sp>
      <p:sp>
        <p:nvSpPr>
          <p:cNvPr id="92" name="03">
            <a:extLst xmlns:a="http://schemas.openxmlformats.org/drawingml/2006/main">
              <a:ext uri="{FF2B5EF4-FFF2-40B4-BE49-F238E27FC236}">
                <a16:creationId xmlns:a16="http://schemas.microsoft.com/office/drawing/2014/main" id="{A0F443CD-A931-4451-965D-95A07B55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93" name="도시와 날짜를 먼저">
            <a:extLst xmlns:a="http://schemas.openxmlformats.org/drawingml/2006/main">
              <a:ext uri="{FF2B5EF4-FFF2-40B4-BE49-F238E27FC236}">
                <a16:creationId xmlns:a16="http://schemas.microsoft.com/office/drawing/2014/main" id="{10DB1417-5C13-42D3-88A2-6B0D8129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가볼 곳부터 확인</a:t>
            </a:r>
          </a:p>
        </p:txBody>
      </p:sp>
      <p:sp>
        <p:nvSpPr>
          <p:cNvPr id="94" name="예약과 장소, 일정에서 같은 여행 정보를 재사용">
            <a:extLst xmlns:a="http://schemas.openxmlformats.org/drawingml/2006/main">
              <a:ext uri="{FF2B5EF4-FFF2-40B4-BE49-F238E27FC236}">
                <a16:creationId xmlns:a16="http://schemas.microsoft.com/office/drawing/2014/main" id="{1FDB0F81-E904-4D6A-A1FA-2435EC2D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1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도시와 날짜를 이어받고</a:t>
            </a:r>
            <a:b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마음에 드는 곳은 바로 저장</a:t>
            </a:r>
          </a:p>
        </p:txBody>
      </p:sp>
      <p:sp>
        <p:nvSpPr>
          <p:cNvPr id="95" name="숙소 없이도 시작 필요한 조건만 나중에 추가">
            <a:extLst xmlns:a="http://schemas.openxmlformats.org/drawingml/2006/main">
              <a:ext uri="{FF2B5EF4-FFF2-40B4-BE49-F238E27FC236}">
                <a16:creationId xmlns:a16="http://schemas.microsoft.com/office/drawing/2014/main" id="{8FBF7939-DAFF-4FAF-8140-56054EF9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31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숙소 기준 거리 비교</a:t>
            </a:r>
            <a:b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</a:b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필요할 때 취향과 예산 추가</a:t>
            </a:r>
          </a:p>
        </p:txBody>
      </p:sp>
      <p:pic>
        <p:nvPicPr>
          <p:cNvPr id="96" name="image2.png">
            <a:extLst xmlns:a="http://schemas.openxmlformats.org/drawingml/2006/main">
              <a:ext uri="{FF2B5EF4-FFF2-40B4-BE49-F238E27FC236}">
                <a16:creationId xmlns:a16="http://schemas.microsoft.com/office/drawing/2014/main" id="{718866E5-A915-43F8-ABB7-7586D33853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64f0dd5ea4cab"/>
          <a:srcRect xmlns:a="http://schemas.openxmlformats.org/drawingml/2006/main" l="6349" t="23148" r="6349" b="25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2190750"/>
            <a:ext cx="7191375" cy="41052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  <p:extLst>
      <p:ext uri="{BB962C8B-B14F-4D97-AF65-F5344CB8AC3E}">
        <p14:creationId xmlns:p14="http://schemas.microsoft.com/office/powerpoint/2010/main" val="64176442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고잉  /  추천의 기획">
            <a:extLst xmlns:a="http://schemas.openxmlformats.org/drawingml/2006/main">
              <a:ext uri="{FF2B5EF4-FFF2-40B4-BE49-F238E27FC236}">
                <a16:creationId xmlns:a16="http://schemas.microsoft.com/office/drawing/2014/main" id="{C5CD342F-E502-43F3-9788-BA7B3A04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추천의 차이</a:t>
            </a:r>
          </a:p>
        </p:txBody>
      </p:sp>
      <p:sp>
        <p:nvSpPr>
          <p:cNvPr id="135" name="현지 탐색과 유명한 곳">
            <a:extLst xmlns:a="http://schemas.openxmlformats.org/drawingml/2006/main">
              <a:ext uri="{FF2B5EF4-FFF2-40B4-BE49-F238E27FC236}">
                <a16:creationId xmlns:a16="http://schemas.microsoft.com/office/drawing/2014/main" id="{33C1B1B0-0C58-4CA0-8E79-777C440F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 탐색과 유명한 곳</a:t>
            </a:r>
          </a:p>
        </p:txBody>
      </p:sp>
      <p:sp>
        <p:nvSpPr>
          <p:cNvPr id="136" name="여행에서 원하는 경험에 맞춰 나눠 찾습니다">
            <a:extLst xmlns:a="http://schemas.openxmlformats.org/drawingml/2006/main">
              <a:ext uri="{FF2B5EF4-FFF2-40B4-BE49-F238E27FC236}">
                <a16:creationId xmlns:a16="http://schemas.microsoft.com/office/drawing/2014/main" id="{B1C3BE5C-97B0-4930-9BDA-86802FC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서로 다른 여행 취향을 나눠서 추천합니다</a:t>
            </a:r>
          </a:p>
        </p:txBody>
      </p:sp>
      <p:sp>
        <p:nvSpPr>
          <p:cNvPr id="137" name="07">
            <a:extLst xmlns:a="http://schemas.openxmlformats.org/drawingml/2006/main">
              <a:ext uri="{FF2B5EF4-FFF2-40B4-BE49-F238E27FC236}">
                <a16:creationId xmlns:a16="http://schemas.microsoft.com/office/drawing/2014/main" id="{B946A0CA-A063-47AD-A7FE-04A6620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38" name="현지 탐색">
            <a:extLst xmlns:a="http://schemas.openxmlformats.org/drawingml/2006/main">
              <a:ext uri="{FF2B5EF4-FFF2-40B4-BE49-F238E27FC236}">
                <a16:creationId xmlns:a16="http://schemas.microsoft.com/office/drawing/2014/main" id="{7AA4D806-604F-470D-BA55-01B3CB5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현지 탐색</a:t>
            </a:r>
          </a:p>
        </p:txBody>
      </p:sp>
      <p:sp>
        <p:nvSpPr>
          <p:cNvPr id="139" name="현지어 원문 리뷰가 많고 한국어가 적게 관측된 장소  미판별 리뷰와 관측 기간도 확인">
            <a:extLst xmlns:a="http://schemas.openxmlformats.org/drawingml/2006/main">
              <a:ext uri="{FF2B5EF4-FFF2-40B4-BE49-F238E27FC236}">
                <a16:creationId xmlns:a16="http://schemas.microsoft.com/office/drawing/2014/main" id="{6A53E1F3-2C33-4732-AF9B-83300D9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1625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현지어 원문 리뷰가 충분하고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한국어가 적게 관측된 장소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평점과 평가 수를 함께 고려</a:t>
            </a:r>
          </a:p>
        </p:txBody>
      </p:sp>
      <p:sp>
        <p:nvSpPr>
          <p:cNvPr id="140" name="유명한 곳">
            <a:extLst xmlns:a="http://schemas.openxmlformats.org/drawingml/2006/main">
              <a:ext uri="{FF2B5EF4-FFF2-40B4-BE49-F238E27FC236}">
                <a16:creationId xmlns:a16="http://schemas.microsoft.com/office/drawing/2014/main" id="{86280EB1-13C2-4E5B-931F-7885ADBE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66975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유명한 곳</a:t>
            </a:r>
          </a:p>
        </p:txBody>
      </p:sp>
      <p:sp>
        <p:nvSpPr>
          <p:cNvPr id="141" name="대표 명소와 알려진 식당 공식 소개와 플랫폼의 평가 규모  같은 날짜와 인원 조건으로 비교">
            <a:extLst xmlns:a="http://schemas.openxmlformats.org/drawingml/2006/main">
              <a:ext uri="{FF2B5EF4-FFF2-40B4-BE49-F238E27FC236}">
                <a16:creationId xmlns:a16="http://schemas.microsoft.com/office/drawing/2014/main" id="{AB4B45E6-A6AF-40B9-807F-E98F5663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49720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처음 가는 도시의 대표 명소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잘 알려진 식당과 방문 장소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대표성과 인지도를 별도로 반영</a:t>
            </a:r>
          </a:p>
        </p:txBody>
      </p:sp>
      <p:sp>
        <p:nvSpPr>
          <p:cNvPr id="142" name="리뷰 언어는 주민 비율과 다릅니다. 엄격 현지어 추천은 실제 검증 전 OFF.">
            <a:extLst xmlns:a="http://schemas.openxmlformats.org/drawingml/2006/main">
              <a:ext uri="{FF2B5EF4-FFF2-40B4-BE49-F238E27FC236}">
                <a16:creationId xmlns:a16="http://schemas.microsoft.com/office/drawing/2014/main" id="{E3D927EE-75D1-4C86-B40D-882A9A74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리뷰 언어만으로 거주지를 판단하지 않습니다. 엄격 현지어 추천은 검증 후 공개 예정입니다.</a:t>
            </a:r>
          </a:p>
        </p:txBody>
      </p:sp>
    </p:spTree>
    <p:extLst>
      <p:ext uri="{BB962C8B-B14F-4D97-AF65-F5344CB8AC3E}">
        <p14:creationId xmlns:p14="http://schemas.microsoft.com/office/powerpoint/2010/main" val="10687946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고잉  /  메일 분석">
            <a:extLst xmlns:a="http://schemas.openxmlformats.org/drawingml/2006/main">
              <a:ext uri="{FF2B5EF4-FFF2-40B4-BE49-F238E27FC236}">
                <a16:creationId xmlns:a16="http://schemas.microsoft.com/office/drawing/2014/main" id="{2F4877EC-9060-4E06-BD0C-599C089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예약 관리</a:t>
            </a:r>
          </a:p>
        </p:txBody>
      </p:sp>
      <p:sp>
        <p:nvSpPr>
          <p:cNvPr id="101" name="메일을 예약으로 정리하기">
            <a:extLst xmlns:a="http://schemas.openxmlformats.org/drawingml/2006/main">
              <a:ext uri="{FF2B5EF4-FFF2-40B4-BE49-F238E27FC236}">
                <a16:creationId xmlns:a16="http://schemas.microsoft.com/office/drawing/2014/main" id="{87FDD1E0-2F9B-431B-B44E-D6ECEFA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메일을 예약으로 정리하기</a:t>
            </a:r>
          </a:p>
        </p:txBody>
      </p:sp>
      <p:sp>
        <p:nvSpPr>
          <p:cNvPr id="102" name="읽어 낸 날짜와 시간을 사용자가 확인하고 수정합니다">
            <a:extLst xmlns:a="http://schemas.openxmlformats.org/drawingml/2006/main">
              <a:ext uri="{FF2B5EF4-FFF2-40B4-BE49-F238E27FC236}">
                <a16:creationId xmlns:a16="http://schemas.microsoft.com/office/drawing/2014/main" id="{82E953F5-E4C3-4833-81B6-0D090DD4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AI가 읽은 날짜와 시간을 확인하고 직접 고칠 수 있습니다</a:t>
            </a:r>
          </a:p>
        </p:txBody>
      </p:sp>
      <p:sp>
        <p:nvSpPr>
          <p:cNvPr id="103" name="04">
            <a:extLst xmlns:a="http://schemas.openxmlformats.org/drawingml/2006/main">
              <a:ext uri="{FF2B5EF4-FFF2-40B4-BE49-F238E27FC236}">
                <a16:creationId xmlns:a16="http://schemas.microsoft.com/office/drawing/2014/main" id="{FA8C99E5-8D52-473F-AD1E-5FA82154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04" name="AI가 읽고, 사용자가 확인">
            <a:extLst xmlns:a="http://schemas.openxmlformats.org/drawingml/2006/main">
              <a:ext uri="{FF2B5EF4-FFF2-40B4-BE49-F238E27FC236}">
                <a16:creationId xmlns:a16="http://schemas.microsoft.com/office/drawing/2014/main" id="{24E56905-8F33-4AF3-B4A4-A9408884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AI 분석 후 직접 확인</a:t>
            </a:r>
          </a:p>
        </p:txBody>
      </p:sp>
      <p:sp>
        <p:nvSpPr>
          <p:cNvPr id="105" name="체크인과 체크아웃을 한눈에">
            <a:extLst xmlns:a="http://schemas.openxmlformats.org/drawingml/2006/main">
              <a:ext uri="{FF2B5EF4-FFF2-40B4-BE49-F238E27FC236}">
                <a16:creationId xmlns:a16="http://schemas.microsoft.com/office/drawing/2014/main" id="{D0E6CBC5-EF41-40C8-BD84-7982EFE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항공편과 숙소 시간을 한눈에</a:t>
            </a:r>
          </a:p>
        </p:txBody>
      </p:sp>
      <p:sp>
        <p:nvSpPr>
          <p:cNvPr id="106" name="왕복편과 복수 예약도 구분 직접 고친 값은 다시 분석해도 유지">
            <a:extLst xmlns:a="http://schemas.openxmlformats.org/drawingml/2006/main">
              <a:ext uri="{FF2B5EF4-FFF2-40B4-BE49-F238E27FC236}">
                <a16:creationId xmlns:a16="http://schemas.microsoft.com/office/drawing/2014/main" id="{9483A7F2-697C-4C6E-AFC8-688F8D5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여러 예약과 왕복 항공편을 구분</a:t>
            </a:r>
            <a:b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수정한 값은 재분석에도 유지</a:t>
            </a:r>
          </a:p>
        </p:txBody>
      </p:sp>
      <p:sp>
        <p:nvSpPr>
          <p:cNvPr id="107" name="AI 분석: gpt-5-mini 화면: 가상 메일의 기본 분석 예시">
            <a:extLst xmlns:a="http://schemas.openxmlformats.org/drawingml/2006/main">
              <a:ext uri="{FF2B5EF4-FFF2-40B4-BE49-F238E27FC236}">
                <a16:creationId xmlns:a16="http://schemas.microsoft.com/office/drawing/2014/main" id="{1CC756D3-E8F5-4B59-8100-9F84F885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52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메일 없이 수동 예약도 추가 가능</a:t>
            </a:r>
            <a:b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</a:b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화면은 가상 메일 예시</a:t>
            </a:r>
          </a:p>
        </p:txBody>
      </p:sp>
      <p:pic>
        <p:nvPicPr>
          <p:cNvPr id="108" name="image3.png">
            <a:extLst xmlns:a="http://schemas.openxmlformats.org/drawingml/2006/main">
              <a:ext uri="{FF2B5EF4-FFF2-40B4-BE49-F238E27FC236}">
                <a16:creationId xmlns:a16="http://schemas.microsoft.com/office/drawing/2014/main" id="{B0F2CB28-74D1-4028-8142-CFEEBE907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0c916b3c5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5677" y="2028825"/>
            <a:ext cx="4887071" cy="42576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  <p:extLst>
      <p:ext uri="{BB962C8B-B14F-4D97-AF65-F5344CB8AC3E}">
        <p14:creationId xmlns:p14="http://schemas.microsoft.com/office/powerpoint/2010/main" val="1925833487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고잉  /  근거 기반 답변">
            <a:extLst xmlns:a="http://schemas.openxmlformats.org/drawingml/2006/main">
              <a:ext uri="{FF2B5EF4-FFF2-40B4-BE49-F238E27FC236}">
                <a16:creationId xmlns:a16="http://schemas.microsoft.com/office/drawing/2014/main" id="{2A01E457-CA6E-4099-BCB3-A1911AD1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AI 대화</a:t>
            </a:r>
          </a:p>
        </p:txBody>
      </p:sp>
      <p:sp>
        <p:nvSpPr>
          <p:cNvPr id="113" name="날짜로 묻고, 원문으로 확인하기">
            <a:extLst xmlns:a="http://schemas.openxmlformats.org/drawingml/2006/main">
              <a:ext uri="{FF2B5EF4-FFF2-40B4-BE49-F238E27FC236}">
                <a16:creationId xmlns:a16="http://schemas.microsoft.com/office/drawing/2014/main" id="{56FE9A51-D026-4E72-B025-698BFF43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내 여행에 물어보기</a:t>
            </a:r>
          </a:p>
        </p:txBody>
      </p:sp>
      <p:sp>
        <p:nvSpPr>
          <p:cNvPr id="114" name="“2일차 예약을 전부 알려줘”라고 물어볼 수 있습니다">
            <a:extLst xmlns:a="http://schemas.openxmlformats.org/drawingml/2006/main">
              <a:ext uri="{FF2B5EF4-FFF2-40B4-BE49-F238E27FC236}">
                <a16:creationId xmlns:a16="http://schemas.microsoft.com/office/drawing/2014/main" id="{BA61864E-D91A-4D4E-B3A5-4A09C412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메일을 다시 찾는 대신 필요한 내용을 질문합니다</a:t>
            </a:r>
          </a:p>
        </p:txBody>
      </p:sp>
      <p:sp>
        <p:nvSpPr>
          <p:cNvPr id="115" name="05">
            <a:extLst xmlns:a="http://schemas.openxmlformats.org/drawingml/2006/main">
              <a:ext uri="{FF2B5EF4-FFF2-40B4-BE49-F238E27FC236}">
                <a16:creationId xmlns:a16="http://schemas.microsoft.com/office/drawing/2014/main" id="{7F6527D4-8991-47D9-B38A-2D1F9D5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116" name="image4.png">
            <a:extLst xmlns:a="http://schemas.openxmlformats.org/drawingml/2006/main">
              <a:ext uri="{FF2B5EF4-FFF2-40B4-BE49-F238E27FC236}">
                <a16:creationId xmlns:a16="http://schemas.microsoft.com/office/drawing/2014/main" id="{FC92A21A-9C44-48A8-A956-AB8AA0FEA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688ab2cf74457"/>
          <a:srcRect xmlns:a="http://schemas.openxmlformats.org/drawingml/2006/main" l="6614" t="20720" r="6085" b="45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2266950"/>
            <a:ext cx="7191375" cy="3733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18" name="날짜별 예약 전체 조회 / 답변에서 원문 근거 확인">
            <a:extLst xmlns:a="http://schemas.openxmlformats.org/drawingml/2006/main">
              <a:ext uri="{FF2B5EF4-FFF2-40B4-BE49-F238E27FC236}">
                <a16:creationId xmlns:a16="http://schemas.microsoft.com/office/drawing/2014/main" id="{D3789167-AA1D-486D-83BB-B4F2DFD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333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“첫날 예약을 모두 알려줘”</a:t>
            </a:r>
            <a:br>
              <a:rPr sz="21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</a:br>
            <a:br>
              <a:rPr sz="21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</a:br>
            <a:r>
              <a:rPr sz="21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“체크아웃 시간이 언제야?”</a:t>
            </a:r>
          </a:p>
        </p:txBody>
      </p:sp>
    </p:spTree>
    <p:extLst>
      <p:ext uri="{BB962C8B-B14F-4D97-AF65-F5344CB8AC3E}">
        <p14:creationId xmlns:p14="http://schemas.microsoft.com/office/powerpoint/2010/main" val="709654454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고잉  /  일정 편집">
            <a:extLst xmlns:a="http://schemas.openxmlformats.org/drawingml/2006/main">
              <a:ext uri="{FF2B5EF4-FFF2-40B4-BE49-F238E27FC236}">
                <a16:creationId xmlns:a16="http://schemas.microsoft.com/office/drawing/2014/main" id="{D6834606-AA10-4250-9B77-DCC25DB9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일정</a:t>
            </a:r>
          </a:p>
        </p:txBody>
      </p:sp>
      <p:sp>
        <p:nvSpPr>
          <p:cNvPr id="147" name="예약 사이에 들어가는 일정">
            <a:extLst xmlns:a="http://schemas.openxmlformats.org/drawingml/2006/main">
              <a:ext uri="{FF2B5EF4-FFF2-40B4-BE49-F238E27FC236}">
                <a16:creationId xmlns:a16="http://schemas.microsoft.com/office/drawing/2014/main" id="{E64C237E-1566-42ED-94E7-7DE87776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고른 장소를 하루 일정으로</a:t>
            </a:r>
          </a:p>
        </p:txBody>
      </p:sp>
      <p:sp>
        <p:nvSpPr>
          <p:cNvPr id="148" name="머무는 시간에 앞뒤 이동시간까지 더해 확인합니다">
            <a:extLst xmlns:a="http://schemas.openxmlformats.org/drawingml/2006/main">
              <a:ext uri="{FF2B5EF4-FFF2-40B4-BE49-F238E27FC236}">
                <a16:creationId xmlns:a16="http://schemas.microsoft.com/office/drawing/2014/main" id="{C2E9F801-8DB3-4FCA-B6CE-4B9B482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이미 확정한 예약을 유지하면서 방문 순서를 조정합니다</a:t>
            </a:r>
          </a:p>
        </p:txBody>
      </p:sp>
      <p:sp>
        <p:nvSpPr>
          <p:cNvPr id="149" name="08">
            <a:extLst xmlns:a="http://schemas.openxmlformats.org/drawingml/2006/main">
              <a:ext uri="{FF2B5EF4-FFF2-40B4-BE49-F238E27FC236}">
                <a16:creationId xmlns:a16="http://schemas.microsoft.com/office/drawing/2014/main" id="{05BBF4D0-09ED-466E-8D10-251AE39C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50" name="13:00 – 15:00">
            <a:extLst xmlns:a="http://schemas.openxmlformats.org/drawingml/2006/main">
              <a:ext uri="{FF2B5EF4-FFF2-40B4-BE49-F238E27FC236}">
                <a16:creationId xmlns:a16="http://schemas.microsoft.com/office/drawing/2014/main" id="{948F7D56-7DB4-4D5B-BE42-9025665A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확정 예약을 먼저</a:t>
            </a:r>
          </a:p>
        </p:txBody>
      </p:sp>
      <p:sp>
        <p:nvSpPr>
          <p:cNvPr id="151" name="점심 종료부터 다음 예약까지 120분">
            <a:extLst xmlns:a="http://schemas.openxmlformats.org/drawingml/2006/main">
              <a:ext uri="{FF2B5EF4-FFF2-40B4-BE49-F238E27FC236}">
                <a16:creationId xmlns:a16="http://schemas.microsoft.com/office/drawing/2014/main" id="{914E9029-259B-4170-AC8C-6C156795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예약은 유지하고 빈 시간에 장소 배치</a:t>
            </a:r>
          </a:p>
        </p:txBody>
      </p:sp>
      <p:pic>
        <p:nvPicPr>
          <p:cNvPr id="152" name="image7.png">
            <a:extLst xmlns:a="http://schemas.openxmlformats.org/drawingml/2006/main">
              <a:ext uri="{FF2B5EF4-FFF2-40B4-BE49-F238E27FC236}">
                <a16:creationId xmlns:a16="http://schemas.microsoft.com/office/drawing/2014/main" id="{DBE3A3CA-05F2-43BF-8DFA-D5AAB2B08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ca6858c944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2647950"/>
            <a:ext cx="5095875" cy="26955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53" name="30 + 90 + 30 = 150분">
            <a:extLst xmlns:a="http://schemas.openxmlformats.org/drawingml/2006/main">
              <a:ext uri="{FF2B5EF4-FFF2-40B4-BE49-F238E27FC236}">
                <a16:creationId xmlns:a16="http://schemas.microsoft.com/office/drawing/2014/main" id="{5D12C9FE-A154-43C7-B0EB-8C15567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바꾸기 전에 미리 보기</a:t>
            </a:r>
          </a:p>
        </p:txBody>
      </p:sp>
      <p:sp>
        <p:nvSpPr>
          <p:cNvPr id="154" name="이동과 체류를 더하면 30분 부족 확정 예약은 그대로 유지합니다">
            <a:extLst xmlns:a="http://schemas.openxmlformats.org/drawingml/2006/main">
              <a:ext uri="{FF2B5EF4-FFF2-40B4-BE49-F238E27FC236}">
                <a16:creationId xmlns:a16="http://schemas.microsoft.com/office/drawing/2014/main" id="{F187F536-2134-476A-9585-507B885C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변경 내용을 확인한 뒤 적용</a:t>
            </a:r>
            <a:b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필요하면 이전 내용으로 되돌리기</a:t>
            </a:r>
          </a:p>
        </p:txBody>
      </p:sp>
      <p:sp>
        <p:nvSpPr>
          <p:cNvPr id="155" name="일정 제약을 설명하는 합성 예시">
            <a:extLst xmlns:a="http://schemas.openxmlformats.org/drawingml/2006/main">
              <a:ext uri="{FF2B5EF4-FFF2-40B4-BE49-F238E27FC236}">
                <a16:creationId xmlns:a16="http://schemas.microsoft.com/office/drawing/2014/main" id="{12D2B2A9-E4E7-4CC6-AF8E-8FFF4D6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일정 변경은 외부 예약 취소와 별개</a:t>
            </a:r>
          </a:p>
        </p:txBody>
      </p:sp>
      <p:sp>
        <p:nvSpPr>
          <p:cNvPr id="156" name="실제 화면: 고정 예약과 충돌 안내">
            <a:extLst xmlns:a="http://schemas.openxmlformats.org/drawingml/2006/main">
              <a:ext uri="{FF2B5EF4-FFF2-40B4-BE49-F238E27FC236}">
                <a16:creationId xmlns:a16="http://schemas.microsoft.com/office/drawing/2014/main" id="{44901617-F517-430A-BC03-4872A55D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7647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일정과 확인할 내용을 한눈에</a:t>
            </a:r>
          </a:p>
        </p:txBody>
      </p:sp>
      <p:sp>
        <p:nvSpPr>
          <p:cNvPr id="157" name="미리 확인하고 적용, 필요하면 되돌리기">
            <a:extLst xmlns:a="http://schemas.openxmlformats.org/drawingml/2006/main">
              <a:ext uri="{FF2B5EF4-FFF2-40B4-BE49-F238E27FC236}">
                <a16:creationId xmlns:a16="http://schemas.microsoft.com/office/drawing/2014/main" id="{E290463A-B71C-4362-83C8-13E27CF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007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가상 여행의 일정 화면</a:t>
            </a:r>
          </a:p>
        </p:txBody>
      </p:sp>
    </p:spTree>
    <p:extLst>
      <p:ext uri="{BB962C8B-B14F-4D97-AF65-F5344CB8AC3E}">
        <p14:creationId xmlns:p14="http://schemas.microsoft.com/office/powerpoint/2010/main" val="1592943906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고잉  /  구현 방법">
            <a:extLst xmlns:a="http://schemas.openxmlformats.org/drawingml/2006/main">
              <a:ext uri="{FF2B5EF4-FFF2-40B4-BE49-F238E27FC236}">
                <a16:creationId xmlns:a16="http://schemas.microsoft.com/office/drawing/2014/main" id="{B7BA4BD6-A42C-4DE7-AA4A-33384EF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구현 방법</a:t>
            </a:r>
          </a:p>
        </p:txBody>
      </p:sp>
      <p:sp>
        <p:nvSpPr>
          <p:cNvPr id="162" name="어떻게 만들었는지">
            <a:extLst xmlns:a="http://schemas.openxmlformats.org/drawingml/2006/main">
              <a:ext uri="{FF2B5EF4-FFF2-40B4-BE49-F238E27FC236}">
                <a16:creationId xmlns:a16="http://schemas.microsoft.com/office/drawing/2014/main" id="{2CDEE8AA-0E67-4EC2-A7BA-DE60CFC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서비스를 연결한 구조</a:t>
            </a:r>
          </a:p>
        </p:txBody>
      </p:sp>
      <p:sp>
        <p:nvSpPr>
          <p:cNvPr id="163" name="메일 분석에서 시작해 여행 정보와 일정 계산을 연결했습니다">
            <a:extLst xmlns:a="http://schemas.openxmlformats.org/drawingml/2006/main">
              <a:ext uri="{FF2B5EF4-FFF2-40B4-BE49-F238E27FC236}">
                <a16:creationId xmlns:a16="http://schemas.microsoft.com/office/drawing/2014/main" id="{6923019C-5BFA-4628-8108-6E7696D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화면, AI 처리, 저장을 나누고 하나의 여행으로 연결했습니다</a:t>
            </a:r>
          </a:p>
        </p:txBody>
      </p:sp>
      <p:sp>
        <p:nvSpPr>
          <p:cNvPr id="164" name="09">
            <a:extLst xmlns:a="http://schemas.openxmlformats.org/drawingml/2006/main">
              <a:ext uri="{FF2B5EF4-FFF2-40B4-BE49-F238E27FC236}">
                <a16:creationId xmlns:a16="http://schemas.microsoft.com/office/drawing/2014/main" id="{5FCC481E-D87F-4AEB-A980-97A0DBE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165" name="웹 화면과 여행 데이터">
            <a:extLst xmlns:a="http://schemas.openxmlformats.org/drawingml/2006/main">
              <a:ext uri="{FF2B5EF4-FFF2-40B4-BE49-F238E27FC236}">
                <a16:creationId xmlns:a16="http://schemas.microsoft.com/office/drawing/2014/main" id="{616DF272-CC5B-442C-81A0-D67D573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웹 화면과 FastAPI</a:t>
            </a:r>
          </a:p>
        </p:txBody>
      </p:sp>
      <p:sp>
        <p:nvSpPr>
          <p:cNvPr id="166" name="웹 UI와 FastAPI / Render 서버 / Supabase에 여행과 파일 보관">
            <a:extLst xmlns:a="http://schemas.openxmlformats.org/drawingml/2006/main">
              <a:ext uri="{FF2B5EF4-FFF2-40B4-BE49-F238E27FC236}">
                <a16:creationId xmlns:a16="http://schemas.microsoft.com/office/drawing/2014/main" id="{B67CBF3B-7A92-4FFF-B2D7-B54DB52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선택한 여행의 예약과 장소를 읽고 화면에 전달</a:t>
            </a:r>
          </a:p>
        </p:txBody>
      </p:sp>
      <p:sp>
        <p:nvSpPr>
          <p:cNvPr id="167" name="메일을 읽고 근거 찾기">
            <a:extLst xmlns:a="http://schemas.openxmlformats.org/drawingml/2006/main">
              <a:ext uri="{FF2B5EF4-FFF2-40B4-BE49-F238E27FC236}">
                <a16:creationId xmlns:a16="http://schemas.microsoft.com/office/drawing/2014/main" id="{8C066D4A-0ADB-490F-933F-60E42ED0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OpenAI로 메일 이해</a:t>
            </a:r>
          </a:p>
        </p:txBody>
      </p:sp>
      <p:sp>
        <p:nvSpPr>
          <p:cNvPr id="168" name="gpt-5-mini로 정보 추출 / text-embedding-3-small로 본문 검색">
            <a:extLst xmlns:a="http://schemas.openxmlformats.org/drawingml/2006/main">
              <a:ext uri="{FF2B5EF4-FFF2-40B4-BE49-F238E27FC236}">
                <a16:creationId xmlns:a16="http://schemas.microsoft.com/office/drawing/2014/main" id="{92D84336-7A13-44B4-903A-E462045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gpt-5-mini로 정보 추출, text-embedding-3-small로 관련 본문 검색</a:t>
            </a:r>
          </a:p>
        </p:txBody>
      </p:sp>
      <p:sp>
        <p:nvSpPr>
          <p:cNvPr id="169" name="추천과 일정은 확인한 데이터로 계산">
            <a:extLst xmlns:a="http://schemas.openxmlformats.org/drawingml/2006/main">
              <a:ext uri="{FF2B5EF4-FFF2-40B4-BE49-F238E27FC236}">
                <a16:creationId xmlns:a16="http://schemas.microsoft.com/office/drawing/2014/main" id="{C8612D2D-88D8-4249-80B7-F247120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Render와 Supabase</a:t>
            </a:r>
          </a:p>
        </p:txBody>
      </p:sp>
      <p:sp>
        <p:nvSpPr>
          <p:cNvPr id="170" name="취향 태그·보정 평점·거리로 추천 / 코드로 시간과 조건 검사">
            <a:extLst xmlns:a="http://schemas.openxmlformats.org/drawingml/2006/main">
              <a:ext uri="{FF2B5EF4-FFF2-40B4-BE49-F238E27FC236}">
                <a16:creationId xmlns:a16="http://schemas.microsoft.com/office/drawing/2014/main" id="{0994E6C6-AB32-4F56-92E3-A515BB4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서버를 배포하고 여행 데이터와 비공개 파일, 작업 상태를 보관</a:t>
            </a:r>
          </a:p>
        </p:txBody>
      </p:sp>
      <p:sp>
        <p:nvSpPr>
          <p:cNvPr id="171" name="사용자 행동 학습은 아직 없음 / 실제 추천 만족도는 앞으로 확인">
            <a:extLst xmlns:a="http://schemas.openxmlformats.org/drawingml/2006/main">
              <a:ext uri="{FF2B5EF4-FFF2-40B4-BE49-F238E27FC236}">
                <a16:creationId xmlns:a16="http://schemas.microsoft.com/office/drawing/2014/main" id="{D77C2D3D-61F0-4E9B-A562-9C47DCA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메일 분석에서 시작해 사용자별 여행, 장소 추천, 일정 편집으로 확장</a:t>
            </a:r>
          </a:p>
        </p:txBody>
      </p:sp>
    </p:spTree>
    <p:extLst>
      <p:ext uri="{BB962C8B-B14F-4D97-AF65-F5344CB8AC3E}">
        <p14:creationId xmlns:p14="http://schemas.microsoft.com/office/powerpoint/2010/main" val="1383325975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고잉  /  구현 방법">
            <a:extLst xmlns:a="http://schemas.openxmlformats.org/drawingml/2006/main">
              <a:ext uri="{FF2B5EF4-FFF2-40B4-BE49-F238E27FC236}">
                <a16:creationId xmlns:a16="http://schemas.microsoft.com/office/drawing/2014/main" id="{B7BA4BD6-A42C-4DE7-AA4A-33384EF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추천 구현</a:t>
            </a:r>
          </a:p>
        </p:txBody>
      </p:sp>
      <p:sp>
        <p:nvSpPr>
          <p:cNvPr id="162" name="어떻게 만들었는지">
            <a:extLst xmlns:a="http://schemas.openxmlformats.org/drawingml/2006/main">
              <a:ext uri="{FF2B5EF4-FFF2-40B4-BE49-F238E27FC236}">
                <a16:creationId xmlns:a16="http://schemas.microsoft.com/office/drawing/2014/main" id="{2CDEE8AA-0E67-4EC2-A7BA-DE60CFC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추천 순위를 정하는 방법</a:t>
            </a:r>
          </a:p>
        </p:txBody>
      </p:sp>
      <p:sp>
        <p:nvSpPr>
          <p:cNvPr id="163" name="메일 분석에서 시작해 여행 정보와 일정 계산을 연결했습니다">
            <a:extLst xmlns:a="http://schemas.openxmlformats.org/drawingml/2006/main">
              <a:ext uri="{FF2B5EF4-FFF2-40B4-BE49-F238E27FC236}">
                <a16:creationId xmlns:a16="http://schemas.microsoft.com/office/drawing/2014/main" id="{6923019C-5BFA-4628-8108-6E7696D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여행 조건과 장소 데이터를 조합하는 hybrid_v5</a:t>
            </a:r>
          </a:p>
        </p:txBody>
      </p:sp>
      <p:sp>
        <p:nvSpPr>
          <p:cNvPr id="164" name="09">
            <a:extLst xmlns:a="http://schemas.openxmlformats.org/drawingml/2006/main">
              <a:ext uri="{FF2B5EF4-FFF2-40B4-BE49-F238E27FC236}">
                <a16:creationId xmlns:a16="http://schemas.microsoft.com/office/drawing/2014/main" id="{5FCC481E-D87F-4AEB-A980-97A0DBE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65" name="웹 화면과 여행 데이터">
            <a:extLst xmlns:a="http://schemas.openxmlformats.org/drawingml/2006/main">
              <a:ext uri="{FF2B5EF4-FFF2-40B4-BE49-F238E27FC236}">
                <a16:creationId xmlns:a16="http://schemas.microsoft.com/office/drawing/2014/main" id="{616DF272-CC5B-442C-81A0-D67D573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취향이 얼마나 맞는지</a:t>
            </a:r>
          </a:p>
        </p:txBody>
      </p:sp>
      <p:sp>
        <p:nvSpPr>
          <p:cNvPr id="166" name="웹 UI와 FastAPI / Render 서버 / Supabase에 여행과 파일 보관">
            <a:extLst xmlns:a="http://schemas.openxmlformats.org/drawingml/2006/main">
              <a:ext uri="{FF2B5EF4-FFF2-40B4-BE49-F238E27FC236}">
                <a16:creationId xmlns:a16="http://schemas.microsoft.com/office/drawing/2014/main" id="{B67CBF3B-7A92-4FFF-B2D7-B54DB52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음식 이름의 다국어 별칭을 연결하고 TF-IDF 유사도 계산</a:t>
            </a:r>
          </a:p>
        </p:txBody>
      </p:sp>
      <p:sp>
        <p:nvSpPr>
          <p:cNvPr id="167" name="메일을 읽고 근거 찾기">
            <a:extLst xmlns:a="http://schemas.openxmlformats.org/drawingml/2006/main">
              <a:ext uri="{FF2B5EF4-FFF2-40B4-BE49-F238E27FC236}">
                <a16:creationId xmlns:a16="http://schemas.microsoft.com/office/drawing/2014/main" id="{8C066D4A-0ADB-490F-933F-60E42ED0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평점과 거리 함께 보기</a:t>
            </a:r>
          </a:p>
        </p:txBody>
      </p:sp>
      <p:sp>
        <p:nvSpPr>
          <p:cNvPr id="168" name="gpt-5-mini로 정보 추출 / text-embedding-3-small로 본문 검색">
            <a:extLst xmlns:a="http://schemas.openxmlformats.org/drawingml/2006/main">
              <a:ext uri="{FF2B5EF4-FFF2-40B4-BE49-F238E27FC236}">
                <a16:creationId xmlns:a16="http://schemas.microsoft.com/office/drawing/2014/main" id="{92D84336-7A13-44B4-903A-E462045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평가 수를 고려해 평점을 보정하고 숙소와의 직선거리 반영</a:t>
            </a:r>
          </a:p>
        </p:txBody>
      </p:sp>
      <p:sp>
        <p:nvSpPr>
          <p:cNvPr id="169" name="추천과 일정은 확인한 데이터로 계산">
            <a:extLst xmlns:a="http://schemas.openxmlformats.org/drawingml/2006/main">
              <a:ext uri="{FF2B5EF4-FFF2-40B4-BE49-F238E27FC236}">
                <a16:creationId xmlns:a16="http://schemas.microsoft.com/office/drawing/2014/main" id="{C8612D2D-88D8-4249-80B7-F247120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방문 조건을 먼저 확인</a:t>
            </a:r>
          </a:p>
        </p:txBody>
      </p:sp>
      <p:sp>
        <p:nvSpPr>
          <p:cNvPr id="170" name="취향 태그·보정 평점·거리로 추천 / 코드로 시간과 조건 검사">
            <a:extLst xmlns:a="http://schemas.openxmlformats.org/drawingml/2006/main">
              <a:ext uri="{FF2B5EF4-FFF2-40B4-BE49-F238E27FC236}">
                <a16:creationId xmlns:a16="http://schemas.microsoft.com/office/drawing/2014/main" id="{0994E6C6-AB32-4F56-92E3-A515BB4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확인된 폐업과 인원 제한은 높은 점수로 상쇄하지 않음</a:t>
            </a:r>
          </a:p>
        </p:txBody>
      </p:sp>
      <p:sp>
        <p:nvSpPr>
          <p:cNvPr id="171" name="사용자 행동 학습은 아직 없음 / 실제 추천 만족도는 앞으로 확인">
            <a:extLst xmlns:a="http://schemas.openxmlformats.org/drawingml/2006/main">
              <a:ext uri="{FF2B5EF4-FFF2-40B4-BE49-F238E27FC236}">
                <a16:creationId xmlns:a16="http://schemas.microsoft.com/office/drawing/2014/main" id="{D77C2D3D-61F0-4E9B-A562-9C47DCA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사용자 행동을 학습하기 전 단계이며, 실제 추천 만족도는 앞으로 평가</a:t>
            </a:r>
          </a:p>
        </p:txBody>
      </p:sp>
    </p:spTree>
    <p:extLst>
      <p:ext uri="{BB962C8B-B14F-4D97-AF65-F5344CB8AC3E}">
        <p14:creationId xmlns:p14="http://schemas.microsoft.com/office/powerpoint/2010/main" val="1383325975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고잉  /  다음 개발">
            <a:extLst xmlns:a="http://schemas.openxmlformats.org/drawingml/2006/main">
              <a:ext uri="{FF2B5EF4-FFF2-40B4-BE49-F238E27FC236}">
                <a16:creationId xmlns:a16="http://schemas.microsoft.com/office/drawing/2014/main" id="{89D6AA73-8A05-429A-8743-2D26880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개발하며 배운 점</a:t>
            </a:r>
          </a:p>
        </p:txBody>
      </p:sp>
      <p:sp>
        <p:nvSpPr>
          <p:cNvPr id="176" name="직접 써 보며 이어갈 개발">
            <a:extLst xmlns:a="http://schemas.openxmlformats.org/drawingml/2006/main">
              <a:ext uri="{FF2B5EF4-FFF2-40B4-BE49-F238E27FC236}">
                <a16:creationId xmlns:a16="http://schemas.microsoft.com/office/drawing/2014/main" id="{C887D872-5FB0-4835-9619-6BD1913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쓰면서 고친 부분</a:t>
            </a:r>
          </a:p>
        </p:txBody>
      </p:sp>
      <p:sp>
        <p:nvSpPr>
          <p:cNvPr id="177" name="연결한 사용 흐름을 실제 여행에서 더 확인하려고 합니다">
            <a:extLst xmlns:a="http://schemas.openxmlformats.org/drawingml/2006/main">
              <a:ext uri="{FF2B5EF4-FFF2-40B4-BE49-F238E27FC236}">
                <a16:creationId xmlns:a16="http://schemas.microsoft.com/office/drawing/2014/main" id="{51F6900F-32D9-4980-8533-1824A31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기능을 늘린 뒤에는 시작하는 과정부터 다시 줄였습니다</a:t>
            </a:r>
          </a:p>
        </p:txBody>
      </p:sp>
      <p:sp>
        <p:nvSpPr>
          <p:cNvPr id="178" name="10">
            <a:extLst xmlns:a="http://schemas.openxmlformats.org/drawingml/2006/main">
              <a:ext uri="{FF2B5EF4-FFF2-40B4-BE49-F238E27FC236}">
                <a16:creationId xmlns:a16="http://schemas.microsoft.com/office/drawing/2014/main" id="{E5EE845E-A590-4552-A80B-935B80E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179" name="지금 연결한 흐름">
            <a:extLst xmlns:a="http://schemas.openxmlformats.org/drawingml/2006/main">
              <a:ext uri="{FF2B5EF4-FFF2-40B4-BE49-F238E27FC236}">
                <a16:creationId xmlns:a16="http://schemas.microsoft.com/office/drawing/2014/main" id="{95284986-8F3C-4BC3-8E26-816FFEC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입력과 메뉴 줄이기</a:t>
            </a:r>
          </a:p>
        </p:txBody>
      </p:sp>
      <p:sp>
        <p:nvSpPr>
          <p:cNvPr id="180" name="예약 정리와 근거 질문 장소 선택과 일정 편집">
            <a:extLst xmlns:a="http://schemas.openxmlformats.org/drawingml/2006/main">
              <a:ext uri="{FF2B5EF4-FFF2-40B4-BE49-F238E27FC236}">
                <a16:creationId xmlns:a16="http://schemas.microsoft.com/office/drawing/2014/main" id="{5815AE1D-6BEC-4506-AE1A-CC8D2E0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여행 정보를 재사용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추천과 AI 질문을 메인에 배치</a:t>
            </a:r>
          </a:p>
        </p:txBody>
      </p:sp>
      <p:sp>
        <p:nvSpPr>
          <p:cNvPr id="181" name="다음에 확인할 것">
            <a:extLst xmlns:a="http://schemas.openxmlformats.org/drawingml/2006/main">
              <a:ext uri="{FF2B5EF4-FFF2-40B4-BE49-F238E27FC236}">
                <a16:creationId xmlns:a16="http://schemas.microsoft.com/office/drawing/2014/main" id="{E847F38C-D514-4016-9591-5A5488A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기다리는 동안에도 알 수 있게</a:t>
            </a:r>
          </a:p>
        </p:txBody>
      </p:sp>
      <p:sp>
        <p:nvSpPr>
          <p:cNvPr id="182" name="실제 리뷰의 이용 범위와 언어 품질 다른 사람의 선택과 방문 경험">
            <a:extLst xmlns:a="http://schemas.openxmlformats.org/drawingml/2006/main">
              <a:ext uri="{FF2B5EF4-FFF2-40B4-BE49-F238E27FC236}">
                <a16:creationId xmlns:a16="http://schemas.microsoft.com/office/drawing/2014/main" id="{A1C0331F-98E3-4A93-BD7F-013BF73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추천 진행 상태 표시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다른 화면에서도 결과 이어 보기</a:t>
            </a:r>
          </a:p>
        </p:txBody>
      </p:sp>
      <p:sp>
        <p:nvSpPr>
          <p:cNvPr id="183" name="도시별 자료와 이동 경로 보강">
            <a:extLst xmlns:a="http://schemas.openxmlformats.org/drawingml/2006/main">
              <a:ext uri="{FF2B5EF4-FFF2-40B4-BE49-F238E27FC236}">
                <a16:creationId xmlns:a16="http://schemas.microsoft.com/office/drawing/2014/main" id="{720E8A2F-4FAD-4FDC-B54C-DE0A78C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기능을 쉽게 쓰게 만드는 일</a:t>
            </a:r>
          </a:p>
        </p:txBody>
      </p:sp>
      <p:sp>
        <p:nvSpPr>
          <p:cNvPr id="184" name="100개 도시 입력 지원 / 도시별 추천 자료는 확보 수준이 다릅니다">
            <a:extLst xmlns:a="http://schemas.openxmlformats.org/drawingml/2006/main">
              <a:ext uri="{FF2B5EF4-FFF2-40B4-BE49-F238E27FC236}">
                <a16:creationId xmlns:a16="http://schemas.microsoft.com/office/drawing/2014/main" id="{D2546EE9-BF56-49D4-9D14-2B11E4B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저장과 상세 보기를 먼저, 세부 조건은 필요할 때만</a:t>
            </a:r>
          </a:p>
        </p:txBody>
      </p:sp>
      <p:sp>
        <p:nvSpPr>
          <p:cNvPr id="185" name="마지막으로, 실제 사용 화면을 보여드리겠습니다.">
            <a:extLst xmlns:a="http://schemas.openxmlformats.org/drawingml/2006/main">
              <a:ext uri="{FF2B5EF4-FFF2-40B4-BE49-F238E27FC236}">
                <a16:creationId xmlns:a16="http://schemas.microsoft.com/office/drawing/2014/main" id="{BBE57039-794A-4713-8485-F54AEB0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오류가 나도 입력과 이전 예약은 유지</a:t>
            </a:r>
          </a:p>
        </p:txBody>
      </p:sp>
    </p:spTree>
    <p:extLst>
      <p:ext uri="{BB962C8B-B14F-4D97-AF65-F5344CB8AC3E}">
        <p14:creationId xmlns:p14="http://schemas.microsoft.com/office/powerpoint/2010/main" val="300745530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고잉  /  다음 개발">
            <a:extLst xmlns:a="http://schemas.openxmlformats.org/drawingml/2006/main">
              <a:ext uri="{FF2B5EF4-FFF2-40B4-BE49-F238E27FC236}">
                <a16:creationId xmlns:a16="http://schemas.microsoft.com/office/drawing/2014/main" id="{89D6AA73-8A05-429A-8743-2D26880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다음 계획</a:t>
            </a:r>
          </a:p>
        </p:txBody>
      </p:sp>
      <p:sp>
        <p:nvSpPr>
          <p:cNvPr id="176" name="직접 써 보며 이어갈 개발">
            <a:extLst xmlns:a="http://schemas.openxmlformats.org/drawingml/2006/main">
              <a:ext uri="{FF2B5EF4-FFF2-40B4-BE49-F238E27FC236}">
                <a16:creationId xmlns:a16="http://schemas.microsoft.com/office/drawing/2014/main" id="{C887D872-5FB0-4835-9619-6BD1913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앞으로의 고잉</a:t>
            </a:r>
          </a:p>
        </p:txBody>
      </p:sp>
      <p:sp>
        <p:nvSpPr>
          <p:cNvPr id="177" name="연결한 사용 흐름을 실제 여행에서 더 확인하려고 합니다">
            <a:extLst xmlns:a="http://schemas.openxmlformats.org/drawingml/2006/main">
              <a:ext uri="{FF2B5EF4-FFF2-40B4-BE49-F238E27FC236}">
                <a16:creationId xmlns:a16="http://schemas.microsoft.com/office/drawing/2014/main" id="{51F6900F-32D9-4980-8533-1824A31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제가 여행할 때 계속 쓰고 싶은 서비스로 발전시키려 합니다</a:t>
            </a:r>
          </a:p>
        </p:txBody>
      </p:sp>
      <p:sp>
        <p:nvSpPr>
          <p:cNvPr id="178" name="10">
            <a:extLst xmlns:a="http://schemas.openxmlformats.org/drawingml/2006/main">
              <a:ext uri="{FF2B5EF4-FFF2-40B4-BE49-F238E27FC236}">
                <a16:creationId xmlns:a16="http://schemas.microsoft.com/office/drawing/2014/main" id="{E5EE845E-A590-4552-A80B-935B80E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179" name="지금 연결한 흐름">
            <a:extLst xmlns:a="http://schemas.openxmlformats.org/drawingml/2006/main">
              <a:ext uri="{FF2B5EF4-FFF2-40B4-BE49-F238E27FC236}">
                <a16:creationId xmlns:a16="http://schemas.microsoft.com/office/drawing/2014/main" id="{95284986-8F3C-4BC3-8E26-816FFEC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장소 자료 보강</a:t>
            </a:r>
          </a:p>
        </p:txBody>
      </p:sp>
      <p:sp>
        <p:nvSpPr>
          <p:cNvPr id="180" name="예약 정리와 근거 질문 장소 선택과 일정 편집">
            <a:extLst xmlns:a="http://schemas.openxmlformats.org/drawingml/2006/main">
              <a:ext uri="{FF2B5EF4-FFF2-40B4-BE49-F238E27FC236}">
                <a16:creationId xmlns:a16="http://schemas.microsoft.com/office/drawing/2014/main" id="{5815AE1D-6BEC-4506-AE1A-CC8D2E0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사진과 영업 정보부터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실제 선택에 필요한 내용 채우기</a:t>
            </a:r>
          </a:p>
        </p:txBody>
      </p:sp>
      <p:sp>
        <p:nvSpPr>
          <p:cNvPr id="181" name="다음에 확인할 것">
            <a:extLst xmlns:a="http://schemas.openxmlformats.org/drawingml/2006/main">
              <a:ext uri="{FF2B5EF4-FFF2-40B4-BE49-F238E27FC236}">
                <a16:creationId xmlns:a16="http://schemas.microsoft.com/office/drawing/2014/main" id="{E847F38C-D514-4016-9591-5A5488A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현지어 리뷰 추천 발전</a:t>
            </a:r>
          </a:p>
        </p:txBody>
      </p:sp>
      <p:sp>
        <p:nvSpPr>
          <p:cNvPr id="182" name="실제 리뷰의 이용 범위와 언어 품질 다른 사람의 선택과 방문 경험">
            <a:extLst xmlns:a="http://schemas.openxmlformats.org/drawingml/2006/main">
              <a:ext uri="{FF2B5EF4-FFF2-40B4-BE49-F238E27FC236}">
                <a16:creationId xmlns:a16="http://schemas.microsoft.com/office/drawing/2014/main" id="{A1C0331F-98E3-4A93-BD7F-013BF73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언어 품질을 확인한 도시부터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사용 범위를 넓혀 가기</a:t>
            </a:r>
          </a:p>
        </p:txBody>
      </p:sp>
      <p:sp>
        <p:nvSpPr>
          <p:cNvPr id="183" name="도시별 자료와 이동 경로 보강">
            <a:extLst xmlns:a="http://schemas.openxmlformats.org/drawingml/2006/main">
              <a:ext uri="{FF2B5EF4-FFF2-40B4-BE49-F238E27FC236}">
                <a16:creationId xmlns:a16="http://schemas.microsoft.com/office/drawing/2014/main" id="{720E8A2F-4FAD-4FDC-B54C-DE0A78C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실제 여행에서 쓰며 개선</a:t>
            </a:r>
          </a:p>
        </p:txBody>
      </p:sp>
      <p:sp>
        <p:nvSpPr>
          <p:cNvPr id="184" name="100개 도시 입력 지원 / 도시별 추천 자료는 확보 수준이 다릅니다">
            <a:extLst xmlns:a="http://schemas.openxmlformats.org/drawingml/2006/main">
              <a:ext uri="{FF2B5EF4-FFF2-40B4-BE49-F238E27FC236}">
                <a16:creationId xmlns:a16="http://schemas.microsoft.com/office/drawing/2014/main" id="{D2546EE9-BF56-49D4-9D14-2B11E4B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다른 사람의 장소 선택과 방문 경험을 나누어 평가</a:t>
            </a:r>
          </a:p>
        </p:txBody>
      </p:sp>
      <p:sp>
        <p:nvSpPr>
          <p:cNvPr id="185" name="마지막으로, 실제 사용 화면을 보여드리겠습니다.">
            <a:extLst xmlns:a="http://schemas.openxmlformats.org/drawingml/2006/main">
              <a:ext uri="{FF2B5EF4-FFF2-40B4-BE49-F238E27FC236}">
                <a16:creationId xmlns:a16="http://schemas.microsoft.com/office/drawing/2014/main" id="{BBE57039-794A-4713-8485-F54AEB0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여행 준비에서 반복하던 일을 조금씩 줄여 가겠습니다</a:t>
            </a:r>
          </a:p>
        </p:txBody>
      </p:sp>
    </p:spTree>
    <p:extLst>
      <p:ext uri="{BB962C8B-B14F-4D97-AF65-F5344CB8AC3E}">
        <p14:creationId xmlns:p14="http://schemas.microsoft.com/office/powerpoint/2010/main" val="300745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2026-10-08T05:01:46.6270000Z</dcterms:created>
  <dcterms:modified xsi:type="dcterms:W3CDTF">2026-10-08T05:01:46.6270000Z</dcterms:modified>
</coreProperties>
</file>