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f63ccc3c944180" /><Relationship Type="http://schemas.openxmlformats.org/officeDocument/2006/relationships/extended-properties" Target="/docProps/app.xml" Id="R32e1c609e683461c" /><Relationship Type="http://schemas.openxmlformats.org/officeDocument/2006/relationships/officeDocument" Target="/ppt/presentation.xml" Id="Rda05ef3d6e6b4b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4675392b5847c8"/>
  </p:sldMasterIdLst>
  <p:notesMasterIdLst>
    <p:notesMasterId xmlns:r="http://schemas.openxmlformats.org/officeDocument/2006/relationships" r:id="R4c3e70aaef6148c0"/>
  </p:notesMasterIdLst>
  <p:sldIdLst>
    <p:sldId xmlns:r="http://schemas.openxmlformats.org/officeDocument/2006/relationships" id="256" r:id="R3a5b450072924c1c"/>
    <p:sldId xmlns:r="http://schemas.openxmlformats.org/officeDocument/2006/relationships" id="257" r:id="R358ba9fccdc845f1"/>
    <p:sldId xmlns:r="http://schemas.openxmlformats.org/officeDocument/2006/relationships" id="258" r:id="R956beeaec10b4b6d"/>
    <p:sldId xmlns:r="http://schemas.openxmlformats.org/officeDocument/2006/relationships" id="259" r:id="R0aa0db10b3b245a4"/>
    <p:sldId xmlns:r="http://schemas.openxmlformats.org/officeDocument/2006/relationships" id="260" r:id="R5139d517a59a426d"/>
    <p:sldId xmlns:r="http://schemas.openxmlformats.org/officeDocument/2006/relationships" id="261" r:id="R12bb930515ce4d5d"/>
    <p:sldId xmlns:r="http://schemas.openxmlformats.org/officeDocument/2006/relationships" id="262" r:id="Ra5c8742b52334e82"/>
    <p:sldId xmlns:r="http://schemas.openxmlformats.org/officeDocument/2006/relationships" id="263" r:id="R805b011849184d18"/>
    <p:sldId xmlns:r="http://schemas.openxmlformats.org/officeDocument/2006/relationships" id="264" r:id="R58c9d528e8b44891"/>
    <p:sldId xmlns:r="http://schemas.openxmlformats.org/officeDocument/2006/relationships" id="265" r:id="R7eb4acf3af864367"/>
    <p:sldId xmlns:r="http://schemas.openxmlformats.org/officeDocument/2006/relationships" id="266" r:id="Rde67d47cf9a644e5"/>
    <p:sldId xmlns:r="http://schemas.openxmlformats.org/officeDocument/2006/relationships" id="267" r:id="Rfeba911348a14965"/>
  </p:sldIdLst>
  <p:sldSz cx="12192000" cy="6858000"/>
  <p:notesSz cx="6858000" cy="9144000"/>
  <p:defaultTextStyle>
    <a:def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1pPr>
    <a:lvl2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2pPr>
    <a:lvl3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3pPr>
    <a:lvl4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4pPr>
    <a:lvl5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5pPr>
    <a:lvl6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6pPr>
    <a:lvl7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7pPr>
    <a:lvl8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8pPr>
    <a:lvl9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  <a:latin typeface="Pretendard"/>
        <a:ea typeface="Pretendard"/>
        <a:cs typeface="Pretendard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retendard"/>
          <a:ea typeface="Pretendard"/>
          <a:cs typeface="Pretendar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d81b9a59524bfb" /><Relationship Type="http://schemas.openxmlformats.org/officeDocument/2006/relationships/slideMaster" Target="/ppt/slideMasters/slideMaster1.xml" Id="R674675392b5847c8" /><Relationship Type="http://schemas.openxmlformats.org/officeDocument/2006/relationships/notesMaster" Target="/ppt/notesMasters/notesMaster1.xml" Id="R4c3e70aaef6148c0" /><Relationship Type="http://schemas.openxmlformats.org/officeDocument/2006/relationships/presProps" Target="/ppt/presProps.xml" Id="R4821acd5ed7e4998" /><Relationship Type="http://schemas.openxmlformats.org/officeDocument/2006/relationships/tableStyles" Target="/ppt/tableStyles.xml" Id="R1f0f8c7a5e09450a" /><Relationship Type="http://schemas.openxmlformats.org/officeDocument/2006/relationships/slide" Target="/ppt/slides/slide1.xml" Id="R3a5b450072924c1c" /><Relationship Type="http://schemas.openxmlformats.org/officeDocument/2006/relationships/slide" Target="/ppt/slides/slide2.xml" Id="R358ba9fccdc845f1" /><Relationship Type="http://schemas.openxmlformats.org/officeDocument/2006/relationships/slide" Target="/ppt/slides/slide3.xml" Id="R956beeaec10b4b6d" /><Relationship Type="http://schemas.openxmlformats.org/officeDocument/2006/relationships/slide" Target="/ppt/slides/slide4.xml" Id="R0aa0db10b3b245a4" /><Relationship Type="http://schemas.openxmlformats.org/officeDocument/2006/relationships/slide" Target="/ppt/slides/slide5.xml" Id="R5139d517a59a426d" /><Relationship Type="http://schemas.openxmlformats.org/officeDocument/2006/relationships/slide" Target="/ppt/slides/slide6.xml" Id="R12bb930515ce4d5d" /><Relationship Type="http://schemas.openxmlformats.org/officeDocument/2006/relationships/slide" Target="/ppt/slides/slide7.xml" Id="Ra5c8742b52334e82" /><Relationship Type="http://schemas.openxmlformats.org/officeDocument/2006/relationships/slide" Target="/ppt/slides/slide8.xml" Id="R805b011849184d18" /><Relationship Type="http://schemas.openxmlformats.org/officeDocument/2006/relationships/slide" Target="/ppt/slides/slide9.xml" Id="R58c9d528e8b44891" /><Relationship Type="http://schemas.openxmlformats.org/officeDocument/2006/relationships/slide" Target="/ppt/slides/slide10.xml" Id="R7eb4acf3af864367" /><Relationship Type="http://schemas.openxmlformats.org/officeDocument/2006/relationships/slide" Target="/ppt/slides/slide11.xml" Id="Rde67d47cf9a644e5" /><Relationship Type="http://schemas.openxmlformats.org/officeDocument/2006/relationships/slide" Target="/ppt/slides/slide12.xml" Id="Rfeba911348a149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32a8cd47c84a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ed24e7a4aa40d5" /><Relationship Type="http://schemas.openxmlformats.org/officeDocument/2006/relationships/notesMaster" Target="/ppt/notesMasters/notesMaster1.xml" Id="Rcdb3fb6f5f6e45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1b3a3636b24fd9" /><Relationship Type="http://schemas.openxmlformats.org/officeDocument/2006/relationships/notesMaster" Target="/ppt/notesMasters/notesMaster1.xml" Id="R638fad0d15994b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21ec69e8f341c7" /><Relationship Type="http://schemas.openxmlformats.org/officeDocument/2006/relationships/notesMaster" Target="/ppt/notesMasters/notesMaster1.xml" Id="Rb8a7a12811e64a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3c9a0c553d4bf3" /><Relationship Type="http://schemas.openxmlformats.org/officeDocument/2006/relationships/notesMaster" Target="/ppt/notesMasters/notesMaster1.xml" Id="Rcee1eda554784a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83dd5530274615" /><Relationship Type="http://schemas.openxmlformats.org/officeDocument/2006/relationships/notesMaster" Target="/ppt/notesMasters/notesMaster1.xml" Id="R3a1b851be2bd46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d3da6249114db0" /><Relationship Type="http://schemas.openxmlformats.org/officeDocument/2006/relationships/notesMaster" Target="/ppt/notesMasters/notesMaster1.xml" Id="Rae675e2a87184c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be9981ff9e488b" /><Relationship Type="http://schemas.openxmlformats.org/officeDocument/2006/relationships/notesMaster" Target="/ppt/notesMasters/notesMaster1.xml" Id="R405d10b2325e4b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13c5a4e7b440f4" /><Relationship Type="http://schemas.openxmlformats.org/officeDocument/2006/relationships/notesMaster" Target="/ppt/notesMasters/notesMaster1.xml" Id="R301dcbeecf8440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4e03b465e1401d" /><Relationship Type="http://schemas.openxmlformats.org/officeDocument/2006/relationships/notesMaster" Target="/ppt/notesMasters/notesMaster1.xml" Id="Rfb97f9f931f245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46213b21394913" /><Relationship Type="http://schemas.openxmlformats.org/officeDocument/2006/relationships/notesMaster" Target="/ppt/notesMasters/notesMaster1.xml" Id="R0ab894d95ff049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e9670634e544b7" /><Relationship Type="http://schemas.openxmlformats.org/officeDocument/2006/relationships/notesMaster" Target="/ppt/notesMasters/notesMaster1.xml" Id="R670eb1bdcc824a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4319e064ff455c" /><Relationship Type="http://schemas.openxmlformats.org/officeDocument/2006/relationships/notesMaster" Target="/ppt/notesMasters/notesMaster1.xml" Id="R4b9d9ed30cd14b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d53846e9842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ed8d2557743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6a1aacb4947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65576cdbd4e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f75bb64c84e3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515c74fb74ddb" /></Relationships>
</file>

<file path=ppt/slideLayouts/slideLayout1.xml><?xml version="1.0" encoding="utf-8"?>
<p:sldLayout xmlns:p="http://schemas.openxmlformats.org/presentationml/2006/main" showMasterSp="1" showMasterPhAnim="1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AD67843B-E562-4949-896A-FD57732B3E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12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7DEA3AF2-AB6E-4554-8E69-35CB1690F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spcBef>
                <a:spcPts val="0"/>
              </a:spcBef>
              <a:buSzTx/>
              <a:buNone/>
              <a:defRPr/>
            </a:lvl1pPr>
            <a:lvl2pPr marL="0" indent="0">
              <a:spcBef>
                <a:spcPts val="0"/>
              </a:spcBef>
              <a:buSzTx/>
              <a:buNone/>
              <a:defRPr/>
            </a:lvl2pPr>
            <a:lvl3pPr marL="0" indent="0">
              <a:spcBef>
                <a:spcPts val="0"/>
              </a:spcBef>
              <a:buSzTx/>
              <a:buNone/>
              <a:defRPr/>
            </a:lvl3pPr>
            <a:lvl4pPr marL="0" indent="0">
              <a:spcBef>
                <a:spcPts val="0"/>
              </a:spcBef>
              <a:buSzTx/>
              <a:buNone/>
              <a:defRPr/>
            </a:lvl4pPr>
            <a:lvl5pPr marL="0" indent="0">
              <a:spcBef>
                <a:spcPts val="0"/>
              </a:spcBef>
              <a:buSzTx/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13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CD76CDA1-485D-47A2-8F62-5FB9F60462E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1" showMasterPhAnim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6A0A4053-121D-4EF7-B72A-A598D2F3E3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21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59D9842E-DEC1-4AFD-A2B8-41DEAFC470A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1" showMasterPhAnim="1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CA099289-509F-4F7B-BE32-9AA9EAE814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29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000430D-5359-4D7C-93ED-5B7A6EBC5C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3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DB248BC-C1AA-4E1B-A02E-70C4B0B83B7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1" showMasterPhAnim="1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370E8C44-F261-4A0F-909D-2897A9141F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3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047623B1-F9B5-44D7-80BB-FFB903B908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39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E5CC2B2-3BCD-438E-BB94-7B3D949DAB07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89F48A5E-22F0-4E13-9A81-B0C586FE4B4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1" showMasterPhAnim="1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C96C138E-21AF-474F-8F9B-4F73A1B3A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48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83DC08EB-600C-40A5-96F4-BAFAFD4D34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49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ECCFC985-6123-47AA-BE35-0BC3F24CA3F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1" showMasterPhAnim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7BFB5C2-3A16-4101-96CA-38564802D0B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270f9a96d6476e" /><Relationship Type="http://schemas.openxmlformats.org/officeDocument/2006/relationships/slideLayout" Target="/ppt/slideLayouts/slideLayout1.xml" Id="R63711b6607c046b7" /><Relationship Type="http://schemas.openxmlformats.org/officeDocument/2006/relationships/slideLayout" Target="/ppt/slideLayouts/slideLayout2.xml" Id="R7bdac39e237a4311" /><Relationship Type="http://schemas.openxmlformats.org/officeDocument/2006/relationships/slideLayout" Target="/ppt/slideLayouts/slideLayout3.xml" Id="R4c63ebe95fca46db" /><Relationship Type="http://schemas.openxmlformats.org/officeDocument/2006/relationships/slideLayout" Target="/ppt/slideLayouts/slideLayout4.xml" Id="Rc2b9438c2676491e" /><Relationship Type="http://schemas.openxmlformats.org/officeDocument/2006/relationships/slideLayout" Target="/ppt/slideLayouts/slideLayout5.xml" Id="R36fa1b17933f4421" /><Relationship Type="http://schemas.openxmlformats.org/officeDocument/2006/relationships/slideLayout" Target="/ppt/slideLayouts/slideLayout6.xml" Id="R17c566e25faa4d0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텍스트">
            <a:extLst xmlns:a="http://schemas.openxmlformats.org/drawingml/2006/main">
              <a:ext uri="{FF2B5EF4-FFF2-40B4-BE49-F238E27FC236}">
                <a16:creationId xmlns:a16="http://schemas.microsoft.com/office/drawing/2014/main" id="{1172680B-B882-482F-84A6-821F970C73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제목 텍스트</a:t>
            </a:r>
          </a:p>
        </p:txBody>
      </p:sp>
      <p:sp>
        <p:nvSpPr>
          <p:cNvPr id="3" name="본문 첫 번째 줄…">
            <a:extLst xmlns:a="http://schemas.openxmlformats.org/drawingml/2006/main">
              <a:ext uri="{FF2B5EF4-FFF2-40B4-BE49-F238E27FC236}">
                <a16:creationId xmlns:a16="http://schemas.microsoft.com/office/drawing/2014/main" id="{D2975F19-77D3-47E9-834A-0589BBDC8B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0" tIns="0" rIns="0" bIns="0">
            <a:normAutofit fontScale="100000" lnSpcReduction="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본문 첫 번째 줄</a:t>
            </a:r>
          </a:p>
          <a:p xmlns:a="http://schemas.openxmlformats.org/drawingml/2006/main">
            <a:pPr lvl="1">
              <a:buNone/>
            </a:pPr>
            <a:r>
              <a:t>본문 두 번째 줄</a:t>
            </a:r>
          </a:p>
          <a:p xmlns:a="http://schemas.openxmlformats.org/drawingml/2006/main">
            <a:pPr lvl="2">
              <a:buNone/>
            </a:pPr>
            <a:r>
              <a:t>본문 세 번째 줄</a:t>
            </a:r>
          </a:p>
          <a:p xmlns:a="http://schemas.openxmlformats.org/drawingml/2006/main">
            <a:pPr lvl="3">
              <a:buNone/>
            </a:pPr>
            <a:r>
              <a:t>본문 네 번째 줄</a:t>
            </a:r>
          </a:p>
          <a:p xmlns:a="http://schemas.openxmlformats.org/drawingml/2006/main">
            <a:pPr lvl="4">
              <a:buNone/>
            </a:pPr>
            <a:r>
              <a:t>본문 다섯 번째 줄</a:t>
            </a:r>
          </a:p>
        </p:txBody>
      </p:sp>
      <p:sp>
        <p:nvSpPr>
          <p:cNvPr id="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8372A27F-12B1-4FB3-BAC9-2D5E236F928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711b6607c046b7"/>
    <p:sldLayoutId xmlns:r="http://schemas.openxmlformats.org/officeDocument/2006/relationships" id="2147483650" r:id="R7bdac39e237a4311"/>
    <p:sldLayoutId xmlns:r="http://schemas.openxmlformats.org/officeDocument/2006/relationships" id="2147483651" r:id="R4c63ebe95fca46db"/>
    <p:sldLayoutId xmlns:r="http://schemas.openxmlformats.org/officeDocument/2006/relationships" id="2147483652" r:id="Rc2b9438c2676491e"/>
    <p:sldLayoutId xmlns:r="http://schemas.openxmlformats.org/officeDocument/2006/relationships" id="2147483653" r:id="R36fa1b17933f4421"/>
    <p:sldLayoutId xmlns:r="http://schemas.openxmlformats.org/officeDocument/2006/relationships" id="2147483654" r:id="R17c566e25faa4d0b"/>
  </p:sldLayoutIdLst>
  <p:txStyles>
    <p:titleStyle>
      <a:lvl1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1pPr>
      <a:lvl2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2pPr>
      <a:lvl3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3pPr>
      <a:lvl4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4pPr>
      <a:lvl5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5pPr>
      <a:lvl6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6pPr>
      <a:lvl7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7pPr>
      <a:lvl8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8pPr>
      <a:lvl9pPr xmlns:a="http://schemas.openxmlformats.org/drawingml/2006/main" marL="0" marR="0" indent="0" algn="l" defTabSz="91440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9pPr>
    </p:titleStyle>
    <p:bodyStyle>
      <a:lvl1pPr xmlns:a="http://schemas.openxmlformats.org/drawingml/2006/main" marL="228600" marR="0" indent="-228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1pPr>
      <a:lvl2pPr xmlns:a="http://schemas.openxmlformats.org/drawingml/2006/main" marL="571500" marR="0" indent="-2667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2pPr>
      <a:lvl3pPr xmlns:a="http://schemas.openxmlformats.org/drawingml/2006/main" marL="929639" marR="0" indent="-320039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3pPr>
      <a:lvl4pPr xmlns:a="http://schemas.openxmlformats.org/drawingml/2006/main" marL="12700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4pPr>
      <a:lvl5pPr xmlns:a="http://schemas.openxmlformats.org/drawingml/2006/main" marL="15748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5pPr>
      <a:lvl6pPr xmlns:a="http://schemas.openxmlformats.org/drawingml/2006/main" marL="18796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6pPr>
      <a:lvl7pPr xmlns:a="http://schemas.openxmlformats.org/drawingml/2006/main" marL="21844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7pPr>
      <a:lvl8pPr xmlns:a="http://schemas.openxmlformats.org/drawingml/2006/main" marL="24892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8pPr>
      <a:lvl9pPr xmlns:a="http://schemas.openxmlformats.org/drawingml/2006/main" marL="2794000" marR="0" indent="-355600" algn="l" defTabSz="91440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 baseline="0">
          <a:solidFill>
            <a:srgbClr val="000000"/>
          </a:solidFill>
          <a:latin typeface="Pretendard"/>
          <a:ea typeface="Pretendard"/>
          <a:cs typeface="Pretendard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f55dd752a4aff" /><Relationship Type="http://schemas.openxmlformats.org/officeDocument/2006/relationships/image" Target="/ppt/media/image.png" Id="Reb6774d314734e75" /><Relationship Type="http://schemas.openxmlformats.org/officeDocument/2006/relationships/notesSlide" Target="/ppt/notesSlides/notesSlide1.xml" Id="R25af9db69db44d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8ed7615ed4f0b" /><Relationship Type="http://schemas.openxmlformats.org/officeDocument/2006/relationships/notesSlide" Target="/ppt/notesSlides/notesSlide2.xml" Id="Rbfd591fe531b4f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4a15e23ff74f3f" /><Relationship Type="http://schemas.openxmlformats.org/officeDocument/2006/relationships/notesSlide" Target="/ppt/notesSlides/notesSlide3.xml" Id="R4ef9f7054fba41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a523419f54a9c" /><Relationship Type="http://schemas.openxmlformats.org/officeDocument/2006/relationships/image" Target="/ppt/media/image.jpeg" Id="Rba37cd68bdd64fb9" /><Relationship Type="http://schemas.openxmlformats.org/officeDocument/2006/relationships/notesSlide" Target="/ppt/notesSlides/notesSlide4.xml" Id="Rb1148f92a6284c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41688324254e2c" /><Relationship Type="http://schemas.openxmlformats.org/officeDocument/2006/relationships/notesSlide" Target="/ppt/notesSlides/notesSlide5.xml" Id="Rdb8c38b70d3542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54c82ac604571" /><Relationship Type="http://schemas.openxmlformats.org/officeDocument/2006/relationships/image" Target="/ppt/media/image2.png" Id="Race2a089d2f64b0f" /><Relationship Type="http://schemas.openxmlformats.org/officeDocument/2006/relationships/notesSlide" Target="/ppt/notesSlides/notesSlide6.xml" Id="R3561dd898564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681264cde94913" /><Relationship Type="http://schemas.openxmlformats.org/officeDocument/2006/relationships/image" Target="/ppt/media/image2.jpeg" Id="R077ed2793a424282" /><Relationship Type="http://schemas.openxmlformats.org/officeDocument/2006/relationships/notesSlide" Target="/ppt/notesSlides/notesSlide7.xml" Id="Rbb591e4573f245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2e501ed0bb4a8b" /><Relationship Type="http://schemas.openxmlformats.org/officeDocument/2006/relationships/image" Target="/ppt/media/image3.png" Id="R62076ec5c1c14e12" /><Relationship Type="http://schemas.openxmlformats.org/officeDocument/2006/relationships/notesSlide" Target="/ppt/notesSlides/notesSlide8.xml" Id="R30454e94098d41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7395da53f4828" /><Relationship Type="http://schemas.openxmlformats.org/officeDocument/2006/relationships/notesSlide" Target="/ppt/notesSlides/notesSlide9.xml" Id="R8035e470a31749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8372c460e4460" /><Relationship Type="http://schemas.openxmlformats.org/officeDocument/2006/relationships/notesSlide" Target="/ppt/notesSlides/notesSlide10.xml" Id="R979a961b21784d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eea82a6194c48" /><Relationship Type="http://schemas.openxmlformats.org/officeDocument/2006/relationships/notesSlide" Target="/ppt/notesSlides/notesSlide11.xml" Id="R002e20ff85f949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61469f11f4d2e" /><Relationship Type="http://schemas.openxmlformats.org/officeDocument/2006/relationships/notesSlide" Target="/ppt/notesSlides/notesSlide12.xml" Id="R43adbdcce43941a7" /></Relationships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2548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image.png">
            <a:extLst xmlns:a="http://schemas.openxmlformats.org/drawingml/2006/main">
              <a:ext uri="{FF2B5EF4-FFF2-40B4-BE49-F238E27FC236}">
                <a16:creationId xmlns:a16="http://schemas.microsoft.com/office/drawing/2014/main" id="{29389136-F39F-40DE-93B4-BB2D5592D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774d31473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609600"/>
            <a:ext cx="838200" cy="8382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6" name="여행 준비 서비스">
            <a:extLst xmlns:a="http://schemas.openxmlformats.org/drawingml/2006/main">
              <a:ext uri="{FF2B5EF4-FFF2-40B4-BE49-F238E27FC236}">
                <a16:creationId xmlns:a16="http://schemas.microsoft.com/office/drawing/2014/main" id="{97854122-FDC1-4219-B265-FE57884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여행 준비 서비스</a:t>
            </a:r>
          </a:p>
        </p:txBody>
      </p:sp>
      <p:sp>
        <p:nvSpPr>
          <p:cNvPr id="67" name="고잉">
            <a:extLst xmlns:a="http://schemas.openxmlformats.org/drawingml/2006/main">
              <a:ext uri="{FF2B5EF4-FFF2-40B4-BE49-F238E27FC236}">
                <a16:creationId xmlns:a16="http://schemas.microsoft.com/office/drawing/2014/main" id="{EA158E71-74AE-4158-BC78-61E8099E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7620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고잉</a:t>
            </a:r>
          </a:p>
        </p:txBody>
      </p:sp>
      <p:sp>
        <p:nvSpPr>
          <p:cNvPr id="68" name="예약 메일부터 하루 일정까지">
            <a:extLst xmlns:a="http://schemas.openxmlformats.org/drawingml/2006/main">
              <a:ext uri="{FF2B5EF4-FFF2-40B4-BE49-F238E27FC236}">
                <a16:creationId xmlns:a16="http://schemas.microsoft.com/office/drawing/2014/main" id="{0F485C22-27B7-44BE-9DA7-DEE7B2DF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여행에서 가볼 곳을 고르고</a:t>
            </a:r>
          </a:p>
          <a:p xmlns:a="http://schemas.openxmlformats.org/drawingml/2006/main">
            <a:pPr algn="l">
              <a:buNone/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예약과 일정을 한곳에</a:t>
            </a:r>
          </a:p>
        </p:txBody>
      </p:sp>
      <p:sp>
        <p:nvSpPr>
          <p:cNvPr id="69" name="흩어진 예약을 모으고, 가고 싶은 곳을 일정으로 연결합니다.">
            <a:extLst xmlns:a="http://schemas.openxmlformats.org/drawingml/2006/main">
              <a:ext uri="{FF2B5EF4-FFF2-40B4-BE49-F238E27FC236}">
                <a16:creationId xmlns:a16="http://schemas.microsoft.com/office/drawing/2014/main" id="{E83C5B15-B435-42C5-BB70-4343EE4A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CE5E7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DCE5E7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DCE5E7"/>
                </a:solidFill>
                <a:latin typeface="Pretendard"/>
                <a:ea typeface="Pretendard"/>
                <a:cs typeface="Pretendard"/>
              </a:rPr>
              <a:t>여행과 맛집을 좋아하는 제가 직접 쓰려고 만들었습니다</a:t>
            </a:r>
          </a:p>
        </p:txBody>
      </p:sp>
      <p:sp>
        <p:nvSpPr>
          <p:cNvPr id="70" name="프로젝트 발표  ·  2026.10">
            <a:extLst xmlns:a="http://schemas.openxmlformats.org/drawingml/2006/main">
              <a:ext uri="{FF2B5EF4-FFF2-40B4-BE49-F238E27FC236}">
                <a16:creationId xmlns:a16="http://schemas.microsoft.com/office/drawing/2014/main" id="{34D0E286-7FE3-45FA-8DC2-0FDC6594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2EBE9"/>
                </a:solidFill>
                <a:latin typeface="Pretendard"/>
                <a:ea typeface="Pretendard"/>
                <a:cs typeface="Pretendard"/>
              </a:rPr>
              <a:t>프로젝트 발표  ·  2026.10</a:t>
            </a:r>
          </a:p>
        </p:txBody>
      </p:sp>
    </p:spTree>
    <p:extLst>
      <p:ext uri="{BB962C8B-B14F-4D97-AF65-F5344CB8AC3E}">
        <p14:creationId xmlns:p14="http://schemas.microsoft.com/office/powerpoint/2010/main" val="1740770962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고잉  /  문제">
            <a:extLst xmlns:a="http://schemas.openxmlformats.org/drawingml/2006/main">
              <a:ext uri="{FF2B5EF4-FFF2-40B4-BE49-F238E27FC236}">
                <a16:creationId xmlns:a16="http://schemas.microsoft.com/office/drawing/2014/main" id="{69EFCD91-44D5-43F5-8084-53AB806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만든 이유</a:t>
            </a:r>
          </a:p>
        </p:txBody>
      </p:sp>
      <p:sp>
        <p:nvSpPr>
          <p:cNvPr id="75" name="여행할 때마다 다시 찾는 정보">
            <a:extLst xmlns:a="http://schemas.openxmlformats.org/drawingml/2006/main">
              <a:ext uri="{FF2B5EF4-FFF2-40B4-BE49-F238E27FC236}">
                <a16:creationId xmlns:a16="http://schemas.microsoft.com/office/drawing/2014/main" id="{158F85F1-F4D5-41AA-B162-30FB92E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여행할 때마다 반복됐던 준비</a:t>
            </a:r>
          </a:p>
        </p:txBody>
      </p:sp>
      <p:sp>
        <p:nvSpPr>
          <p:cNvPr id="76" name="장소를 고른 뒤에도 예약과 동선을 다시 확인해야 했습니다">
            <a:extLst xmlns:a="http://schemas.openxmlformats.org/drawingml/2006/main">
              <a:ext uri="{FF2B5EF4-FFF2-40B4-BE49-F238E27FC236}">
                <a16:creationId xmlns:a16="http://schemas.microsoft.com/office/drawing/2014/main" id="{983A3FE3-2B8A-4C1A-80A1-56699F0E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식당을 찾은 뒤에도 예약과 동선을 다시 정리해야 했습니다</a:t>
            </a:r>
          </a:p>
        </p:txBody>
      </p:sp>
      <p:sp>
        <p:nvSpPr>
          <p:cNvPr id="77" name="02">
            <a:extLst xmlns:a="http://schemas.openxmlformats.org/drawingml/2006/main">
              <a:ext uri="{FF2B5EF4-FFF2-40B4-BE49-F238E27FC236}">
                <a16:creationId xmlns:a16="http://schemas.microsoft.com/office/drawing/2014/main" id="{7A880379-EDFC-4D3F-ACB1-0D79144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78" name="“현지어 리뷰가 많은 식당도 가보고 싶다”">
            <a:extLst xmlns:a="http://schemas.openxmlformats.org/drawingml/2006/main">
              <a:ext uri="{FF2B5EF4-FFF2-40B4-BE49-F238E27FC236}">
                <a16:creationId xmlns:a16="http://schemas.microsoft.com/office/drawing/2014/main" id="{68612817-C324-4E7A-9B9C-602CDA7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“가보고 싶은 식당은 많은데, 어디로 갈까?”</a:t>
            </a:r>
          </a:p>
        </p:txBody>
      </p:sp>
      <p:sp>
        <p:nvSpPr>
          <p:cNvPr id="79" name="“이 식당을 들렀다가 다음 예약에 갈 수 있을까?”">
            <a:extLst xmlns:a="http://schemas.openxmlformats.org/drawingml/2006/main">
              <a:ext uri="{FF2B5EF4-FFF2-40B4-BE49-F238E27FC236}">
                <a16:creationId xmlns:a16="http://schemas.microsoft.com/office/drawing/2014/main" id="{0DDB1FA1-5A49-4177-BFF8-3862EB1B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“예약한 시간은 어디에 적어 뒀더라?”</a:t>
            </a:r>
          </a:p>
        </p:txBody>
      </p:sp>
      <p:sp>
        <p:nvSpPr>
          <p:cNvPr id="80" name="메일함">
            <a:extLst xmlns:a="http://schemas.openxmlformats.org/drawingml/2006/main">
              <a:ext uri="{FF2B5EF4-FFF2-40B4-BE49-F238E27FC236}">
                <a16:creationId xmlns:a16="http://schemas.microsoft.com/office/drawing/2014/main" id="{5F28332E-1545-4F95-9235-BA734CE8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지도와 리뷰</a:t>
            </a:r>
          </a:p>
        </p:txBody>
      </p:sp>
      <p:sp>
        <p:nvSpPr>
          <p:cNvPr id="81" name="예약 날짜와 시간">
            <a:extLst xmlns:a="http://schemas.openxmlformats.org/drawingml/2006/main">
              <a:ext uri="{FF2B5EF4-FFF2-40B4-BE49-F238E27FC236}">
                <a16:creationId xmlns:a16="http://schemas.microsoft.com/office/drawing/2014/main" id="{74A801B6-E675-431D-9488-20BF4451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장소 후보와 거리 비교</a:t>
            </a:r>
          </a:p>
        </p:txBody>
      </p:sp>
      <p:sp>
        <p:nvSpPr>
          <p:cNvPr id="82" name="지도와 리뷰">
            <a:extLst xmlns:a="http://schemas.openxmlformats.org/drawingml/2006/main">
              <a:ext uri="{FF2B5EF4-FFF2-40B4-BE49-F238E27FC236}">
                <a16:creationId xmlns:a16="http://schemas.microsoft.com/office/drawing/2014/main" id="{3A5A0D36-01B5-422D-BA2F-CEE72E8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메일함</a:t>
            </a:r>
          </a:p>
        </p:txBody>
      </p:sp>
      <p:sp>
        <p:nvSpPr>
          <p:cNvPr id="83" name="장소를 고르고 거리 비교">
            <a:extLst xmlns:a="http://schemas.openxmlformats.org/drawingml/2006/main">
              <a:ext uri="{FF2B5EF4-FFF2-40B4-BE49-F238E27FC236}">
                <a16:creationId xmlns:a16="http://schemas.microsoft.com/office/drawing/2014/main" id="{1EAA2EE7-2EC9-4A30-A68D-49BE9DA0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예약 날짜와 이용 조건</a:t>
            </a:r>
          </a:p>
        </p:txBody>
      </p:sp>
      <p:sp>
        <p:nvSpPr>
          <p:cNvPr id="84" name="여행 메모">
            <a:extLst xmlns:a="http://schemas.openxmlformats.org/drawingml/2006/main">
              <a:ext uri="{FF2B5EF4-FFF2-40B4-BE49-F238E27FC236}">
                <a16:creationId xmlns:a16="http://schemas.microsoft.com/office/drawing/2014/main" id="{C8C86696-9FB9-46F1-AA9C-2A14BC62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339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메모</a:t>
            </a:r>
          </a:p>
        </p:txBody>
      </p:sp>
      <p:sp>
        <p:nvSpPr>
          <p:cNvPr id="85" name="예약과 동선을 다시 맞추기">
            <a:extLst xmlns:a="http://schemas.openxmlformats.org/drawingml/2006/main">
              <a:ext uri="{FF2B5EF4-FFF2-40B4-BE49-F238E27FC236}">
                <a16:creationId xmlns:a16="http://schemas.microsoft.com/office/drawing/2014/main" id="{0351A8FA-234E-4C44-ADB2-34317572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149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다시 맞추는 방문 순서</a:t>
            </a:r>
          </a:p>
        </p:txBody>
      </p:sp>
    </p:spTree>
    <p:extLst>
      <p:ext uri="{BB962C8B-B14F-4D97-AF65-F5344CB8AC3E}">
        <p14:creationId xmlns:p14="http://schemas.microsoft.com/office/powerpoint/2010/main" val="2030801100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고잉  /  다음 개발">
            <a:extLst xmlns:a="http://schemas.openxmlformats.org/drawingml/2006/main">
              <a:ext uri="{FF2B5EF4-FFF2-40B4-BE49-F238E27FC236}">
                <a16:creationId xmlns:a16="http://schemas.microsoft.com/office/drawing/2014/main" id="{89D6AA73-8A05-429A-8743-2D26880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기획 방향</a:t>
            </a:r>
          </a:p>
        </p:txBody>
      </p:sp>
      <p:sp>
        <p:nvSpPr>
          <p:cNvPr id="176" name="직접 써 보며 이어갈 개발">
            <a:extLst xmlns:a="http://schemas.openxmlformats.org/drawingml/2006/main">
              <a:ext uri="{FF2B5EF4-FFF2-40B4-BE49-F238E27FC236}">
                <a16:creationId xmlns:a16="http://schemas.microsoft.com/office/drawing/2014/main" id="{C887D872-5FB0-4835-9619-6BD1913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제가 만들고 싶었던 서비스</a:t>
            </a:r>
          </a:p>
        </p:txBody>
      </p:sp>
      <p:sp>
        <p:nvSpPr>
          <p:cNvPr id="177" name="연결한 사용 흐름을 실제 여행에서 더 확인하려고 합니다">
            <a:extLst xmlns:a="http://schemas.openxmlformats.org/drawingml/2006/main">
              <a:ext uri="{FF2B5EF4-FFF2-40B4-BE49-F238E27FC236}">
                <a16:creationId xmlns:a16="http://schemas.microsoft.com/office/drawing/2014/main" id="{51F6900F-32D9-4980-8533-1824A31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한 여행 안에서 장소 선택과 예약, 일정을 이어서 사용합니다</a:t>
            </a:r>
          </a:p>
        </p:txBody>
      </p:sp>
      <p:sp>
        <p:nvSpPr>
          <p:cNvPr id="178" name="10">
            <a:extLst xmlns:a="http://schemas.openxmlformats.org/drawingml/2006/main">
              <a:ext uri="{FF2B5EF4-FFF2-40B4-BE49-F238E27FC236}">
                <a16:creationId xmlns:a16="http://schemas.microsoft.com/office/drawing/2014/main" id="{E5EE845E-A590-4552-A80B-935B80E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9" name="지금 연결한 흐름">
            <a:extLst xmlns:a="http://schemas.openxmlformats.org/drawingml/2006/main">
              <a:ext uri="{FF2B5EF4-FFF2-40B4-BE49-F238E27FC236}">
                <a16:creationId xmlns:a16="http://schemas.microsoft.com/office/drawing/2014/main" id="{95284986-8F3C-4BC3-8E26-816FFEC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여행 정보는 한 번</a:t>
            </a:r>
          </a:p>
        </p:txBody>
      </p:sp>
      <p:sp>
        <p:nvSpPr>
          <p:cNvPr id="180" name="예약 정리와 근거 질문 장소 선택과 일정 편집">
            <a:extLst xmlns:a="http://schemas.openxmlformats.org/drawingml/2006/main">
              <a:ext uri="{FF2B5EF4-FFF2-40B4-BE49-F238E27FC236}">
                <a16:creationId xmlns:a16="http://schemas.microsoft.com/office/drawing/2014/main" id="{5815AE1D-6BEC-4506-AE1A-CC8D2E0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도시와 날짜로 시작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숙소와 취향은 나중에 추가</a:t>
            </a:r>
          </a:p>
        </p:txBody>
      </p:sp>
      <p:sp>
        <p:nvSpPr>
          <p:cNvPr id="181" name="다음에 확인할 것">
            <a:extLst xmlns:a="http://schemas.openxmlformats.org/drawingml/2006/main">
              <a:ext uri="{FF2B5EF4-FFF2-40B4-BE49-F238E27FC236}">
                <a16:creationId xmlns:a16="http://schemas.microsoft.com/office/drawing/2014/main" id="{E847F38C-D514-4016-9591-5A5488A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고른 장소를 일정까지</a:t>
            </a:r>
          </a:p>
        </p:txBody>
      </p:sp>
      <p:sp>
        <p:nvSpPr>
          <p:cNvPr id="182" name="실제 리뷰의 이용 범위와 언어 품질 다른 사람의 선택과 방문 경험">
            <a:extLst xmlns:a="http://schemas.openxmlformats.org/drawingml/2006/main">
              <a:ext uri="{FF2B5EF4-FFF2-40B4-BE49-F238E27FC236}">
                <a16:creationId xmlns:a16="http://schemas.microsoft.com/office/drawing/2014/main" id="{A1C0331F-98E3-4A93-BD7F-013BF73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고른 장소를 저장하고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예약과 일정에서 이어 보기</a:t>
            </a:r>
          </a:p>
        </p:txBody>
      </p:sp>
      <p:sp>
        <p:nvSpPr>
          <p:cNvPr id="183" name="도시별 자료와 이동 경로 보강">
            <a:extLst xmlns:a="http://schemas.openxmlformats.org/drawingml/2006/main">
              <a:ext uri="{FF2B5EF4-FFF2-40B4-BE49-F238E27FC236}">
                <a16:creationId xmlns:a16="http://schemas.microsoft.com/office/drawing/2014/main" id="{720E8A2F-4FAD-4FDC-B54C-DE0A78C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여행을 준비하는 사람을 위해</a:t>
            </a:r>
          </a:p>
        </p:txBody>
      </p:sp>
      <p:sp>
        <p:nvSpPr>
          <p:cNvPr id="184" name="100개 도시 입력 지원 / 도시별 추천 자료는 확보 수준이 다릅니다">
            <a:extLst xmlns:a="http://schemas.openxmlformats.org/drawingml/2006/main">
              <a:ext uri="{FF2B5EF4-FFF2-40B4-BE49-F238E27FC236}">
                <a16:creationId xmlns:a16="http://schemas.microsoft.com/office/drawing/2014/main" id="{D2546EE9-BF56-49D4-9D14-2B11E4B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식당을 찾은 다음에도 처음부터 다시 정리하지 않도록</a:t>
            </a:r>
          </a:p>
        </p:txBody>
      </p:sp>
      <p:sp>
        <p:nvSpPr>
          <p:cNvPr id="185" name="마지막으로, 실제 사용 화면을 보여드리겠습니다.">
            <a:extLst xmlns:a="http://schemas.openxmlformats.org/drawingml/2006/main">
              <a:ext uri="{FF2B5EF4-FFF2-40B4-BE49-F238E27FC236}">
                <a16:creationId xmlns:a16="http://schemas.microsoft.com/office/drawing/2014/main" id="{BBE57039-794A-4713-8485-F54AEB0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소수 지인용 비공개 베타</a:t>
            </a:r>
          </a:p>
        </p:txBody>
      </p:sp>
    </p:spTree>
    <p:extLst>
      <p:ext uri="{BB962C8B-B14F-4D97-AF65-F5344CB8AC3E}">
        <p14:creationId xmlns:p14="http://schemas.microsoft.com/office/powerpoint/2010/main" val="300745530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고잉  /  사용 흐름">
            <a:extLst xmlns:a="http://schemas.openxmlformats.org/drawingml/2006/main">
              <a:ext uri="{FF2B5EF4-FFF2-40B4-BE49-F238E27FC236}">
                <a16:creationId xmlns:a16="http://schemas.microsoft.com/office/drawing/2014/main" id="{3411D6DE-A84F-4051-A617-52EC08D6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핵심 기능</a:t>
            </a:r>
          </a:p>
        </p:txBody>
      </p:sp>
      <p:sp>
        <p:nvSpPr>
          <p:cNvPr id="90" name="여행 하나를 중심으로">
            <a:extLst xmlns:a="http://schemas.openxmlformats.org/drawingml/2006/main">
              <a:ext uri="{FF2B5EF4-FFF2-40B4-BE49-F238E27FC236}">
                <a16:creationId xmlns:a16="http://schemas.microsoft.com/office/drawing/2014/main" id="{E3FBAEAB-0A6E-4736-928E-A1ECC411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내 여행에 맞는 장소 찾기</a:t>
            </a:r>
          </a:p>
        </p:txBody>
      </p:sp>
      <p:sp>
        <p:nvSpPr>
          <p:cNvPr id="91" name="도시와 날짜를 한 번 입력하고 계속 이어서 사용합니다">
            <a:extLst xmlns:a="http://schemas.openxmlformats.org/drawingml/2006/main">
              <a:ext uri="{FF2B5EF4-FFF2-40B4-BE49-F238E27FC236}">
                <a16:creationId xmlns:a16="http://schemas.microsoft.com/office/drawing/2014/main" id="{6010E9E6-6CCB-4B40-BE00-6928E5E5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메인에서 최근 장소를 확인하고 마음에 드는 곳을 저장합니다</a:t>
            </a:r>
          </a:p>
        </p:txBody>
      </p:sp>
      <p:sp>
        <p:nvSpPr>
          <p:cNvPr id="92" name="03">
            <a:extLst xmlns:a="http://schemas.openxmlformats.org/drawingml/2006/main">
              <a:ext uri="{FF2B5EF4-FFF2-40B4-BE49-F238E27FC236}">
                <a16:creationId xmlns:a16="http://schemas.microsoft.com/office/drawing/2014/main" id="{A0F443CD-A931-4451-965D-95A07B55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93" name="도시와 날짜를 먼저">
            <a:extLst xmlns:a="http://schemas.openxmlformats.org/drawingml/2006/main">
              <a:ext uri="{FF2B5EF4-FFF2-40B4-BE49-F238E27FC236}">
                <a16:creationId xmlns:a16="http://schemas.microsoft.com/office/drawing/2014/main" id="{10DB1417-5C13-42D3-88A2-6B0D8129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가볼 곳부터 확인</a:t>
            </a:r>
          </a:p>
        </p:txBody>
      </p:sp>
      <p:sp>
        <p:nvSpPr>
          <p:cNvPr id="94" name="예약과 장소, 일정에서 같은 여행 정보를 재사용">
            <a:extLst xmlns:a="http://schemas.openxmlformats.org/drawingml/2006/main">
              <a:ext uri="{FF2B5EF4-FFF2-40B4-BE49-F238E27FC236}">
                <a16:creationId xmlns:a16="http://schemas.microsoft.com/office/drawing/2014/main" id="{1FDB0F81-E904-4D6A-A1FA-2435EC2D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31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도시와 날짜를 이어받고</a:t>
            </a:r>
            <a:b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마음에 드는 곳은 바로 저장</a:t>
            </a:r>
          </a:p>
        </p:txBody>
      </p:sp>
      <p:sp>
        <p:nvSpPr>
          <p:cNvPr id="95" name="숙소 없이도 시작 필요한 조건만 나중에 추가">
            <a:extLst xmlns:a="http://schemas.openxmlformats.org/drawingml/2006/main">
              <a:ext uri="{FF2B5EF4-FFF2-40B4-BE49-F238E27FC236}">
                <a16:creationId xmlns:a16="http://schemas.microsoft.com/office/drawing/2014/main" id="{8FBF7939-DAFF-4FAF-8140-56054EF9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331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숙소 좌표로 직선거리 비교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취향과 예산은 선택 입력</a:t>
            </a:r>
          </a:p>
        </p:txBody>
      </p:sp>
      <p:pic>
        <p:nvPicPr>
          <p:cNvPr id="96" name="image2.png">
            <a:extLst xmlns:a="http://schemas.openxmlformats.org/drawingml/2006/main">
              <a:ext uri="{FF2B5EF4-FFF2-40B4-BE49-F238E27FC236}">
                <a16:creationId xmlns:a16="http://schemas.microsoft.com/office/drawing/2014/main" id="{5511F854-CC30-4C75-92E0-A377C6704A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7cd68bdd64fb9"/>
          <a:srcRect xmlns:a="http://schemas.openxmlformats.org/drawingml/2006/main" l="6349" t="23148" r="6349" b="25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2190750"/>
            <a:ext cx="7191375" cy="41052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  <p:extLst>
      <p:ext uri="{BB962C8B-B14F-4D97-AF65-F5344CB8AC3E}">
        <p14:creationId xmlns:p14="http://schemas.microsoft.com/office/powerpoint/2010/main" val="64176442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고잉  /  추천의 기획">
            <a:extLst xmlns:a="http://schemas.openxmlformats.org/drawingml/2006/main">
              <a:ext uri="{FF2B5EF4-FFF2-40B4-BE49-F238E27FC236}">
                <a16:creationId xmlns:a16="http://schemas.microsoft.com/office/drawing/2014/main" id="{C5CD342F-E502-43F3-9788-BA7B3A04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추천의 차이</a:t>
            </a:r>
          </a:p>
        </p:txBody>
      </p:sp>
      <p:sp>
        <p:nvSpPr>
          <p:cNvPr id="135" name="현지 탐색과 유명한 곳">
            <a:extLst xmlns:a="http://schemas.openxmlformats.org/drawingml/2006/main">
              <a:ext uri="{FF2B5EF4-FFF2-40B4-BE49-F238E27FC236}">
                <a16:creationId xmlns:a16="http://schemas.microsoft.com/office/drawing/2014/main" id="{33C1B1B0-0C58-4CA0-8E79-777C440F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현지어 리뷰와 유명한 곳</a:t>
            </a:r>
          </a:p>
        </p:txBody>
      </p:sp>
      <p:sp>
        <p:nvSpPr>
          <p:cNvPr id="136" name="여행에서 원하는 경험에 맞춰 나눠 찾습니다">
            <a:extLst xmlns:a="http://schemas.openxmlformats.org/drawingml/2006/main">
              <a:ext uri="{FF2B5EF4-FFF2-40B4-BE49-F238E27FC236}">
                <a16:creationId xmlns:a16="http://schemas.microsoft.com/office/drawing/2014/main" id="{B1C3BE5C-97B0-4930-9BDA-86802FCE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리뷰 언어로 발견하는 식당과 잘 알려진 장소를 따로 탐색합니다</a:t>
            </a:r>
          </a:p>
        </p:txBody>
      </p:sp>
      <p:sp>
        <p:nvSpPr>
          <p:cNvPr id="137" name="07">
            <a:extLst xmlns:a="http://schemas.openxmlformats.org/drawingml/2006/main">
              <a:ext uri="{FF2B5EF4-FFF2-40B4-BE49-F238E27FC236}">
                <a16:creationId xmlns:a16="http://schemas.microsoft.com/office/drawing/2014/main" id="{B946A0CA-A063-47AD-A7FE-04A6620F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38" name="현지 탐색">
            <a:extLst xmlns:a="http://schemas.openxmlformats.org/drawingml/2006/main">
              <a:ext uri="{FF2B5EF4-FFF2-40B4-BE49-F238E27FC236}">
                <a16:creationId xmlns:a16="http://schemas.microsoft.com/office/drawing/2014/main" id="{7AA4D806-604F-470D-BA55-01B3CB5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현지어 리뷰로 찾기</a:t>
            </a:r>
          </a:p>
        </p:txBody>
      </p:sp>
      <p:sp>
        <p:nvSpPr>
          <p:cNvPr id="139" name="현지어 원문 리뷰가 많고 한국어가 적게 관측된 장소  미판별 리뷰와 관측 기간도 확인">
            <a:extLst xmlns:a="http://schemas.openxmlformats.org/drawingml/2006/main">
              <a:ext uri="{FF2B5EF4-FFF2-40B4-BE49-F238E27FC236}">
                <a16:creationId xmlns:a16="http://schemas.microsoft.com/office/drawing/2014/main" id="{6A53E1F3-2C33-4732-AF9B-83300D9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1625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현지어 위주 / 관측 리뷰 모두 현지어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최근 180일, 최대 200개 리뷰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</a:p>
          <a:p xmlns:a="http://schemas.openxmlformats.org/drawingml/2006/main">
            <a:pPr algn="l">
              <a:buNone/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평점과 전체 평가 수를 함께 고려</a:t>
            </a:r>
          </a:p>
        </p:txBody>
      </p:sp>
      <p:sp>
        <p:nvSpPr>
          <p:cNvPr id="140" name="유명한 곳">
            <a:extLst xmlns:a="http://schemas.openxmlformats.org/drawingml/2006/main">
              <a:ext uri="{FF2B5EF4-FFF2-40B4-BE49-F238E27FC236}">
                <a16:creationId xmlns:a16="http://schemas.microsoft.com/office/drawing/2014/main" id="{86280EB1-13C2-4E5B-931F-7885ADBE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66975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유명한 곳</a:t>
            </a:r>
          </a:p>
        </p:txBody>
      </p:sp>
      <p:sp>
        <p:nvSpPr>
          <p:cNvPr id="141" name="대표 명소와 알려진 식당 공식 소개와 플랫폼의 평가 규모  같은 날짜와 인원 조건으로 비교">
            <a:extLst xmlns:a="http://schemas.openxmlformats.org/drawingml/2006/main">
              <a:ext uri="{FF2B5EF4-FFF2-40B4-BE49-F238E27FC236}">
                <a16:creationId xmlns:a16="http://schemas.microsoft.com/office/drawing/2014/main" id="{AB4B45E6-A6AF-40B9-807F-E98F5663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497205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처음 가는 도시의 대표 명소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잘 알려진 식당과 방문 장소</a:t>
            </a: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b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7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대표성과 인지도를 별도로 반영</a:t>
            </a:r>
          </a:p>
        </p:txBody>
      </p:sp>
      <p:sp>
        <p:nvSpPr>
          <p:cNvPr id="142" name="리뷰 언어는 주민 비율과 다릅니다. 엄격 현지어 추천은 실제 검증 전 OFF.">
            <a:extLst xmlns:a="http://schemas.openxmlformats.org/drawingml/2006/main">
              <a:ext uri="{FF2B5EF4-FFF2-40B4-BE49-F238E27FC236}">
                <a16:creationId xmlns:a16="http://schemas.microsoft.com/office/drawing/2014/main" id="{E3D927EE-75D1-4C86-B40D-882A9A74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Apify 연결 완료 · 실제 수집과 언어 검증 후 공개 예정. 리뷰 언어는 거주지 비율이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0687946"/>
      </p:ext>
    </p:extLst>
  </p:cSld>
</p:sld>
</file>

<file path=ppt/slides/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고잉  /  메일 분석">
            <a:extLst xmlns:a="http://schemas.openxmlformats.org/drawingml/2006/main">
              <a:ext uri="{FF2B5EF4-FFF2-40B4-BE49-F238E27FC236}">
                <a16:creationId xmlns:a16="http://schemas.microsoft.com/office/drawing/2014/main" id="{2F4877EC-9060-4E06-BD0C-599C089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예약 관리</a:t>
            </a:r>
          </a:p>
        </p:txBody>
      </p:sp>
      <p:sp>
        <p:nvSpPr>
          <p:cNvPr id="101" name="메일을 예약으로 정리하기">
            <a:extLst xmlns:a="http://schemas.openxmlformats.org/drawingml/2006/main">
              <a:ext uri="{FF2B5EF4-FFF2-40B4-BE49-F238E27FC236}">
                <a16:creationId xmlns:a16="http://schemas.microsoft.com/office/drawing/2014/main" id="{87FDD1E0-2F9B-431B-B44E-D6ECEFA9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메일을 예약으로 정리하기</a:t>
            </a:r>
          </a:p>
        </p:txBody>
      </p:sp>
      <p:sp>
        <p:nvSpPr>
          <p:cNvPr id="102" name="읽어 낸 날짜와 시간을 사용자가 확인하고 수정합니다">
            <a:extLst xmlns:a="http://schemas.openxmlformats.org/drawingml/2006/main">
              <a:ext uri="{FF2B5EF4-FFF2-40B4-BE49-F238E27FC236}">
                <a16:creationId xmlns:a16="http://schemas.microsoft.com/office/drawing/2014/main" id="{82E953F5-E4C3-4833-81B6-0D090DD4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AI가 읽은 날짜와 시간을 확인하고 직접 고칠 수 있습니다</a:t>
            </a:r>
          </a:p>
        </p:txBody>
      </p:sp>
      <p:sp>
        <p:nvSpPr>
          <p:cNvPr id="103" name="04">
            <a:extLst xmlns:a="http://schemas.openxmlformats.org/drawingml/2006/main">
              <a:ext uri="{FF2B5EF4-FFF2-40B4-BE49-F238E27FC236}">
                <a16:creationId xmlns:a16="http://schemas.microsoft.com/office/drawing/2014/main" id="{FA8C99E5-8D52-473F-AD1E-5FA82154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04" name="AI가 읽고, 사용자가 확인">
            <a:extLst xmlns:a="http://schemas.openxmlformats.org/drawingml/2006/main">
              <a:ext uri="{FF2B5EF4-FFF2-40B4-BE49-F238E27FC236}">
                <a16:creationId xmlns:a16="http://schemas.microsoft.com/office/drawing/2014/main" id="{24E56905-8F33-4AF3-B4A4-A9408884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38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AI 분석 후 직접 확인</a:t>
            </a:r>
          </a:p>
        </p:txBody>
      </p:sp>
      <p:sp>
        <p:nvSpPr>
          <p:cNvPr id="105" name="체크인과 체크아웃을 한눈에">
            <a:extLst xmlns:a="http://schemas.openxmlformats.org/drawingml/2006/main">
              <a:ext uri="{FF2B5EF4-FFF2-40B4-BE49-F238E27FC236}">
                <a16:creationId xmlns:a16="http://schemas.microsoft.com/office/drawing/2014/main" id="{D0E6CBC5-EF41-40C8-BD84-7982EFE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552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시작일과 종료 시간을 한눈에</a:t>
            </a:r>
          </a:p>
        </p:txBody>
      </p:sp>
      <p:sp>
        <p:nvSpPr>
          <p:cNvPr id="106" name="왕복편과 복수 예약도 구분 직접 고친 값은 다시 분석해도 유지">
            <a:extLst xmlns:a="http://schemas.openxmlformats.org/drawingml/2006/main">
              <a:ext uri="{FF2B5EF4-FFF2-40B4-BE49-F238E27FC236}">
                <a16:creationId xmlns:a16="http://schemas.microsoft.com/office/drawing/2014/main" id="{9483A7F2-697C-4C6E-AFC8-688F8D5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61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여러 예약과 왕복 항공편을 구분</a:t>
            </a:r>
            <a:b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수정한 값은 재분석에도 유지</a:t>
            </a:r>
          </a:p>
        </p:txBody>
      </p:sp>
      <p:sp>
        <p:nvSpPr>
          <p:cNvPr id="107" name="AI 분석: gpt-5-mini 화면: 가상 메일의 기본 분석 예시">
            <a:extLst xmlns:a="http://schemas.openxmlformats.org/drawingml/2006/main">
              <a:ext uri="{FF2B5EF4-FFF2-40B4-BE49-F238E27FC236}">
                <a16:creationId xmlns:a16="http://schemas.microsoft.com/office/drawing/2014/main" id="{1CC756D3-E8F5-4B59-8100-9F84F885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552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연습 메일 4개로 직접 업로드 가능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화면은 가상 메일 예시</a:t>
            </a:r>
          </a:p>
        </p:txBody>
      </p:sp>
      <p:pic>
        <p:nvPicPr>
          <p:cNvPr id="108" name="image3.png">
            <a:extLst xmlns:a="http://schemas.openxmlformats.org/drawingml/2006/main">
              <a:ext uri="{FF2B5EF4-FFF2-40B4-BE49-F238E27FC236}">
                <a16:creationId xmlns:a16="http://schemas.microsoft.com/office/drawing/2014/main" id="{3ED7B1A1-3F16-4BDF-81C4-CE6CE5A573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2a089d2f64b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5677" y="2028825"/>
            <a:ext cx="4887071" cy="42576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</p:spTree>
    <p:extLst>
      <p:ext uri="{BB962C8B-B14F-4D97-AF65-F5344CB8AC3E}">
        <p14:creationId xmlns:p14="http://schemas.microsoft.com/office/powerpoint/2010/main" val="1925833487"/>
      </p:ext>
    </p:extLst>
  </p:cSld>
</p:sld>
</file>

<file path=ppt/slides/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고잉  /  근거 기반 답변">
            <a:extLst xmlns:a="http://schemas.openxmlformats.org/drawingml/2006/main">
              <a:ext uri="{FF2B5EF4-FFF2-40B4-BE49-F238E27FC236}">
                <a16:creationId xmlns:a16="http://schemas.microsoft.com/office/drawing/2014/main" id="{2A01E457-CA6E-4099-BCB3-A1911AD1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예약 질문</a:t>
            </a:r>
          </a:p>
        </p:txBody>
      </p:sp>
      <p:sp>
        <p:nvSpPr>
          <p:cNvPr id="113" name="날짜로 묻고, 원문으로 확인하기">
            <a:extLst xmlns:a="http://schemas.openxmlformats.org/drawingml/2006/main">
              <a:ext uri="{FF2B5EF4-FFF2-40B4-BE49-F238E27FC236}">
                <a16:creationId xmlns:a16="http://schemas.microsoft.com/office/drawing/2014/main" id="{56FE9A51-D026-4E72-B025-698BFF43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여행에 물어보기</a:t>
            </a:r>
          </a:p>
        </p:txBody>
      </p:sp>
      <p:sp>
        <p:nvSpPr>
          <p:cNvPr id="114" name="“2일차 예약을 전부 알려줘”라고 물어볼 수 있습니다">
            <a:extLst xmlns:a="http://schemas.openxmlformats.org/drawingml/2006/main">
              <a:ext uri="{FF2B5EF4-FFF2-40B4-BE49-F238E27FC236}">
                <a16:creationId xmlns:a16="http://schemas.microsoft.com/office/drawing/2014/main" id="{BA61864E-D91A-4D4E-B3A5-4A09C412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메일을 다시 찾는 대신 필요한 내용을 질문합니다</a:t>
            </a:r>
          </a:p>
        </p:txBody>
      </p:sp>
      <p:sp>
        <p:nvSpPr>
          <p:cNvPr id="115" name="05">
            <a:extLst xmlns:a="http://schemas.openxmlformats.org/drawingml/2006/main">
              <a:ext uri="{FF2B5EF4-FFF2-40B4-BE49-F238E27FC236}">
                <a16:creationId xmlns:a16="http://schemas.microsoft.com/office/drawing/2014/main" id="{7F6527D4-8991-47D9-B38A-2D1F9D53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pic>
        <p:nvPicPr>
          <p:cNvPr id="116" name="image4.png">
            <a:extLst xmlns:a="http://schemas.openxmlformats.org/drawingml/2006/main">
              <a:ext uri="{FF2B5EF4-FFF2-40B4-BE49-F238E27FC236}">
                <a16:creationId xmlns:a16="http://schemas.microsoft.com/office/drawing/2014/main" id="{EC55BF87-B7D3-401E-918B-659CB35DD7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ed2793a424282"/>
          <a:srcRect xmlns:a="http://schemas.openxmlformats.org/drawingml/2006/main" l="6614" t="20720" r="6085" b="45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33875" y="2266950"/>
            <a:ext cx="7191375" cy="37338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18" name="날짜별 예약 전체 조회 / 답변에서 원문 근거 확인">
            <a:extLst xmlns:a="http://schemas.openxmlformats.org/drawingml/2006/main">
              <a:ext uri="{FF2B5EF4-FFF2-40B4-BE49-F238E27FC236}">
                <a16:creationId xmlns:a16="http://schemas.microsoft.com/office/drawing/2014/main" id="{D3789167-AA1D-486D-83BB-B4F2DFD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4766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“첫날 예약을 모두 알려줘”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</a:p>
          <a:p xmlns:a="http://schemas.openxmlformats.org/drawingml/2006/main">
            <a:pPr algn="l">
              <a:buNone/>
              <a:defRPr sz="19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“체크아웃 시간이 언제야?”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</a:p>
          <a:p xmlns:a="http://schemas.openxmlformats.org/drawingml/2006/main">
            <a:pPr algn="l">
              <a:buNone/>
              <a:defRPr sz="19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날짜 질문은 전체 예약 조회</a:t>
            </a:r>
          </a:p>
        </p:txBody>
      </p:sp>
    </p:spTree>
    <p:extLst>
      <p:ext uri="{BB962C8B-B14F-4D97-AF65-F5344CB8AC3E}">
        <p14:creationId xmlns:p14="http://schemas.microsoft.com/office/powerpoint/2010/main" val="709654454"/>
      </p:ext>
    </p:extLst>
  </p:cSld>
</p:sld>
</file>

<file path=ppt/slides/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고잉  /  일정 편집">
            <a:extLst xmlns:a="http://schemas.openxmlformats.org/drawingml/2006/main">
              <a:ext uri="{FF2B5EF4-FFF2-40B4-BE49-F238E27FC236}">
                <a16:creationId xmlns:a16="http://schemas.microsoft.com/office/drawing/2014/main" id="{D6834606-AA10-4250-9B77-DCC25DB9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일정</a:t>
            </a:r>
          </a:p>
        </p:txBody>
      </p:sp>
      <p:sp>
        <p:nvSpPr>
          <p:cNvPr id="147" name="예약 사이에 들어가는 일정">
            <a:extLst xmlns:a="http://schemas.openxmlformats.org/drawingml/2006/main">
              <a:ext uri="{FF2B5EF4-FFF2-40B4-BE49-F238E27FC236}">
                <a16:creationId xmlns:a16="http://schemas.microsoft.com/office/drawing/2014/main" id="{E64C237E-1566-42ED-94E7-7DE87776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고른 장소를 하루 일정으로</a:t>
            </a:r>
          </a:p>
        </p:txBody>
      </p:sp>
      <p:sp>
        <p:nvSpPr>
          <p:cNvPr id="148" name="머무는 시간에 앞뒤 이동시간까지 더해 확인합니다">
            <a:extLst xmlns:a="http://schemas.openxmlformats.org/drawingml/2006/main">
              <a:ext uri="{FF2B5EF4-FFF2-40B4-BE49-F238E27FC236}">
                <a16:creationId xmlns:a16="http://schemas.microsoft.com/office/drawing/2014/main" id="{C2E9F801-8DB3-4FCA-B6CE-4B9B4824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이미 확정한 예약을 유지하면서 방문 순서를 조정합니다</a:t>
            </a:r>
          </a:p>
        </p:txBody>
      </p:sp>
      <p:sp>
        <p:nvSpPr>
          <p:cNvPr id="149" name="08">
            <a:extLst xmlns:a="http://schemas.openxmlformats.org/drawingml/2006/main">
              <a:ext uri="{FF2B5EF4-FFF2-40B4-BE49-F238E27FC236}">
                <a16:creationId xmlns:a16="http://schemas.microsoft.com/office/drawing/2014/main" id="{05BBF4D0-09ED-466E-8D10-251AE39C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150" name="13:00 – 15:00">
            <a:extLst xmlns:a="http://schemas.openxmlformats.org/drawingml/2006/main">
              <a:ext uri="{FF2B5EF4-FFF2-40B4-BE49-F238E27FC236}">
                <a16:creationId xmlns:a16="http://schemas.microsoft.com/office/drawing/2014/main" id="{948F7D56-7DB4-4D5B-BE42-9025665A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확정 예약을 먼저</a:t>
            </a:r>
          </a:p>
        </p:txBody>
      </p:sp>
      <p:sp>
        <p:nvSpPr>
          <p:cNvPr id="151" name="점심 종료부터 다음 예약까지 120분">
            <a:extLst xmlns:a="http://schemas.openxmlformats.org/drawingml/2006/main">
              <a:ext uri="{FF2B5EF4-FFF2-40B4-BE49-F238E27FC236}">
                <a16:creationId xmlns:a16="http://schemas.microsoft.com/office/drawing/2014/main" id="{914E9029-259B-4170-AC8C-6C156795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예약은 유지하고 빈 시간에 장소 배치</a:t>
            </a:r>
          </a:p>
        </p:txBody>
      </p:sp>
      <p:pic>
        <p:nvPicPr>
          <p:cNvPr id="152" name="image7.png">
            <a:extLst xmlns:a="http://schemas.openxmlformats.org/drawingml/2006/main">
              <a:ext uri="{FF2B5EF4-FFF2-40B4-BE49-F238E27FC236}">
                <a16:creationId xmlns:a16="http://schemas.microsoft.com/office/drawing/2014/main" id="{6B0D5CAC-FB92-48D3-8DCF-6BF8779267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76ec5c1c14e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1275" y="2647950"/>
            <a:ext cx="5095875" cy="2695575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53" name="30 + 90 + 30 = 150분">
            <a:extLst xmlns:a="http://schemas.openxmlformats.org/drawingml/2006/main">
              <a:ext uri="{FF2B5EF4-FFF2-40B4-BE49-F238E27FC236}">
                <a16:creationId xmlns:a16="http://schemas.microsoft.com/office/drawing/2014/main" id="{5D12C9FE-A154-43C7-B0EB-8C15567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547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바꾸기 전에 미리 보기</a:t>
            </a:r>
          </a:p>
        </p:txBody>
      </p:sp>
      <p:sp>
        <p:nvSpPr>
          <p:cNvPr id="154" name="이동과 체류를 더하면 30분 부족 확정 예약은 그대로 유지합니다">
            <a:extLst xmlns:a="http://schemas.openxmlformats.org/drawingml/2006/main">
              <a:ext uri="{FF2B5EF4-FFF2-40B4-BE49-F238E27FC236}">
                <a16:creationId xmlns:a16="http://schemas.microsoft.com/office/drawing/2014/main" id="{F187F536-2134-476A-9585-507B885C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변경 내용을 확인한 뒤 적용</a:t>
            </a:r>
            <a:b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10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필요하면 이전 내용으로 되돌리기</a:t>
            </a:r>
          </a:p>
        </p:txBody>
      </p:sp>
      <p:sp>
        <p:nvSpPr>
          <p:cNvPr id="155" name="일정 제약을 설명하는 합성 예시">
            <a:extLst xmlns:a="http://schemas.openxmlformats.org/drawingml/2006/main">
              <a:ext uri="{FF2B5EF4-FFF2-40B4-BE49-F238E27FC236}">
                <a16:creationId xmlns:a16="http://schemas.microsoft.com/office/drawing/2014/main" id="{12D2B2A9-E4E7-4CC6-AF8E-8FFF4D6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일정 변경은 외부 예약 취소와 별개</a:t>
            </a:r>
          </a:p>
        </p:txBody>
      </p:sp>
      <p:sp>
        <p:nvSpPr>
          <p:cNvPr id="156" name="실제 화면: 고정 예약과 충돌 안내">
            <a:extLst xmlns:a="http://schemas.openxmlformats.org/drawingml/2006/main">
              <a:ext uri="{FF2B5EF4-FFF2-40B4-BE49-F238E27FC236}">
                <a16:creationId xmlns:a16="http://schemas.microsoft.com/office/drawing/2014/main" id="{44901617-F517-430A-BC03-4872A55D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76475"/>
            <a:ext cx="500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87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일정과 확인할 내용을 한눈에</a:t>
            </a:r>
          </a:p>
        </p:txBody>
      </p:sp>
      <p:sp>
        <p:nvSpPr>
          <p:cNvPr id="157" name="미리 확인하고 적용, 필요하면 되돌리기">
            <a:extLst xmlns:a="http://schemas.openxmlformats.org/drawingml/2006/main">
              <a:ext uri="{FF2B5EF4-FFF2-40B4-BE49-F238E27FC236}">
                <a16:creationId xmlns:a16="http://schemas.microsoft.com/office/drawing/2014/main" id="{E290463A-B71C-4362-83C8-13E27CF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6007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가상 여행의 일정 화면</a:t>
            </a:r>
          </a:p>
        </p:txBody>
      </p:sp>
    </p:spTree>
    <p:extLst>
      <p:ext uri="{BB962C8B-B14F-4D97-AF65-F5344CB8AC3E}">
        <p14:creationId xmlns:p14="http://schemas.microsoft.com/office/powerpoint/2010/main" val="1592943906"/>
      </p:ext>
    </p:extLst>
  </p:cSld>
</p:sld>
</file>

<file path=ppt/slides/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고잉  /  구현 방법">
            <a:extLst xmlns:a="http://schemas.openxmlformats.org/drawingml/2006/main">
              <a:ext uri="{FF2B5EF4-FFF2-40B4-BE49-F238E27FC236}">
                <a16:creationId xmlns:a16="http://schemas.microsoft.com/office/drawing/2014/main" id="{B7BA4BD6-A42C-4DE7-AA4A-33384EF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구현 방법</a:t>
            </a:r>
          </a:p>
        </p:txBody>
      </p:sp>
      <p:sp>
        <p:nvSpPr>
          <p:cNvPr id="162" name="어떻게 만들었는지">
            <a:extLst xmlns:a="http://schemas.openxmlformats.org/drawingml/2006/main">
              <a:ext uri="{FF2B5EF4-FFF2-40B4-BE49-F238E27FC236}">
                <a16:creationId xmlns:a16="http://schemas.microsoft.com/office/drawing/2014/main" id="{2CDEE8AA-0E67-4EC2-A7BA-DE60CFC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서비스를 연결한 구조</a:t>
            </a:r>
          </a:p>
        </p:txBody>
      </p:sp>
      <p:sp>
        <p:nvSpPr>
          <p:cNvPr id="163" name="메일 분석에서 시작해 여행 정보와 일정 계산을 연결했습니다">
            <a:extLst xmlns:a="http://schemas.openxmlformats.org/drawingml/2006/main">
              <a:ext uri="{FF2B5EF4-FFF2-40B4-BE49-F238E27FC236}">
                <a16:creationId xmlns:a16="http://schemas.microsoft.com/office/drawing/2014/main" id="{6923019C-5BFA-4628-8108-6E7696D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화면, AI 처리, 저장을 나누고 하나의 여행으로 연결했습니다</a:t>
            </a:r>
          </a:p>
        </p:txBody>
      </p:sp>
      <p:sp>
        <p:nvSpPr>
          <p:cNvPr id="164" name="09">
            <a:extLst xmlns:a="http://schemas.openxmlformats.org/drawingml/2006/main">
              <a:ext uri="{FF2B5EF4-FFF2-40B4-BE49-F238E27FC236}">
                <a16:creationId xmlns:a16="http://schemas.microsoft.com/office/drawing/2014/main" id="{5FCC481E-D87F-4AEB-A980-97A0DBE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165" name="웹 화면과 여행 데이터">
            <a:extLst xmlns:a="http://schemas.openxmlformats.org/drawingml/2006/main">
              <a:ext uri="{FF2B5EF4-FFF2-40B4-BE49-F238E27FC236}">
                <a16:creationId xmlns:a16="http://schemas.microsoft.com/office/drawing/2014/main" id="{616DF272-CC5B-442C-81A0-D67D573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웹 화면과 FastAPI</a:t>
            </a:r>
          </a:p>
        </p:txBody>
      </p:sp>
      <p:sp>
        <p:nvSpPr>
          <p:cNvPr id="166" name="웹 UI와 FastAPI / Render 서버 / Supabase에 여행과 파일 보관">
            <a:extLst xmlns:a="http://schemas.openxmlformats.org/drawingml/2006/main">
              <a:ext uri="{FF2B5EF4-FFF2-40B4-BE49-F238E27FC236}">
                <a16:creationId xmlns:a16="http://schemas.microsoft.com/office/drawing/2014/main" id="{B67CBF3B-7A92-4FFF-B2D7-B54DB52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선택한 여행의 예약과 장소를 읽고 화면에 전달</a:t>
            </a:r>
          </a:p>
        </p:txBody>
      </p:sp>
      <p:sp>
        <p:nvSpPr>
          <p:cNvPr id="167" name="메일을 읽고 근거 찾기">
            <a:extLst xmlns:a="http://schemas.openxmlformats.org/drawingml/2006/main">
              <a:ext uri="{FF2B5EF4-FFF2-40B4-BE49-F238E27FC236}">
                <a16:creationId xmlns:a16="http://schemas.microsoft.com/office/drawing/2014/main" id="{8C066D4A-0ADB-490F-933F-60E42ED0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OpenAI로 메일 이해</a:t>
            </a:r>
          </a:p>
        </p:txBody>
      </p:sp>
      <p:sp>
        <p:nvSpPr>
          <p:cNvPr id="168" name="gpt-5-mini로 정보 추출 / text-embedding-3-small로 본문 검색">
            <a:extLst xmlns:a="http://schemas.openxmlformats.org/drawingml/2006/main">
              <a:ext uri="{FF2B5EF4-FFF2-40B4-BE49-F238E27FC236}">
                <a16:creationId xmlns:a16="http://schemas.microsoft.com/office/drawing/2014/main" id="{92D84336-7A13-44B4-903A-E462045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gpt-5-mini로 정보 추출, text-embedding-3-small로 관련 본문 검색</a:t>
            </a:r>
          </a:p>
        </p:txBody>
      </p:sp>
      <p:sp>
        <p:nvSpPr>
          <p:cNvPr id="169" name="추천과 일정은 확인한 데이터로 계산">
            <a:extLst xmlns:a="http://schemas.openxmlformats.org/drawingml/2006/main">
              <a:ext uri="{FF2B5EF4-FFF2-40B4-BE49-F238E27FC236}">
                <a16:creationId xmlns:a16="http://schemas.microsoft.com/office/drawing/2014/main" id="{C8612D2D-88D8-4249-80B7-F247120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Render와 Supabase</a:t>
            </a:r>
          </a:p>
        </p:txBody>
      </p:sp>
      <p:sp>
        <p:nvSpPr>
          <p:cNvPr id="170" name="취향 태그·보정 평점·거리로 추천 / 코드로 시간과 조건 검사">
            <a:extLst xmlns:a="http://schemas.openxmlformats.org/drawingml/2006/main">
              <a:ext uri="{FF2B5EF4-FFF2-40B4-BE49-F238E27FC236}">
                <a16:creationId xmlns:a16="http://schemas.microsoft.com/office/drawing/2014/main" id="{0994E6C6-AB32-4F56-92E3-A515BB4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서버를 배포하고 여행 데이터와 비공개 파일, 작업 상태를 보관</a:t>
            </a:r>
          </a:p>
        </p:txBody>
      </p:sp>
      <p:sp>
        <p:nvSpPr>
          <p:cNvPr id="171" name="사용자 행동 학습은 아직 없음 / 실제 추천 만족도는 앞으로 확인">
            <a:extLst xmlns:a="http://schemas.openxmlformats.org/drawingml/2006/main">
              <a:ext uri="{FF2B5EF4-FFF2-40B4-BE49-F238E27FC236}">
                <a16:creationId xmlns:a16="http://schemas.microsoft.com/office/drawing/2014/main" id="{D77C2D3D-61F0-4E9B-A562-9C47DCA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Google 지도 리뷰는 Apify로 연결 · 실제 리뷰 검증은 다음 단계</a:t>
            </a:r>
          </a:p>
        </p:txBody>
      </p:sp>
    </p:spTree>
    <p:extLst>
      <p:ext uri="{BB962C8B-B14F-4D97-AF65-F5344CB8AC3E}">
        <p14:creationId xmlns:p14="http://schemas.microsoft.com/office/powerpoint/2010/main" val="1383325975"/>
      </p:ext>
    </p:extLst>
  </p:cSld>
</p:sld>
</file>

<file path=ppt/slides/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고잉  /  구현 방법">
            <a:extLst xmlns:a="http://schemas.openxmlformats.org/drawingml/2006/main">
              <a:ext uri="{FF2B5EF4-FFF2-40B4-BE49-F238E27FC236}">
                <a16:creationId xmlns:a16="http://schemas.microsoft.com/office/drawing/2014/main" id="{B7BA4BD6-A42C-4DE7-AA4A-33384EF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추천 구현</a:t>
            </a:r>
          </a:p>
        </p:txBody>
      </p:sp>
      <p:sp>
        <p:nvSpPr>
          <p:cNvPr id="162" name="어떻게 만들었는지">
            <a:extLst xmlns:a="http://schemas.openxmlformats.org/drawingml/2006/main">
              <a:ext uri="{FF2B5EF4-FFF2-40B4-BE49-F238E27FC236}">
                <a16:creationId xmlns:a16="http://schemas.microsoft.com/office/drawing/2014/main" id="{2CDEE8AA-0E67-4EC2-A7BA-DE60CFC0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추천 순위를 정하는 방법</a:t>
            </a:r>
          </a:p>
        </p:txBody>
      </p:sp>
      <p:sp>
        <p:nvSpPr>
          <p:cNvPr id="163" name="메일 분석에서 시작해 여행 정보와 일정 계산을 연결했습니다">
            <a:extLst xmlns:a="http://schemas.openxmlformats.org/drawingml/2006/main">
              <a:ext uri="{FF2B5EF4-FFF2-40B4-BE49-F238E27FC236}">
                <a16:creationId xmlns:a16="http://schemas.microsoft.com/office/drawing/2014/main" id="{6923019C-5BFA-4628-8108-6E7696D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hybrid_v5가 순위를 계산하고 AI가 선정 이유를 설명합니다</a:t>
            </a:r>
          </a:p>
        </p:txBody>
      </p:sp>
      <p:sp>
        <p:nvSpPr>
          <p:cNvPr id="164" name="09">
            <a:extLst xmlns:a="http://schemas.openxmlformats.org/drawingml/2006/main">
              <a:ext uri="{FF2B5EF4-FFF2-40B4-BE49-F238E27FC236}">
                <a16:creationId xmlns:a16="http://schemas.microsoft.com/office/drawing/2014/main" id="{5FCC481E-D87F-4AEB-A980-97A0DBEA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65" name="웹 화면과 여행 데이터">
            <a:extLst xmlns:a="http://schemas.openxmlformats.org/drawingml/2006/main">
              <a:ext uri="{FF2B5EF4-FFF2-40B4-BE49-F238E27FC236}">
                <a16:creationId xmlns:a16="http://schemas.microsoft.com/office/drawing/2014/main" id="{616DF272-CC5B-442C-81A0-D67D5730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취향이 얼마나 맞는지</a:t>
            </a:r>
          </a:p>
        </p:txBody>
      </p:sp>
      <p:sp>
        <p:nvSpPr>
          <p:cNvPr id="166" name="웹 UI와 FastAPI / Render 서버 / Supabase에 여행과 파일 보관">
            <a:extLst xmlns:a="http://schemas.openxmlformats.org/drawingml/2006/main">
              <a:ext uri="{FF2B5EF4-FFF2-40B4-BE49-F238E27FC236}">
                <a16:creationId xmlns:a16="http://schemas.microsoft.com/office/drawing/2014/main" id="{B67CBF3B-7A92-4FFF-B2D7-B54DB52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음식 이름의 다국어 별칭을 연결하고 TF-IDF 유사도 계산</a:t>
            </a:r>
          </a:p>
        </p:txBody>
      </p:sp>
      <p:sp>
        <p:nvSpPr>
          <p:cNvPr id="167" name="메일을 읽고 근거 찾기">
            <a:extLst xmlns:a="http://schemas.openxmlformats.org/drawingml/2006/main">
              <a:ext uri="{FF2B5EF4-FFF2-40B4-BE49-F238E27FC236}">
                <a16:creationId xmlns:a16="http://schemas.microsoft.com/office/drawing/2014/main" id="{8C066D4A-0ADB-490F-933F-60E42ED0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평점과 거리 함께 보기</a:t>
            </a:r>
          </a:p>
        </p:txBody>
      </p:sp>
      <p:sp>
        <p:nvSpPr>
          <p:cNvPr id="168" name="gpt-5-mini로 정보 추출 / text-embedding-3-small로 본문 검색">
            <a:extLst xmlns:a="http://schemas.openxmlformats.org/drawingml/2006/main">
              <a:ext uri="{FF2B5EF4-FFF2-40B4-BE49-F238E27FC236}">
                <a16:creationId xmlns:a16="http://schemas.microsoft.com/office/drawing/2014/main" id="{92D84336-7A13-44B4-903A-E4620454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평가 수를 고려해 평점을 보정하고 숙소와의 직선거리 반영</a:t>
            </a:r>
          </a:p>
        </p:txBody>
      </p:sp>
      <p:sp>
        <p:nvSpPr>
          <p:cNvPr id="169" name="추천과 일정은 확인한 데이터로 계산">
            <a:extLst xmlns:a="http://schemas.openxmlformats.org/drawingml/2006/main">
              <a:ext uri="{FF2B5EF4-FFF2-40B4-BE49-F238E27FC236}">
                <a16:creationId xmlns:a16="http://schemas.microsoft.com/office/drawing/2014/main" id="{C8612D2D-88D8-4249-80B7-F247120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방문 조건을 먼저 확인</a:t>
            </a:r>
          </a:p>
        </p:txBody>
      </p:sp>
      <p:sp>
        <p:nvSpPr>
          <p:cNvPr id="170" name="취향 태그·보정 평점·거리로 추천 / 코드로 시간과 조건 검사">
            <a:extLst xmlns:a="http://schemas.openxmlformats.org/drawingml/2006/main">
              <a:ext uri="{FF2B5EF4-FFF2-40B4-BE49-F238E27FC236}">
                <a16:creationId xmlns:a16="http://schemas.microsoft.com/office/drawing/2014/main" id="{0994E6C6-AB32-4F56-92E3-A515BB45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확인된 폐업과 인원 제한은 높은 점수로 상쇄하지 않음</a:t>
            </a:r>
          </a:p>
        </p:txBody>
      </p:sp>
      <p:sp>
        <p:nvSpPr>
          <p:cNvPr id="171" name="사용자 행동 학습은 아직 없음 / 실제 추천 만족도는 앞으로 확인">
            <a:extLst xmlns:a="http://schemas.openxmlformats.org/drawingml/2006/main">
              <a:ext uri="{FF2B5EF4-FFF2-40B4-BE49-F238E27FC236}">
                <a16:creationId xmlns:a16="http://schemas.microsoft.com/office/drawing/2014/main" id="{D77C2D3D-61F0-4E9B-A562-9C47DCAD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7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합성 데이터로 계산 검증 · 실제 사용자 만족도는 아직 미측정</a:t>
            </a:r>
          </a:p>
        </p:txBody>
      </p:sp>
    </p:spTree>
    <p:extLst>
      <p:ext uri="{BB962C8B-B14F-4D97-AF65-F5344CB8AC3E}">
        <p14:creationId xmlns:p14="http://schemas.microsoft.com/office/powerpoint/2010/main" val="1383325975"/>
      </p:ext>
    </p:extLst>
  </p:cSld>
</p:sld>
</file>

<file path=ppt/slides/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고잉  /  다음 개발">
            <a:extLst xmlns:a="http://schemas.openxmlformats.org/drawingml/2006/main">
              <a:ext uri="{FF2B5EF4-FFF2-40B4-BE49-F238E27FC236}">
                <a16:creationId xmlns:a16="http://schemas.microsoft.com/office/drawing/2014/main" id="{89D6AA73-8A05-429A-8743-2D26880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개발하며 배운 점</a:t>
            </a:r>
          </a:p>
        </p:txBody>
      </p:sp>
      <p:sp>
        <p:nvSpPr>
          <p:cNvPr id="176" name="직접 써 보며 이어갈 개발">
            <a:extLst xmlns:a="http://schemas.openxmlformats.org/drawingml/2006/main">
              <a:ext uri="{FF2B5EF4-FFF2-40B4-BE49-F238E27FC236}">
                <a16:creationId xmlns:a16="http://schemas.microsoft.com/office/drawing/2014/main" id="{C887D872-5FB0-4835-9619-6BD1913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직접 쓰면서 고친 부분</a:t>
            </a:r>
          </a:p>
        </p:txBody>
      </p:sp>
      <p:sp>
        <p:nvSpPr>
          <p:cNvPr id="177" name="연결한 사용 흐름을 실제 여행에서 더 확인하려고 합니다">
            <a:extLst xmlns:a="http://schemas.openxmlformats.org/drawingml/2006/main">
              <a:ext uri="{FF2B5EF4-FFF2-40B4-BE49-F238E27FC236}">
                <a16:creationId xmlns:a16="http://schemas.microsoft.com/office/drawing/2014/main" id="{51F6900F-32D9-4980-8533-1824A31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기능을 늘린 뒤에는 시작하는 과정부터 다시 줄였습니다</a:t>
            </a:r>
          </a:p>
        </p:txBody>
      </p:sp>
      <p:sp>
        <p:nvSpPr>
          <p:cNvPr id="178" name="10">
            <a:extLst xmlns:a="http://schemas.openxmlformats.org/drawingml/2006/main">
              <a:ext uri="{FF2B5EF4-FFF2-40B4-BE49-F238E27FC236}">
                <a16:creationId xmlns:a16="http://schemas.microsoft.com/office/drawing/2014/main" id="{E5EE845E-A590-4552-A80B-935B80E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179" name="지금 연결한 흐름">
            <a:extLst xmlns:a="http://schemas.openxmlformats.org/drawingml/2006/main">
              <a:ext uri="{FF2B5EF4-FFF2-40B4-BE49-F238E27FC236}">
                <a16:creationId xmlns:a16="http://schemas.microsoft.com/office/drawing/2014/main" id="{95284986-8F3C-4BC3-8E26-816FFEC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같은 입력은 한 번만</a:t>
            </a:r>
          </a:p>
        </p:txBody>
      </p:sp>
      <p:sp>
        <p:nvSpPr>
          <p:cNvPr id="180" name="예약 정리와 근거 질문 장소 선택과 일정 편집">
            <a:extLst xmlns:a="http://schemas.openxmlformats.org/drawingml/2006/main">
              <a:ext uri="{FF2B5EF4-FFF2-40B4-BE49-F238E27FC236}">
                <a16:creationId xmlns:a16="http://schemas.microsoft.com/office/drawing/2014/main" id="{5815AE1D-6BEC-4506-AE1A-CC8D2E0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여행 정보를 재사용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추천과 여행 질문을 메인에 배치</a:t>
            </a:r>
          </a:p>
        </p:txBody>
      </p:sp>
      <p:sp>
        <p:nvSpPr>
          <p:cNvPr id="181" name="다음에 확인할 것">
            <a:extLst xmlns:a="http://schemas.openxmlformats.org/drawingml/2006/main">
              <a:ext uri="{FF2B5EF4-FFF2-40B4-BE49-F238E27FC236}">
                <a16:creationId xmlns:a16="http://schemas.microsoft.com/office/drawing/2014/main" id="{E847F38C-D514-4016-9591-5A5488A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기다리는 동안에도 알 수 있게</a:t>
            </a:r>
          </a:p>
        </p:txBody>
      </p:sp>
      <p:sp>
        <p:nvSpPr>
          <p:cNvPr id="182" name="실제 리뷰의 이용 범위와 언어 품질 다른 사람의 선택과 방문 경험">
            <a:extLst xmlns:a="http://schemas.openxmlformats.org/drawingml/2006/main">
              <a:ext uri="{FF2B5EF4-FFF2-40B4-BE49-F238E27FC236}">
                <a16:creationId xmlns:a16="http://schemas.microsoft.com/office/drawing/2014/main" id="{A1C0331F-98E3-4A93-BD7F-013BF73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추천 진행 상태 표시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다른 화면에서도 결과 이어 보기</a:t>
            </a:r>
          </a:p>
        </p:txBody>
      </p:sp>
      <p:sp>
        <p:nvSpPr>
          <p:cNvPr id="183" name="도시별 자료와 이동 경로 보강">
            <a:extLst xmlns:a="http://schemas.openxmlformats.org/drawingml/2006/main">
              <a:ext uri="{FF2B5EF4-FFF2-40B4-BE49-F238E27FC236}">
                <a16:creationId xmlns:a16="http://schemas.microsoft.com/office/drawing/2014/main" id="{720E8A2F-4FAD-4FDC-B54C-DE0A78C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선택에 필요한 정보부터</a:t>
            </a:r>
          </a:p>
        </p:txBody>
      </p:sp>
      <p:sp>
        <p:nvSpPr>
          <p:cNvPr id="184" name="100개 도시 입력 지원 / 도시별 추천 자료는 확보 수준이 다릅니다">
            <a:extLst xmlns:a="http://schemas.openxmlformats.org/drawingml/2006/main">
              <a:ext uri="{FF2B5EF4-FFF2-40B4-BE49-F238E27FC236}">
                <a16:creationId xmlns:a16="http://schemas.microsoft.com/office/drawing/2014/main" id="{D2546EE9-BF56-49D4-9D14-2B11E4B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반복 안내는 줄이고 리뷰 조건은 바로 선택</a:t>
            </a:r>
          </a:p>
        </p:txBody>
      </p:sp>
      <p:sp>
        <p:nvSpPr>
          <p:cNvPr id="185" name="마지막으로, 실제 사용 화면을 보여드리겠습니다.">
            <a:extLst xmlns:a="http://schemas.openxmlformats.org/drawingml/2006/main">
              <a:ext uri="{FF2B5EF4-FFF2-40B4-BE49-F238E27FC236}">
                <a16:creationId xmlns:a16="http://schemas.microsoft.com/office/drawing/2014/main" id="{BBE57039-794A-4713-8485-F54AEB0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오류가 나도 입력과 이전 예약은 유지</a:t>
            </a:r>
          </a:p>
        </p:txBody>
      </p:sp>
    </p:spTree>
    <p:extLst>
      <p:ext uri="{BB962C8B-B14F-4D97-AF65-F5344CB8AC3E}">
        <p14:creationId xmlns:p14="http://schemas.microsoft.com/office/powerpoint/2010/main" val="300745530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" name="고잉  /  다음 개발">
            <a:extLst xmlns:a="http://schemas.openxmlformats.org/drawingml/2006/main">
              <a:ext uri="{FF2B5EF4-FFF2-40B4-BE49-F238E27FC236}">
                <a16:creationId xmlns:a16="http://schemas.microsoft.com/office/drawing/2014/main" id="{89D6AA73-8A05-429A-8743-2D26880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고잉  /  다음 계획</a:t>
            </a:r>
          </a:p>
        </p:txBody>
      </p:sp>
      <p:sp>
        <p:nvSpPr>
          <p:cNvPr id="176" name="직접 써 보며 이어갈 개발">
            <a:extLst xmlns:a="http://schemas.openxmlformats.org/drawingml/2006/main">
              <a:ext uri="{FF2B5EF4-FFF2-40B4-BE49-F238E27FC236}">
                <a16:creationId xmlns:a16="http://schemas.microsoft.com/office/drawing/2014/main" id="{C887D872-5FB0-4835-9619-6BD1913C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앞으로의 고잉</a:t>
            </a:r>
          </a:p>
        </p:txBody>
      </p:sp>
      <p:sp>
        <p:nvSpPr>
          <p:cNvPr id="177" name="연결한 사용 흐름을 실제 여행에서 더 확인하려고 합니다">
            <a:extLst xmlns:a="http://schemas.openxmlformats.org/drawingml/2006/main">
              <a:ext uri="{FF2B5EF4-FFF2-40B4-BE49-F238E27FC236}">
                <a16:creationId xmlns:a16="http://schemas.microsoft.com/office/drawing/2014/main" id="{51F6900F-32D9-4980-8533-1824A31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제가 여행할 때 계속 쓰고 싶은 서비스로 발전시키려 합니다</a:t>
            </a:r>
          </a:p>
        </p:txBody>
      </p:sp>
      <p:sp>
        <p:nvSpPr>
          <p:cNvPr id="178" name="10">
            <a:extLst xmlns:a="http://schemas.openxmlformats.org/drawingml/2006/main">
              <a:ext uri="{FF2B5EF4-FFF2-40B4-BE49-F238E27FC236}">
                <a16:creationId xmlns:a16="http://schemas.microsoft.com/office/drawing/2014/main" id="{E5EE845E-A590-4552-A80B-935B80E2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179" name="지금 연결한 흐름">
            <a:extLst xmlns:a="http://schemas.openxmlformats.org/drawingml/2006/main">
              <a:ext uri="{FF2B5EF4-FFF2-40B4-BE49-F238E27FC236}">
                <a16:creationId xmlns:a16="http://schemas.microsoft.com/office/drawing/2014/main" id="{95284986-8F3C-4BC3-8E26-816FFEC2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사진과 방문 정보</a:t>
            </a:r>
          </a:p>
        </p:txBody>
      </p:sp>
      <p:sp>
        <p:nvSpPr>
          <p:cNvPr id="180" name="예약 정리와 근거 질문 장소 선택과 일정 편집">
            <a:extLst xmlns:a="http://schemas.openxmlformats.org/drawingml/2006/main">
              <a:ext uri="{FF2B5EF4-FFF2-40B4-BE49-F238E27FC236}">
                <a16:creationId xmlns:a16="http://schemas.microsoft.com/office/drawing/2014/main" id="{5815AE1D-6BEC-4506-AE1A-CC8D2E0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19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사진과 영업 정보부터</a:t>
            </a:r>
            <a:b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</a:b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실제 선택에 필요한 내용 채우기</a:t>
            </a:r>
          </a:p>
        </p:txBody>
      </p:sp>
      <p:sp>
        <p:nvSpPr>
          <p:cNvPr id="181" name="다음에 확인할 것">
            <a:extLst xmlns:a="http://schemas.openxmlformats.org/drawingml/2006/main">
              <a:ext uri="{FF2B5EF4-FFF2-40B4-BE49-F238E27FC236}">
                <a16:creationId xmlns:a16="http://schemas.microsoft.com/office/drawing/2014/main" id="{E847F38C-D514-4016-9591-5A5488A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241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defRPr>
            </a:pPr>
            <a:r>
              <a:rPr sz="2550" b="1">
                <a:solidFill>
                  <a:srgbClr val="25485A"/>
                </a:solidFill>
                <a:latin typeface="Pretendard"/>
                <a:ea typeface="Pretendard"/>
                <a:cs typeface="Pretendard"/>
              </a:rPr>
              <a:t>실제 리뷰 검증</a:t>
            </a:r>
          </a:p>
        </p:txBody>
      </p:sp>
      <p:sp>
        <p:nvSpPr>
          <p:cNvPr id="182" name="실제 리뷰의 이용 범위와 언어 품질 다른 사람의 선택과 방문 경험">
            <a:extLst xmlns:a="http://schemas.openxmlformats.org/drawingml/2006/main">
              <a:ext uri="{FF2B5EF4-FFF2-40B4-BE49-F238E27FC236}">
                <a16:creationId xmlns:a16="http://schemas.microsoft.com/office/drawing/2014/main" id="{A1C0331F-98E3-4A93-BD7F-013BF735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857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지점과 원문 언어를 검증한 뒤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250" b="0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확인된 도시부터 공개</a:t>
            </a:r>
          </a:p>
        </p:txBody>
      </p:sp>
      <p:sp>
        <p:nvSpPr>
          <p:cNvPr id="183" name="도시별 자료와 이동 경로 보강">
            <a:extLst xmlns:a="http://schemas.openxmlformats.org/drawingml/2006/main">
              <a:ext uri="{FF2B5EF4-FFF2-40B4-BE49-F238E27FC236}">
                <a16:creationId xmlns:a16="http://schemas.microsoft.com/office/drawing/2014/main" id="{720E8A2F-4FAD-4FDC-B54C-DE0A78C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252D2D"/>
                </a:solidFill>
                <a:latin typeface="Pretendard"/>
                <a:ea typeface="Pretendard"/>
                <a:cs typeface="Pretendard"/>
              </a:rPr>
              <a:t>실제 여행에서 쓰며 개선</a:t>
            </a:r>
          </a:p>
        </p:txBody>
      </p:sp>
      <p:sp>
        <p:nvSpPr>
          <p:cNvPr id="184" name="100개 도시 입력 지원 / 도시별 추천 자료는 확보 수준이 다릅니다">
            <a:extLst xmlns:a="http://schemas.openxmlformats.org/drawingml/2006/main">
              <a:ext uri="{FF2B5EF4-FFF2-40B4-BE49-F238E27FC236}">
                <a16:creationId xmlns:a16="http://schemas.microsoft.com/office/drawing/2014/main" id="{D2546EE9-BF56-49D4-9D14-2B11E4B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2025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저장한 이유와 방문 후 경험을 나눠서 추천 품질 평가</a:t>
            </a:r>
          </a:p>
        </p:txBody>
      </p:sp>
      <p:sp>
        <p:nvSpPr>
          <p:cNvPr id="185" name="마지막으로, 실제 사용 화면을 보여드리겠습니다.">
            <a:extLst xmlns:a="http://schemas.openxmlformats.org/drawingml/2006/main">
              <a:ext uri="{FF2B5EF4-FFF2-40B4-BE49-F238E27FC236}">
                <a16:creationId xmlns:a16="http://schemas.microsoft.com/office/drawing/2014/main" id="{BBE57039-794A-4713-8485-F54AEB0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27178"/>
                </a:solidFill>
                <a:latin typeface="Pretendard"/>
                <a:ea typeface="Pretendard"/>
                <a:cs typeface="Pretendard"/>
              </a:rPr>
              <a:t>여행 준비에서 반복하던 일을 조금씩 줄여 가겠습니다</a:t>
            </a:r>
          </a:p>
        </p:txBody>
      </p:sp>
    </p:spTree>
    <p:extLst>
      <p:ext uri="{BB962C8B-B14F-4D97-AF65-F5344CB8AC3E}">
        <p14:creationId xmlns:p14="http://schemas.microsoft.com/office/powerpoint/2010/main" val="300745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Pretendard"/>
        <a:ea typeface="Pretendard"/>
        <a:cs typeface="Pretendard"/>
      </a:majorFont>
      <a:minorFont>
        <a:latin typeface="Pretendard"/>
        <a:ea typeface="Pretendard"/>
        <a:cs typeface="Pretendard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2026-10-08T05:34:12.0180000Z</dcterms:created>
  <dcterms:modified xsi:type="dcterms:W3CDTF">2026-10-08T05:34:12.0180000Z</dcterms:modified>
</coreProperties>
</file>