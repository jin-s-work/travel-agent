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mp4" ContentType="video/mp4"/>
</Types>
</file>

<file path=_rels/.rels><?xml version='1.0' encoding='UTF-8' standalone='yes'?>
<Relationships xmlns="http://schemas.openxmlformats.org/package/2006/relationships"><Relationship Type="http://schemas.openxmlformats.org/package/2006/relationships/metadata/core-properties" Target="docProps/core.xml" Id="R8710483d30684dbe"/><Relationship Type="http://schemas.openxmlformats.org/officeDocument/2006/relationships/extended-properties" Target="docProps/app.xml" Id="R37be722461ff4138"/><Relationship Type="http://schemas.openxmlformats.org/officeDocument/2006/relationships/officeDocument" Target="ppt/presentation.xml" Id="R87ee2c05abc14ed8"/></Relationships>
</file>

<file path=ppt/presentation.xml><?xml version="1.0" encoding="utf-8"?>
<p:presentation xmlns:p="http://schemas.openxmlformats.org/presentationml/2006/main">
  <p:sldMasterIdLst>
    <p:sldMasterId xmlns:r="http://schemas.openxmlformats.org/officeDocument/2006/relationships" id="2147483648" r:id="R9e203a5da0944902"/>
  </p:sldMasterIdLst>
  <p:notesMasterIdLst>
    <p:notesMasterId xmlns:r="http://schemas.openxmlformats.org/officeDocument/2006/relationships" r:id="Rae24c8559dae4737"/>
  </p:notesMasterIdLst>
  <p:sldIdLst>
    <p:sldId xmlns:r="http://schemas.openxmlformats.org/officeDocument/2006/relationships" id="256" r:id="Rd8f122b082934f3e"/>
    <p:sldId xmlns:r="http://schemas.openxmlformats.org/officeDocument/2006/relationships" id="257" r:id="R40bb30c41d634db1"/>
    <p:sldId xmlns:r="http://schemas.openxmlformats.org/officeDocument/2006/relationships" id="258" r:id="R4c2ca43a2a3b44fa"/>
    <p:sldId xmlns:r="http://schemas.openxmlformats.org/officeDocument/2006/relationships" id="259" r:id="Rfb140eb71c92446e"/>
    <p:sldId xmlns:r="http://schemas.openxmlformats.org/officeDocument/2006/relationships" id="260" r:id="R369a45a6f5744dad"/>
    <p:sldId xmlns:r="http://schemas.openxmlformats.org/officeDocument/2006/relationships" id="261" r:id="Rc2eeaf781d614e9f"/>
    <p:sldId xmlns:r="http://schemas.openxmlformats.org/officeDocument/2006/relationships" id="262" r:id="R2def40e66d9c499d"/>
    <p:sldId xmlns:r="http://schemas.openxmlformats.org/officeDocument/2006/relationships" id="263" r:id="Rf90f79dd0ba54547"/>
    <p:sldId xmlns:r="http://schemas.openxmlformats.org/officeDocument/2006/relationships" id="264" r:id="Rfbd5c99fe12f4d72"/>
    <p:sldId xmlns:r="http://schemas.openxmlformats.org/officeDocument/2006/relationships" id="265" r:id="R5b3fc68d81de48ff"/>
    <p:sldId xmlns:r="http://schemas.openxmlformats.org/officeDocument/2006/relationships" id="266" r:id="R567f62b50e834996"/>
  </p:sldIdLst>
  <p:sldSz cx="12192000" cy="6858000"/>
  <p:notesSz cx="6858000" cy="9144000"/>
  <p:defaultTextStyle>
    <a:def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defRPr>
    </a:defPPr>
    <a:lvl1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1pPr>
    <a:lvl2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2pPr>
    <a:lvl3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3pPr>
    <a:lvl4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4pPr>
    <a:lvl5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5pPr>
    <a:lvl6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6pPr>
    <a:lvl7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7pPr>
    <a:lvl8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8pPr>
    <a:lvl9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latin typeface="Pretendard"/>
        <a:ea typeface="Pretendard"/>
        <a:cs typeface="Pretendard"/>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1D8"/>
          </a:solidFill>
        </a:fill>
      </a:tcStyle>
    </a:wholeTbl>
    <a:band2H>
      <a:tcTxStyle b="def" i="def"/>
      <a:tcStyle>
        <a:tcBdr/>
        <a:fill>
          <a:solidFill>
            <a:srgbClr val="E7E9EC"/>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BD3CB"/>
          </a:solidFill>
        </a:fill>
      </a:tcStyle>
    </a:wholeTbl>
    <a:band2H>
      <a:tcTxStyle b="def" i="def"/>
      <a:tcStyle>
        <a:tcBdr/>
        <a:fill>
          <a:solidFill>
            <a:srgbClr val="E7EAE7"/>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E1CC"/>
          </a:solidFill>
        </a:fill>
      </a:tcStyle>
    </a:wholeTbl>
    <a:band2H>
      <a:tcTxStyle b="def" i="def"/>
      <a:tcStyle>
        <a:tcBdr/>
        <a:fill>
          <a:solidFill>
            <a:srgbClr val="E8F0E7"/>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Pretendard"/>
          <a:ea typeface="Pretendard"/>
          <a:cs typeface="Pretendard"/>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Pretendard"/>
          <a:ea typeface="Pretendard"/>
          <a:cs typeface="Pretendard"/>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Pretendard"/>
          <a:ea typeface="Pretendard"/>
          <a:cs typeface="Pretendard"/>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Pretendard"/>
          <a:ea typeface="Pretendard"/>
          <a:cs typeface="Pretendard"/>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Pretendard"/>
          <a:ea typeface="Pretendard"/>
          <a:cs typeface="Pretendard"/>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Pretendard"/>
          <a:ea typeface="Pretendard"/>
          <a:cs typeface="Pretendard"/>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Pretendard"/>
          <a:ea typeface="Pretendard"/>
          <a:cs typeface="Pretendard"/>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_rels/presentation.xml.rels><?xml version='1.0' encoding='UTF-8' standalone='yes'?>
<Relationships xmlns="http://schemas.openxmlformats.org/package/2006/relationships"><Relationship Type="http://schemas.openxmlformats.org/officeDocument/2006/relationships/theme" Target="theme/theme1.xml" Id="R83e4def0927d4bd2"/><Relationship Type="http://schemas.openxmlformats.org/officeDocument/2006/relationships/slideMaster" Target="slideMasters/slideMaster1.xml" Id="R9e203a5da0944902"/><Relationship Type="http://schemas.openxmlformats.org/officeDocument/2006/relationships/notesMaster" Target="notesMasters/notesMaster1.xml" Id="Rae24c8559dae4737"/><Relationship Type="http://schemas.openxmlformats.org/officeDocument/2006/relationships/presProps" Target="presProps.xml" Id="R49738f92bf8e4e26"/><Relationship Type="http://schemas.openxmlformats.org/officeDocument/2006/relationships/tableStyles" Target="tableStyles.xml" Id="R531e0196e26d4842"/><Relationship Type="http://schemas.openxmlformats.org/officeDocument/2006/relationships/slide" Target="slides/slide1.xml" Id="Rd8f122b082934f3e"/><Relationship Type="http://schemas.openxmlformats.org/officeDocument/2006/relationships/slide" Target="slides/slide2.xml" Id="R40bb30c41d634db1"/><Relationship Type="http://schemas.openxmlformats.org/officeDocument/2006/relationships/slide" Target="slides/slide3.xml" Id="R4c2ca43a2a3b44fa"/><Relationship Type="http://schemas.openxmlformats.org/officeDocument/2006/relationships/slide" Target="slides/slide4.xml" Id="Rfb140eb71c92446e"/><Relationship Type="http://schemas.openxmlformats.org/officeDocument/2006/relationships/slide" Target="slides/slide5.xml" Id="R369a45a6f5744dad"/><Relationship Type="http://schemas.openxmlformats.org/officeDocument/2006/relationships/slide" Target="slides/slide6.xml" Id="Rc2eeaf781d614e9f"/><Relationship Type="http://schemas.openxmlformats.org/officeDocument/2006/relationships/slide" Target="slides/slide7.xml" Id="R2def40e66d9c499d"/><Relationship Type="http://schemas.openxmlformats.org/officeDocument/2006/relationships/slide" Target="slides/slide8.xml" Id="Rf90f79dd0ba54547"/><Relationship Type="http://schemas.openxmlformats.org/officeDocument/2006/relationships/slide" Target="slides/slide9.xml" Id="Rfbd5c99fe12f4d72"/><Relationship Type="http://schemas.openxmlformats.org/officeDocument/2006/relationships/slide" Target="slides/slide10.xml" Id="R5b3fc68d81de48ff"/><Relationship Type="http://schemas.openxmlformats.org/officeDocument/2006/relationships/slide" Target="slides/slide11.xml" Id="R567f62b50e834996"/></Relationships>
</file>

<file path=ppt/notesMasters/_rels/notesMaster1.xml.rels><?xml version='1.0' encoding='UTF-8' standalone='yes'?>
<Relationships xmlns="http://schemas.openxmlformats.org/package/2006/relationships"><Relationship Type="http://schemas.openxmlformats.org/officeDocument/2006/relationships/theme" Target="theme/theme3.xml" Id="R25c4829a437040b5"/></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62" name="Shape 62"/>
          <p:cNvSpPr/>
          <p:nvPr>
            <p:ph type="sldImg"/>
          </p:nvPr>
        </p:nvSpPr>
        <p:spPr>
          <a:xfrm>
            <a:off x="1143000" y="685800"/>
            <a:ext cx="4572000" cy="3429000"/>
          </a:xfrm>
          <a:prstGeom prst="rect">
            <a:avLst/>
          </a:prstGeom>
        </p:spPr>
        <p:txBody>
          <a:bodyPr/>
          <a:lstStyle/>
          <a:p>
            <a:pPr/>
          </a:p>
        </p:txBody>
      </p:sp>
      <p:sp>
        <p:nvSpPr>
          <p:cNvPr id="63" name="Shape 6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Pretendard"/>
      </a:defRPr>
    </a:lvl1pPr>
    <a:lvl2pPr indent="228600" latinLnBrk="0">
      <a:defRPr sz="1200">
        <a:latin typeface="+mn-lt"/>
        <a:ea typeface="+mn-ea"/>
        <a:cs typeface="+mn-cs"/>
        <a:sym typeface="Pretendard"/>
      </a:defRPr>
    </a:lvl2pPr>
    <a:lvl3pPr indent="457200" latinLnBrk="0">
      <a:defRPr sz="1200">
        <a:latin typeface="+mn-lt"/>
        <a:ea typeface="+mn-ea"/>
        <a:cs typeface="+mn-cs"/>
        <a:sym typeface="Pretendard"/>
      </a:defRPr>
    </a:lvl3pPr>
    <a:lvl4pPr indent="685800" latinLnBrk="0">
      <a:defRPr sz="1200">
        <a:latin typeface="+mn-lt"/>
        <a:ea typeface="+mn-ea"/>
        <a:cs typeface="+mn-cs"/>
        <a:sym typeface="Pretendard"/>
      </a:defRPr>
    </a:lvl4pPr>
    <a:lvl5pPr indent="914400" latinLnBrk="0">
      <a:defRPr sz="1200">
        <a:latin typeface="+mn-lt"/>
        <a:ea typeface="+mn-ea"/>
        <a:cs typeface="+mn-cs"/>
        <a:sym typeface="Pretendard"/>
      </a:defRPr>
    </a:lvl5pPr>
    <a:lvl6pPr indent="1143000" latinLnBrk="0">
      <a:defRPr sz="1200">
        <a:latin typeface="+mn-lt"/>
        <a:ea typeface="+mn-ea"/>
        <a:cs typeface="+mn-cs"/>
        <a:sym typeface="Pretendard"/>
      </a:defRPr>
    </a:lvl6pPr>
    <a:lvl7pPr indent="1371600" latinLnBrk="0">
      <a:defRPr sz="1200">
        <a:latin typeface="+mn-lt"/>
        <a:ea typeface="+mn-ea"/>
        <a:cs typeface="+mn-cs"/>
        <a:sym typeface="Pretendard"/>
      </a:defRPr>
    </a:lvl7pPr>
    <a:lvl8pPr indent="1600200" latinLnBrk="0">
      <a:defRPr sz="1200">
        <a:latin typeface="+mn-lt"/>
        <a:ea typeface="+mn-ea"/>
        <a:cs typeface="+mn-cs"/>
        <a:sym typeface="Pretendard"/>
      </a:defRPr>
    </a:lvl8pPr>
    <a:lvl9pPr indent="1828800" latinLnBrk="0">
      <a:defRPr sz="1200">
        <a:latin typeface="+mn-lt"/>
        <a:ea typeface="+mn-ea"/>
        <a:cs typeface="+mn-cs"/>
        <a:sym typeface="Pretendard"/>
      </a:defRPr>
    </a:lvl9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Pretendard"/>
        <a:ea typeface="Pretendard"/>
        <a:cs typeface="Pretendard"/>
      </a:majorFont>
      <a:minorFont>
        <a:latin typeface="Pretendard"/>
        <a:ea typeface="Pretendard"/>
        <a:cs typeface="Pretendard"/>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slides/slide1.xml" Id="Rbec68d271ddf42fc"/><Relationship Type="http://schemas.openxmlformats.org/officeDocument/2006/relationships/notesMaster" Target="../notesMasters/notesMaster1.xml" Id="R2975b19f33804232"/></Relationships>
</file>

<file path=ppt/notesSlides/_rels/notesSlide2.xml.rels><?xml version='1.0' encoding='UTF-8' standalone='yes'?>
<Relationships xmlns="http://schemas.openxmlformats.org/package/2006/relationships"><Relationship Type="http://schemas.openxmlformats.org/officeDocument/2006/relationships/slide" Target="../slides/slide2.xml" Id="R5b03c9f8884645a0"/><Relationship Type="http://schemas.openxmlformats.org/officeDocument/2006/relationships/notesMaster" Target="../notesMasters/notesMaster1.xml" Id="R2c8b30c4e1e046ac"/></Relationships>
</file>

<file path=ppt/notesSlides/_rels/notesSlide3.xml.rels><?xml version='1.0' encoding='UTF-8' standalone='yes'?>
<Relationships xmlns="http://schemas.openxmlformats.org/package/2006/relationships"><Relationship Type="http://schemas.openxmlformats.org/officeDocument/2006/relationships/slide" Target="../slides/slide3.xml" Id="R2a757b21ba2e45eb"/><Relationship Type="http://schemas.openxmlformats.org/officeDocument/2006/relationships/notesMaster" Target="../notesMasters/notesMaster1.xml" Id="Re70e32b85aa14908"/></Relationships>
</file>

<file path=ppt/notesSlides/_rels/notesSlide4.xml.rels><?xml version='1.0' encoding='UTF-8' standalone='yes'?>
<Relationships xmlns="http://schemas.openxmlformats.org/package/2006/relationships"><Relationship Type="http://schemas.openxmlformats.org/officeDocument/2006/relationships/slide" Target="../slides/slide4.xml" Id="R01772541df85420c"/><Relationship Type="http://schemas.openxmlformats.org/officeDocument/2006/relationships/notesMaster" Target="../notesMasters/notesMaster1.xml" Id="R1ebcff25ff604058"/></Relationships>
</file>

<file path=ppt/notesSlides/_rels/notesSlide5.xml.rels><?xml version='1.0' encoding='UTF-8' standalone='yes'?>
<Relationships xmlns="http://schemas.openxmlformats.org/package/2006/relationships"><Relationship Type="http://schemas.openxmlformats.org/officeDocument/2006/relationships/slide" Target="../slides/slide5.xml" Id="R0a7bc1b609374060"/><Relationship Type="http://schemas.openxmlformats.org/officeDocument/2006/relationships/notesMaster" Target="../notesMasters/notesMaster1.xml" Id="R5465bb2f099b4519"/></Relationships>
</file>

<file path=ppt/notesSlides/_rels/notesSlide6.xml.rels><?xml version='1.0' encoding='UTF-8' standalone='yes'?>
<Relationships xmlns="http://schemas.openxmlformats.org/package/2006/relationships"><Relationship Type="http://schemas.openxmlformats.org/officeDocument/2006/relationships/slide" Target="../slides/slide6.xml" Id="Rdefc1c56f0ba40b6"/><Relationship Type="http://schemas.openxmlformats.org/officeDocument/2006/relationships/notesMaster" Target="../notesMasters/notesMaster1.xml" Id="R8d7b0243312847a6"/></Relationships>
</file>

<file path=ppt/notesSlides/_rels/notesSlide7.xml.rels><?xml version='1.0' encoding='UTF-8' standalone='yes'?>
<Relationships xmlns="http://schemas.openxmlformats.org/package/2006/relationships"><Relationship Type="http://schemas.openxmlformats.org/officeDocument/2006/relationships/slide" Target="../slides/slide7.xml" Id="Red287a72e0fa474e"/><Relationship Type="http://schemas.openxmlformats.org/officeDocument/2006/relationships/notesMaster" Target="../notesMasters/notesMaster1.xml" Id="Rb287092488064ee7"/></Relationships>
</file>

<file path=ppt/notesSlides/_rels/notesSlide8.xml.rels><?xml version='1.0' encoding='UTF-8' standalone='yes'?>
<Relationships xmlns="http://schemas.openxmlformats.org/package/2006/relationships"><Relationship Type="http://schemas.openxmlformats.org/officeDocument/2006/relationships/slide" Target="../slides/slide8.xml" Id="R2edf6a3032cb4c76"/><Relationship Type="http://schemas.openxmlformats.org/officeDocument/2006/relationships/notesMaster" Target="../notesMasters/notesMaster1.xml" Id="R18e93a3782384e9f"/></Relationships>
</file>

<file path=ppt/notesSlides/_rels/notesSlide9.xml.rels><?xml version='1.0' encoding='UTF-8' standalone='yes'?>
<Relationships xmlns="http://schemas.openxmlformats.org/package/2006/relationships"><Relationship Type="http://schemas.openxmlformats.org/officeDocument/2006/relationships/slide" Target="../slides/slide9.xml" Id="Rdd49641113e74606"/><Relationship Type="http://schemas.openxmlformats.org/officeDocument/2006/relationships/notesMaster" Target="../notesMasters/notesMaster1.xml" Id="Rd5c7d66c502b4f18"/></Relationships>
</file>

<file path=ppt/notesSlides/_rels/notesSlide10.xml.rels><?xml version='1.0' encoding='UTF-8' standalone='yes'?>
<Relationships xmlns="http://schemas.openxmlformats.org/package/2006/relationships"><Relationship Type="http://schemas.openxmlformats.org/officeDocument/2006/relationships/slide" Target="../slides/slide10.xml" Id="Rc9fcded3cd334993"/><Relationship Type="http://schemas.openxmlformats.org/officeDocument/2006/relationships/notesMaster" Target="../notesMasters/notesMaster1.xml" Id="R9ec2099ac4af4cdb"/></Relationships>
</file>

<file path=ppt/notesSlides/_rels/notesSlide11.xml.rels><?xml version='1.0' encoding='UTF-8' standalone='yes'?>
<Relationships xmlns="http://schemas.openxmlformats.org/package/2006/relationships"><Relationship Type="http://schemas.openxmlformats.org/officeDocument/2006/relationships/slide" Target="../slides/slide11.xml" Id="Reff32103c4904108"/><Relationship Type="http://schemas.openxmlformats.org/officeDocument/2006/relationships/notesMaster" Target="../notesMasters/notesMaster1.xml" Id="Ra6c5f6e23aa4459d"/></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 name="Shape 71"/>
          <p:cNvSpPr/>
          <p:nvPr>
            <p:ph type="sldImg"/>
          </p:nvPr>
        </p:nvSpPr>
        <p:spPr>
          <a:prstGeom prst="rect">
            <a:avLst/>
          </a:prstGeom>
        </p:spPr>
        <p:txBody>
          <a:bodyPr/>
          <a:lstStyle/>
          <a:p>
            <a:pPr/>
          </a:p>
        </p:txBody>
      </p:sp>
      <p:sp>
        <p:nvSpPr>
          <p:cNvPr id="72" name="Shape 72"/>
          <p:cNvSpPr/>
          <p:nvPr>
            <p:ph type="body" sz="quarter" idx="1"/>
          </p:nvPr>
        </p:nvSpPr>
        <p:spPr>
          <a:prstGeom prst="rect">
            <a:avLst/>
          </a:prstGeom>
        </p:spPr>
        <p:txBody>
          <a:bodyPr/>
          <a:lstStyle/>
          <a:p>
            <a:pPr>
              <a:buNone/>
            </a:pPr>
            <a:r>
              <a:t>[목표 35초]</a:t>
            </a:r>
          </a:p>
          <a:p>
            <a:pPr>
              <a:buNone/>
            </a:pPr>
            <a:r>
              <a:t/>
            </a:r>
          </a:p>
          <a:p>
            <a:pPr>
              <a:buNone/>
            </a:pPr>
            <a:r>
              <a:t>안녕하세요. 제가 만든 여행 서비스, 고잉을 소개하겠습니다.</a:t>
            </a:r>
          </a:p>
          <a:p>
            <a:pPr>
              <a:buNone/>
            </a:pPr>
            <a:r>
              <a:t/>
            </a:r>
          </a:p>
          <a:p>
            <a:pPr>
              <a:buNone/>
            </a:pPr>
            <a:r>
              <a:t>저는 여행하는 것도 좋아하고 새로운 음식점을 찾아다니는 것도 좋아합니다. 그런데 여행을 갈 때마다 식당을 검색하고, 리뷰를 읽고, 숙소에서 얼마나 먼지 비교하는 과정이 꽤 번거로웠습니다. 예약을 해 놓고도 시간을 확인하려고 메일함을 다시 찾아야 했고요.</a:t>
            </a:r>
          </a:p>
          <a:p>
            <a:pPr>
              <a:buNone/>
            </a:pPr>
            <a:r>
              <a:t/>
            </a:r>
          </a:p>
          <a:p>
            <a:pPr>
              <a:buNone/>
            </a:pPr>
            <a:r>
              <a:t>그래서 제가 여행을 준비할 때 직접 쓰고 싶은 서비스를 만들어 봤습니다. 오늘은 어떤 불편함에서 시작했고, 그걸 어떤 기능으로 해결하려 했는지 보여드리겠습니다.</a:t>
            </a:r>
          </a:p>
          <a:p>
            <a:pPr>
              <a:buNone/>
            </a:pPr>
            <a:r>
              <a:t/>
            </a:r>
          </a:p>
          <a:p>
            <a:pPr>
              <a:buNone/>
            </a:pPr>
            <a:r>
              <a:t>화면 안내: 제목을 보여주며 개인적인 계기부터 말합니다.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buNone/>
            </a:pPr>
            <a:r>
              <a:t>[목표 45초]</a:t>
            </a:r>
          </a:p>
          <a:p>
            <a:pPr>
              <a:buNone/>
            </a:pPr>
            <a:r>
              <a:t/>
            </a:r>
          </a:p>
          <a:p>
            <a:pPr>
              <a:buNone/>
            </a:pPr>
            <a:r>
              <a:t>예를 들어 도쿄 여행을 간다고 하면, 먼저 어디에서 밥을 먹을지 검색합니다. 한국어로 많이 소개된 곳도 좋지만, 현지어 리뷰가 많은 다른 식당도 찾아보고 싶었습니다. 그러다 마음에 드는 곳을 찾으면 이번에는 숙소와의 거리, 영업시간, 예약 방법을 따로 확인해야 했습니다.</a:t>
            </a:r>
          </a:p>
          <a:p>
            <a:pPr>
              <a:buNone/>
            </a:pPr>
            <a:r>
              <a:t/>
            </a:r>
          </a:p>
          <a:p>
            <a:pPr>
              <a:buNone/>
            </a:pPr>
            <a:r>
              <a:t>이미 예약한 항공권이나 호텔 정보는 메일에 있고, 가고 싶은 장소는 지도에 있고, 하루 일정은 메모에 있었습니다. 정보를 하나씩 찾는 것보다 그걸 서로 맞춰 보는 과정이 더 번거로웠습니다.</a:t>
            </a:r>
          </a:p>
          <a:p>
            <a:pPr>
              <a:buNone/>
            </a:pPr>
            <a:r>
              <a:t/>
            </a:r>
          </a:p>
          <a:p>
            <a:pPr>
              <a:buNone/>
            </a:pPr>
            <a:r>
              <a:t>그래서 고잉은 여행 하나 안에서 예약과 장소, 일정을 이어서 볼 수 있게 기획했습니다.</a:t>
            </a:r>
          </a:p>
          <a:p>
            <a:pPr>
              <a:buNone/>
            </a:pPr>
            <a:r>
              <a:t/>
            </a:r>
          </a:p>
          <a:p>
            <a:pPr>
              <a:buNone/>
            </a:pPr>
            <a:r>
              <a:t>화면 안내: 식당을 고르는 질문과 예약을 확인하는 질문을 차례로 짚습니다.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Shape 97"/>
          <p:cNvSpPr/>
          <p:nvPr>
            <p:ph type="sldImg"/>
          </p:nvPr>
        </p:nvSpPr>
        <p:spPr>
          <a:prstGeom prst="rect">
            <a:avLst/>
          </a:prstGeom>
        </p:spPr>
        <p:txBody>
          <a:bodyPr/>
          <a:lstStyle/>
          <a:p>
            <a:pPr/>
          </a:p>
        </p:txBody>
      </p:sp>
      <p:sp>
        <p:nvSpPr>
          <p:cNvPr id="98" name="Shape 98"/>
          <p:cNvSpPr/>
          <p:nvPr>
            <p:ph type="body" sz="quarter" idx="1"/>
          </p:nvPr>
        </p:nvSpPr>
        <p:spPr>
          <a:prstGeom prst="rect">
            <a:avLst/>
          </a:prstGeom>
        </p:spPr>
        <p:txBody>
          <a:bodyPr/>
          <a:lstStyle/>
          <a:p>
            <a:pPr>
              <a:buNone/>
            </a:pPr>
            <a:r>
              <a:t>[목표 35초]</a:t>
            </a:r>
          </a:p>
          <a:p>
            <a:pPr>
              <a:buNone/>
            </a:pPr>
            <a:r>
              <a:t/>
            </a:r>
          </a:p>
          <a:p>
            <a:pPr>
              <a:buNone/>
            </a:pPr>
            <a:r>
              <a:t>사용할 때는 도시와 날짜로 여행을 하나 만듭니다. 그다음에는 같은 정보를 매번 입력하지 않아도 됩니다. 숙소나 음식 취향은 필요할 때 추가하면 됩니다.</a:t>
            </a:r>
          </a:p>
          <a:p>
            <a:pPr>
              <a:buNone/>
            </a:pPr>
            <a:r>
              <a:t/>
            </a:r>
          </a:p>
          <a:p>
            <a:pPr>
              <a:buNone/>
            </a:pPr>
            <a:r>
              <a:t>기능을 늘리다 보니 오히려 어디서 시작해야 할지 알기 어려워진 적이 있었습니다. 그래서 가장 많이 쓰는 추천과 AI 질문을 메인으로 꺼냈습니다. 최근 살펴본 장소 세 곳에서 상세를 보거나 바로 저장하고, 아래에서는 예약에 대해 물어볼 수 있습니다.</a:t>
            </a:r>
          </a:p>
          <a:p>
            <a:pPr>
              <a:buNone/>
            </a:pPr>
            <a:r>
              <a:t/>
            </a:r>
          </a:p>
          <a:p>
            <a:pPr>
              <a:buNone/>
            </a:pPr>
            <a:r>
              <a:t>추천을 기다리다가 다른 화면으로 가도 진행 상태가 이어집니다. 여행을 바꿀 때도 보고 있던 메뉴를 유지하도록 고쳤습니다. 화면은 배포된 서비스에 넣은 가상 도쿄 여행입니다.</a:t>
            </a:r>
          </a:p>
          <a:p>
            <a:pPr>
              <a:buNone/>
            </a:pPr>
            <a:r>
              <a:t/>
            </a:r>
          </a:p>
          <a:p>
            <a:pPr>
              <a:buNone/>
            </a:pPr>
            <a:r>
              <a:t>화면 안내: 홈의 추천 카드와 바로 아래 AI 질문 입력창을 차례로 짚습니다.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9" name="Shape 109"/>
          <p:cNvSpPr/>
          <p:nvPr>
            <p:ph type="sldImg"/>
          </p:nvPr>
        </p:nvSpPr>
        <p:spPr>
          <a:prstGeom prst="rect">
            <a:avLst/>
          </a:prstGeom>
        </p:spPr>
        <p:txBody>
          <a:bodyPr/>
          <a:lstStyle/>
          <a:p>
            <a:pPr/>
          </a:p>
        </p:txBody>
      </p:sp>
      <p:sp>
        <p:nvSpPr>
          <p:cNvPr id="110" name="Shape 110"/>
          <p:cNvSpPr/>
          <p:nvPr>
            <p:ph type="body" sz="quarter" idx="1"/>
          </p:nvPr>
        </p:nvSpPr>
        <p:spPr>
          <a:prstGeom prst="rect">
            <a:avLst/>
          </a:prstGeom>
        </p:spPr>
        <p:txBody>
          <a:bodyPr/>
          <a:lstStyle/>
          <a:p>
            <a:pPr>
              <a:buNone/>
            </a:pPr>
            <a:r>
              <a:t>[목표 50초]</a:t>
            </a:r>
          </a:p>
          <a:p>
            <a:pPr>
              <a:buNone/>
            </a:pPr>
            <a:r>
              <a:t/>
            </a:r>
          </a:p>
          <a:p>
            <a:pPr>
              <a:buNone/>
            </a:pPr>
            <a:r>
              <a:t>가장 먼저 만든 기능은 예약 메일 분석이었습니다. 항공권이나 숙소 확인 메일을 올리면 날짜, 시간, 장소 같은 내용을 예약으로 정리합니다. 한 메일에 여러 예약이 있거나 왕복 항공편이 들어 있는 경우도 구분해서 보관합니다.</a:t>
            </a:r>
          </a:p>
          <a:p>
            <a:pPr>
              <a:buNone/>
            </a:pPr>
            <a:r>
              <a:t/>
            </a:r>
          </a:p>
          <a:p>
            <a:pPr>
              <a:buNone/>
            </a:pPr>
            <a:r>
              <a:t>이때 AI가 읽은 내용을 바로 확정된 사실로 취급하지는 않습니다. 사용자가 확인하고 잘못된 값을 수정할 수 있게 했습니다. 사용자가 고친 값은 원래 추출한 값과 따로 저장해서 다시 분석해도 사라지지 않도록 했습니다.</a:t>
            </a:r>
          </a:p>
          <a:p>
            <a:pPr>
              <a:buNone/>
            </a:pPr>
            <a:r>
              <a:t/>
            </a:r>
          </a:p>
          <a:p>
            <a:pPr>
              <a:buNone/>
            </a:pPr>
            <a:r>
              <a:t>실제 AI 분석에는 OpenAI gpt-5-mini를 사용합니다. 지금 화면은 발표용 가상 메일을 비용 없는 기본 분석으로 처리한 예시입니다. 분석이 실패했을 때 기존 예약을 지우지 않고, 작업 상태를 다시 확인할 수 있도록 만드는 데도 신경 썼습니다.</a:t>
            </a:r>
          </a:p>
          <a:p>
            <a:pPr>
              <a:buNone/>
            </a:pPr>
            <a:r>
              <a:t/>
            </a:r>
          </a:p>
          <a:p>
            <a:pPr>
              <a:buNone/>
            </a:pPr>
            <a:r>
              <a:t>화면 안내: 호텔의 체크인·체크아웃 시간과 확인 필요 상태를 짚습니다.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119"/>
          <p:cNvSpPr/>
          <p:nvPr>
            <p:ph type="sldImg"/>
          </p:nvPr>
        </p:nvSpPr>
        <p:spPr>
          <a:prstGeom prst="rect">
            <a:avLst/>
          </a:prstGeom>
        </p:spPr>
        <p:txBody>
          <a:bodyPr/>
          <a:lstStyle/>
          <a:p>
            <a:pPr/>
          </a:p>
        </p:txBody>
      </p:sp>
      <p:sp>
        <p:nvSpPr>
          <p:cNvPr id="120" name="Shape 120"/>
          <p:cNvSpPr/>
          <p:nvPr>
            <p:ph type="body" sz="quarter" idx="1"/>
          </p:nvPr>
        </p:nvSpPr>
        <p:spPr>
          <a:prstGeom prst="rect">
            <a:avLst/>
          </a:prstGeom>
        </p:spPr>
        <p:txBody>
          <a:bodyPr/>
          <a:lstStyle/>
          <a:p>
            <a:pPr>
              <a:buNone/>
            </a:pPr>
            <a:r>
              <a:t>[목표 40초]</a:t>
            </a:r>
          </a:p>
          <a:p>
            <a:pPr>
              <a:buNone/>
            </a:pPr>
            <a:r>
              <a:t/>
            </a:r>
          </a:p>
          <a:p>
            <a:pPr>
              <a:buNone/>
            </a:pPr>
            <a:r>
              <a:t>AI 질문은 이제 더보기를 찾지 않아도 메인에서 바로 시작할 수 있습니다. 예시 질문을 고르거나 직접 입력하면 대화 화면으로 이어집니다.</a:t>
            </a:r>
          </a:p>
          <a:p>
            <a:pPr>
              <a:buNone/>
            </a:pPr>
            <a:r>
              <a:t/>
            </a:r>
          </a:p>
          <a:p>
            <a:pPr>
              <a:buNone/>
            </a:pPr>
            <a:r>
              <a:t>왼쪽은 첫날 예약을 모두 알려 달라고 물은 결과입니다. 테스트용 수동 예약 한 건을 정확히 가져왔고, 오른쪽에서는 직접 입력한 예약이라는 출처를 보여줍니다. 이 예약에는 메일 원문이 없다는 점도 표시합니다.</a:t>
            </a:r>
          </a:p>
          <a:p>
            <a:pPr>
              <a:buNone/>
            </a:pPr>
            <a:r>
              <a:t/>
            </a:r>
          </a:p>
          <a:p>
            <a:pPr>
              <a:buNone/>
            </a:pPr>
            <a:r>
              <a:t>날짜별 질문은 검색 점수가 높은 몇 개를 고르는 대신 저장된 예약을 날짜 범위로 모두 조회합니다. 환불 규정처럼 본문이 필요한 질문은 관련 메일을 검색해 답하고 원문을 연결합니다. AI가 답해 주는 것과 함께, 제가 다시 확인할 수 있는 근거를 남기는 데 신경 썼습니다.</a:t>
            </a:r>
          </a:p>
          <a:p>
            <a:pPr>
              <a:buNone/>
            </a:pPr>
            <a:r>
              <a:t/>
            </a:r>
          </a:p>
          <a:p>
            <a:pPr>
              <a:buNone/>
            </a:pPr>
            <a:r>
              <a:t>화면 안내: 최신 답변과 직접 입력 출처를 짚고, 메일 원문 질문과 구분합니다.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 name="Shape 131"/>
          <p:cNvSpPr/>
          <p:nvPr>
            <p:ph type="sldImg"/>
          </p:nvPr>
        </p:nvSpPr>
        <p:spPr>
          <a:prstGeom prst="rect">
            <a:avLst/>
          </a:prstGeom>
        </p:spPr>
        <p:txBody>
          <a:bodyPr/>
          <a:lstStyle/>
          <a:p>
            <a:pPr/>
          </a:p>
        </p:txBody>
      </p:sp>
      <p:sp>
        <p:nvSpPr>
          <p:cNvPr id="132" name="Shape 132"/>
          <p:cNvSpPr/>
          <p:nvPr>
            <p:ph type="body" sz="quarter" idx="1"/>
          </p:nvPr>
        </p:nvSpPr>
        <p:spPr>
          <a:prstGeom prst="rect">
            <a:avLst/>
          </a:prstGeom>
        </p:spPr>
        <p:txBody>
          <a:bodyPr/>
          <a:lstStyle/>
          <a:p>
            <a:pPr>
              <a:buNone/>
            </a:pPr>
            <a:r>
              <a:t>[목표 40초]</a:t>
            </a:r>
          </a:p>
          <a:p>
            <a:pPr>
              <a:buNone/>
            </a:pPr>
            <a:r>
              <a:t/>
            </a:r>
          </a:p>
          <a:p>
            <a:pPr>
              <a:buNone/>
            </a:pPr>
            <a:r>
              <a:t>장소 추천에서는 여행에 입력한 날짜와 인원을 그대로 사용합니다. 음식점이나 카페를 고른 뒤, 더 필요한 경우에만 취향이나 예산을 바꾸도록 했습니다. 모든 카드에 반복되던 긴 확인 문구는 줄이고 상세 보기와 저장을 중심으로 정리했습니다.</a:t>
            </a:r>
          </a:p>
          <a:p>
            <a:pPr>
              <a:buNone/>
            </a:pPr>
            <a:r>
              <a:t/>
            </a:r>
          </a:p>
          <a:p>
            <a:pPr>
              <a:buNone/>
            </a:pPr>
            <a:r>
              <a:t>사진이 확보된 곳은 최대 세 장까지 볼 수 있습니다. 다만 무료 지도 자료에는 사진이 없는 식당이 많습니다. 이번에는 사진 출처 하나가 실패하면 다른 정상 출처까지 막히던 처리를 고쳤고, 파리 식당 한 곳의 실제 표시를 확인했습니다. 화면은 사진 기능을 보여주는 이전 마드리드 예시이고, 모든 식당의 사진이 나온다는 뜻은 아닙니다.</a:t>
            </a:r>
          </a:p>
          <a:p>
            <a:pPr>
              <a:buNone/>
            </a:pPr>
            <a:r>
              <a:t/>
            </a:r>
          </a:p>
          <a:p>
            <a:pPr>
              <a:buNone/>
            </a:pPr>
            <a:r>
              <a:t>숙소 좌표가 확인되면 숙소 기준으로 거리를 비교합니다. 출발점을 고르지 않았으면 도심 기준이라고 명시합니다. 마음에 드는 곳은 바로 저장하고 같은 조건으로 최대 세 곳을 비교할 수 있습니다.</a:t>
            </a:r>
          </a:p>
          <a:p>
            <a:pPr>
              <a:buNone/>
            </a:pPr>
            <a:r>
              <a:t/>
            </a:r>
          </a:p>
          <a:p>
            <a:pPr>
              <a:buNone/>
            </a:pPr>
            <a:r>
              <a:t>화면 안내: 사진이 있는 이전 마드리드 예시와 현재 무료 사진의 한계를 함께 설명합니다.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3" name="Shape 143"/>
          <p:cNvSpPr/>
          <p:nvPr>
            <p:ph type="sldImg"/>
          </p:nvPr>
        </p:nvSpPr>
        <p:spPr>
          <a:prstGeom prst="rect">
            <a:avLst/>
          </a:prstGeom>
        </p:spPr>
        <p:txBody>
          <a:bodyPr/>
          <a:lstStyle/>
          <a:p>
            <a:pPr/>
          </a:p>
        </p:txBody>
      </p:sp>
      <p:sp>
        <p:nvSpPr>
          <p:cNvPr id="144" name="Shape 144"/>
          <p:cNvSpPr/>
          <p:nvPr>
            <p:ph type="body" sz="quarter" idx="1"/>
          </p:nvPr>
        </p:nvSpPr>
        <p:spPr>
          <a:prstGeom prst="rect">
            <a:avLst/>
          </a:prstGeom>
        </p:spPr>
        <p:txBody>
          <a:bodyPr/>
          <a:lstStyle/>
          <a:p>
            <a:pPr>
              <a:buNone/>
            </a:pPr>
            <a:r>
              <a:t>[목표 50초]</a:t>
            </a:r>
          </a:p>
          <a:p>
            <a:pPr>
              <a:buNone/>
            </a:pPr>
            <a:r>
              <a:t/>
            </a:r>
          </a:p>
          <a:p>
            <a:pPr>
              <a:buNone/>
            </a:pPr>
            <a:r>
              <a:t>추천은 두 가지 방향으로 나눴습니다. 하나는 현지 탐색입니다. 제가 특히 해보고 싶었던 기능은 현지어 원문 리뷰가 충분하고 한국어 리뷰가 적게 관측된 곳을 찾아보는 것이었습니다. 직접 외국어 리뷰를 하나씩 살펴보는 수고를 덜고 싶었습니다.</a:t>
            </a:r>
          </a:p>
          <a:p>
            <a:pPr>
              <a:buNone/>
            </a:pPr>
            <a:r>
              <a:t/>
            </a:r>
          </a:p>
          <a:p>
            <a:pPr>
              <a:buNone/>
            </a:pPr>
            <a:r>
              <a:t>다른 하나는 유명한 곳입니다. 여행지에 가면 꼭 가보고 싶은 대표 명소나 잘 알려진 식당도 있으니까요. 이쪽은 공식 소개 자료나 같은 플랫폼의 평가 규모처럼 유명함을 설명할 수 있는 근거를 따로 봅니다.</a:t>
            </a:r>
          </a:p>
          <a:p>
            <a:pPr>
              <a:buNone/>
            </a:pPr>
            <a:r>
              <a:t/>
            </a:r>
          </a:p>
          <a:p>
            <a:pPr>
              <a:buNone/>
            </a:pPr>
            <a:r>
              <a:t>현지어로 리뷰를 썼다고 현지 주민이라고 단정할 수는 없습니다. 그래서 관측한 리뷰의 언어 구성으로 설명하고, 언어를 모르는 리뷰도 함께 계산하도록 했습니다. 엄격한 현지어 추천은 실제 데이터 이용 범위와 언어 품질 검증을 마친 뒤 켤 계획입니다. 지금은 꺼 둔 상태입니다.</a:t>
            </a:r>
          </a:p>
          <a:p>
            <a:pPr>
              <a:buNone/>
            </a:pPr>
            <a:r>
              <a:t/>
            </a:r>
          </a:p>
          <a:p>
            <a:pPr>
              <a:buNone/>
            </a:pPr>
            <a:r>
              <a:t>화면 안내: 현지 탐색과 유명한 곳을 비교한 뒤 하단의 개발 상태를 설명합니다.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Shape 158"/>
          <p:cNvSpPr/>
          <p:nvPr>
            <p:ph type="sldImg"/>
          </p:nvPr>
        </p:nvSpPr>
        <p:spPr>
          <a:prstGeom prst="rect">
            <a:avLst/>
          </a:prstGeom>
        </p:spPr>
        <p:txBody>
          <a:bodyPr/>
          <a:lstStyle/>
          <a:p>
            <a:pPr/>
          </a:p>
        </p:txBody>
      </p:sp>
      <p:sp>
        <p:nvSpPr>
          <p:cNvPr id="159" name="Shape 159"/>
          <p:cNvSpPr/>
          <p:nvPr>
            <p:ph type="body" sz="quarter" idx="1"/>
          </p:nvPr>
        </p:nvSpPr>
        <p:spPr>
          <a:prstGeom prst="rect">
            <a:avLst/>
          </a:prstGeom>
        </p:spPr>
        <p:txBody>
          <a:bodyPr/>
          <a:lstStyle/>
          <a:p>
            <a:pPr>
              <a:buNone/>
            </a:pPr>
            <a:r>
              <a:t>[목표 50초]</a:t>
            </a:r>
          </a:p>
          <a:p>
            <a:pPr>
              <a:buNone/>
            </a:pPr>
            <a:r>
              <a:t/>
            </a:r>
          </a:p>
          <a:p>
            <a:pPr>
              <a:buNone/>
            </a:pPr>
            <a:r>
              <a:t>고른 장소는 실제로 갈 수 있는 일정으로 이어져야 합니다. 그래서 이미 확정된 예약을 먼저 두고, 남은 시간에 다른 장소를 넣을 수 있는지 계산하게 했습니다.</a:t>
            </a:r>
          </a:p>
          <a:p>
            <a:pPr>
              <a:buNone/>
            </a:pPr>
            <a:r>
              <a:t/>
            </a:r>
          </a:p>
          <a:p>
            <a:pPr>
              <a:buNone/>
            </a:pPr>
            <a:r>
              <a:t>점심이 한 시에 끝나고 다음 예약이 세 시라면 빈 시간은 두 시간입니다. 여기에 90분 머무는 장소를 넣고 앞뒤 이동에 각각 30분이 걸리면 총 150분이 필요합니다. 머무는 시간만 보면 들어갈 것 같지만 실제로는 30분이 부족한 겁니다.</a:t>
            </a:r>
          </a:p>
          <a:p>
            <a:pPr>
              <a:buNone/>
            </a:pPr>
            <a:r>
              <a:t/>
            </a:r>
          </a:p>
          <a:p>
            <a:pPr>
              <a:buNone/>
            </a:pPr>
            <a:r>
              <a:t>일정을 편집할 때도 바로 원본을 바꾸지 않고 먼저 영향을 미리 보여줍니다. 확인한 뒤 적용하고, 다시 되돌릴 수 있습니다. 이동시간이나 영업시간을 모르면 확인이 필요하다고 남기고, 확정 예약을 임의로 옮겨서 일정을 맞추지 않도록 했습니다.</a:t>
            </a:r>
          </a:p>
          <a:p>
            <a:pPr>
              <a:buNone/>
            </a:pPr>
            <a:r>
              <a:t/>
            </a:r>
          </a:p>
          <a:p>
            <a:pPr>
              <a:buNone/>
            </a:pPr>
            <a:r>
              <a:t>화면 안내: 두 시간의 빈칸과 필요한 150분을 비교하고 미리보기 흐름을 설명합니다.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2" name="Shape 172"/>
          <p:cNvSpPr/>
          <p:nvPr>
            <p:ph type="sldImg"/>
          </p:nvPr>
        </p:nvSpPr>
        <p:spPr>
          <a:prstGeom prst="rect">
            <a:avLst/>
          </a:prstGeom>
        </p:spPr>
        <p:txBody>
          <a:bodyPr/>
          <a:lstStyle/>
          <a:p>
            <a:pPr/>
          </a:p>
        </p:txBody>
      </p:sp>
      <p:sp>
        <p:nvSpPr>
          <p:cNvPr id="173" name="Shape 173"/>
          <p:cNvSpPr/>
          <p:nvPr>
            <p:ph type="body" sz="quarter" idx="1"/>
          </p:nvPr>
        </p:nvSpPr>
        <p:spPr>
          <a:prstGeom prst="rect">
            <a:avLst/>
          </a:prstGeom>
        </p:spPr>
        <p:txBody>
          <a:bodyPr/>
          <a:lstStyle/>
          <a:p>
            <a:pPr>
              <a:buNone/>
            </a:pPr>
            <a:r>
              <a:t>[목표 55초]</a:t>
            </a:r>
          </a:p>
          <a:p>
            <a:pPr>
              <a:buNone/>
            </a:pPr>
            <a:r>
              <a:t/>
            </a:r>
          </a:p>
          <a:p>
            <a:pPr>
              <a:buNone/>
            </a:pPr>
            <a:r>
              <a:t>처음에는 메일을 읽고 질문에 답하는 기능으로 시작했습니다. 그다음 사용자별 여행 저장, 장소 추천, 일정 편집을 차례로 연결했습니다.</a:t>
            </a:r>
          </a:p>
          <a:p>
            <a:pPr>
              <a:buNone/>
            </a:pPr>
            <a:r>
              <a:t/>
            </a:r>
          </a:p>
          <a:p>
            <a:pPr>
              <a:buNone/>
            </a:pPr>
            <a:r>
              <a:t>화면은 웹으로 만들고 FastAPI 서버가 요청을 처리합니다. Render에 배포하고 여행 데이터와 비공개 파일은 Supabase에 보관합니다. 오래 걸리는 작업은 상태를 저장해서 새로고침한 뒤에도 확인하게 했습니다.</a:t>
            </a:r>
          </a:p>
          <a:p>
            <a:pPr>
              <a:buNone/>
            </a:pPr>
            <a:r>
              <a:t/>
            </a:r>
          </a:p>
          <a:p>
            <a:pPr>
              <a:buNone/>
            </a:pPr>
            <a:r>
              <a:t>메일에서 정보를 읽는 데는 gpt-5-mini를, 본문 검색에는 text-embedding-3-small을 사용합니다. 날짜 조회와 일정의 시간 충돌은 서버 코드로 검사합니다.</a:t>
            </a:r>
          </a:p>
          <a:p>
            <a:pPr>
              <a:buNone/>
            </a:pPr>
            <a:r>
              <a:t/>
            </a:r>
          </a:p>
          <a:p>
            <a:pPr>
              <a:buNone/>
            </a:pPr>
            <a:r>
              <a:t>현재 추천 모델은 hybrid_v5입니다. 취향 태그의 유사도, 평가 수를 고려한 평점, 거리 등을 계산합니다. 이번에는 여러 언어의 음식 이름을 더 연결하고 공개 음식 종류와 도심 거리도 반영했습니다. 사용자 행동을 학습한 모델은 아직 아니고, 실제 여행에서 추천이 얼마나 유용한지는 별도로 평가할 계획입니다.</a:t>
            </a:r>
          </a:p>
          <a:p>
            <a:pPr>
              <a:buNone/>
            </a:pPr>
            <a:r>
              <a:t/>
            </a:r>
          </a:p>
          <a:p>
            <a:pPr>
              <a:buNone/>
            </a:pPr>
            <a:r>
              <a:t>화면 안내: 각 기술 이름보다 맡긴 역할을 중심으로 설명합니다.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6" name="Shape 186"/>
          <p:cNvSpPr/>
          <p:nvPr>
            <p:ph type="sldImg"/>
          </p:nvPr>
        </p:nvSpPr>
        <p:spPr>
          <a:prstGeom prst="rect">
            <a:avLst/>
          </a:prstGeom>
        </p:spPr>
        <p:txBody>
          <a:bodyPr/>
          <a:lstStyle/>
          <a:p>
            <a:pPr/>
          </a:p>
        </p:txBody>
      </p:sp>
      <p:sp>
        <p:nvSpPr>
          <p:cNvPr id="187" name="Shape 187"/>
          <p:cNvSpPr/>
          <p:nvPr>
            <p:ph type="body" sz="quarter" idx="1"/>
          </p:nvPr>
        </p:nvSpPr>
        <p:spPr>
          <a:prstGeom prst="rect">
            <a:avLst/>
          </a:prstGeom>
        </p:spPr>
        <p:txBody>
          <a:bodyPr/>
          <a:lstStyle/>
          <a:p>
            <a:pPr>
              <a:buNone/>
            </a:pPr>
            <a:r>
              <a:t>[목표 40초]</a:t>
            </a:r>
          </a:p>
          <a:p>
            <a:pPr>
              <a:buNone/>
            </a:pPr>
            <a:r>
              <a:t/>
            </a:r>
          </a:p>
          <a:p>
            <a:pPr>
              <a:buNone/>
            </a:pPr>
            <a:r>
              <a:t>이번에는 메인에서 추천을 확인하고 저장한 뒤, 예약을 질문하고 출처를 여는 흐름까지 배포 화면에서 확인했습니다. 기능을 더 넣는 것만큼 기존 기능을 쉽게 쓰게 만드는 일이 중요하다는 걸 느꼈습니다.</a:t>
            </a:r>
          </a:p>
          <a:p>
            <a:pPr>
              <a:buNone/>
            </a:pPr>
            <a:r>
              <a:t/>
            </a:r>
          </a:p>
          <a:p>
            <a:pPr>
              <a:buNone/>
            </a:pPr>
            <a:r>
              <a:t>다음에는 사진과 영업 정보가 비어 있는 장소를 먼저 보강하려고 합니다. 현지어 리뷰 추천은 실제 자료의 이용 범위와 언어 판별 품질을 확인한 뒤 켤 계획입니다. 추천 평가는 제가 만든 예시를 넘어, 순위를 모르는 다른 사람이 후보를 평가하는 방식으로 진행하고 싶습니다.</a:t>
            </a:r>
          </a:p>
          <a:p>
            <a:pPr>
              <a:buNone/>
            </a:pPr>
            <a:r>
              <a:t/>
            </a:r>
          </a:p>
          <a:p>
            <a:pPr>
              <a:buNone/>
            </a:pPr>
            <a:r>
              <a:t>도시 입력은 백 개를 지원하지만 도시마다 자료 수준은 다릅니다. 실제 여행과 휴대폰에서 사용해 보면서 불편한 부분을 계속 줄여 나가겠습니다. 마지막으로 짧은 화면 영상입니다.</a:t>
            </a:r>
          </a:p>
          <a:p>
            <a:pPr>
              <a:buNone/>
            </a:pPr>
            <a:r>
              <a:t/>
            </a:r>
          </a:p>
          <a:p>
            <a:pPr>
              <a:buNone/>
            </a:pPr>
            <a:r>
              <a:t>화면 안내: 사진 확보, 리뷰 품질, 독립 평가의 순서로 설명합니다.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2" name="Shape 192"/>
          <p:cNvSpPr/>
          <p:nvPr>
            <p:ph type="sldImg"/>
          </p:nvPr>
        </p:nvSpPr>
        <p:spPr>
          <a:prstGeom prst="rect">
            <a:avLst/>
          </a:prstGeom>
        </p:spPr>
        <p:txBody>
          <a:bodyPr/>
          <a:lstStyle/>
          <a:p>
            <a:pPr/>
          </a:p>
        </p:txBody>
      </p:sp>
      <p:sp>
        <p:nvSpPr>
          <p:cNvPr id="193" name="Shape 193"/>
          <p:cNvSpPr/>
          <p:nvPr>
            <p:ph type="body" sz="quarter" idx="1"/>
          </p:nvPr>
        </p:nvSpPr>
        <p:spPr>
          <a:prstGeom prst="rect">
            <a:avLst/>
          </a:prstGeom>
        </p:spPr>
        <p:txBody>
          <a:bodyPr/>
          <a:lstStyle/>
          <a:p>
            <a:pPr>
              <a:buNone/>
            </a:pPr>
            <a:r>
              <a:t>[목표 70초]</a:t>
            </a:r>
          </a:p>
          <a:p>
            <a:pPr>
              <a:buNone/>
            </a:pPr>
            <a:r>
              <a:t/>
            </a:r>
          </a:p>
          <a:p>
            <a:pPr>
              <a:buNone/>
            </a:pPr>
            <a:r>
              <a:t>[영상 시작 전]</a:t>
            </a:r>
          </a:p>
          <a:p>
            <a:pPr>
              <a:buNone/>
            </a:pPr>
            <a:r>
              <a:t>실제 서비스 화면 캡처를 편집한 영상입니다. 도쿄는 오늘 확인한 가상 여행이고, 메일과 일정은 이전에 촬영한 발표용 예시입니다.</a:t>
            </a:r>
          </a:p>
          <a:p>
            <a:pPr>
              <a:buNone/>
            </a:pPr>
            <a:r>
              <a:t/>
            </a:r>
          </a:p>
          <a:p>
            <a:pPr>
              <a:buNone/>
            </a:pPr>
            <a:r>
              <a:t>[0~20초]</a:t>
            </a:r>
          </a:p>
          <a:p>
            <a:pPr>
              <a:buNone/>
            </a:pPr>
            <a:r>
              <a:t>메인에서 최근 장소를 보고 바로 저장할 수 있습니다. 아래 입력창에서 예약 질문을 시작하고, 필요한 기능으로 이어갑니다.</a:t>
            </a:r>
          </a:p>
          <a:p>
            <a:pPr>
              <a:buNone/>
            </a:pPr>
            <a:r>
              <a:t/>
            </a:r>
          </a:p>
          <a:p>
            <a:pPr>
              <a:buNone/>
            </a:pPr>
            <a:r>
              <a:t>[20~38초]</a:t>
            </a:r>
          </a:p>
          <a:p>
            <a:pPr>
              <a:buNone/>
            </a:pPr>
            <a:r>
              <a:t>첫날 예약을 모두 조회한 답변과 출처입니다. 직접 입력한 예약에는 메일 원문이 없다는 점도 확인할 수 있습니다.</a:t>
            </a:r>
          </a:p>
          <a:p>
            <a:pPr>
              <a:buNone/>
            </a:pPr>
            <a:r>
              <a:t/>
            </a:r>
          </a:p>
          <a:p>
            <a:pPr>
              <a:buNone/>
            </a:pPr>
            <a:r>
              <a:t>[38~54초]</a:t>
            </a:r>
          </a:p>
          <a:p>
            <a:pPr>
              <a:buNone/>
            </a:pPr>
            <a:r>
              <a:t>추천 화면에서는 여행 날짜를 이어받고 필요한 필터만 고릅니다. 사진이 없는 곳에는 지도에서 사진을 확인하는 경로를 제공합니다.</a:t>
            </a:r>
          </a:p>
          <a:p>
            <a:pPr>
              <a:buNone/>
            </a:pPr>
            <a:r>
              <a:t/>
            </a:r>
          </a:p>
          <a:p>
            <a:pPr>
              <a:buNone/>
            </a:pPr>
            <a:r>
              <a:t>[54~64초]</a:t>
            </a:r>
          </a:p>
          <a:p>
            <a:pPr>
              <a:buNone/>
            </a:pPr>
            <a:r>
              <a:t>예약 메일과 일정은 기존 발표용 화면입니다. 메일을 확인하고, 일정에서는 고정 예약과 충돌을 살펴봅니다.</a:t>
            </a:r>
          </a:p>
          <a:p>
            <a:pPr>
              <a:buNone/>
            </a:pPr>
            <a:r>
              <a:t/>
            </a:r>
          </a:p>
          <a:p>
            <a:pPr>
              <a:buNone/>
            </a:pPr>
            <a:r>
              <a:t>[영상 종료 후]</a:t>
            </a:r>
          </a:p>
          <a:p>
            <a:pPr>
              <a:buNone/>
            </a:pPr>
            <a:r>
              <a:t>제가 좋아하는 여행과 음식점 탐색을 조금 더 편하게 만들고 싶어서 시작했습니다. 앞으로도 직접 쓰면서 고쳐 나가겠습니다. 감사합니다.</a:t>
            </a:r>
          </a:p>
          <a:p>
            <a:pPr>
              <a:buNone/>
            </a:pPr>
            <a:r>
              <a:t/>
            </a:r>
          </a:p>
          <a:p>
            <a:pPr>
              <a:buNone/>
            </a:pPr>
            <a:r>
              <a:t>화면 안내: 70초 캡처 편집 영상. 최신 도쿄 화면과 이전 예시 화면의 표시를 참고합니다.</a:t>
            </a:r>
          </a:p>
          <a:p>
            <a:pPr>
              <a:buNone/>
            </a:pPr>
            <a:r>
              <a:t/>
            </a:r>
          </a:p>
          <a:p>
            <a:pPr>
              <a:buNone/>
            </a:pPr>
            <a:r>
              <a:t>[자료 출처 / 낭독하지 않음]</a:t>
            </a:r>
          </a:p>
          <a:p>
            <a:pPr>
              <a:buNone/>
            </a:pPr>
            <a:r>
              <a:t>https://github.com/Jin-s-work/Travel-Agent</a:t>
            </a:r>
          </a:p>
          <a:p>
            <a:pPr>
              <a:buNone/>
            </a:pPr>
            <a:r>
              <a:t>최신 화면: docs/screenshots/*-v7.jpg, 2026-10-08 운영 서비스의 가상 도쿄 여행</a:t>
            </a:r>
          </a:p>
          <a:p>
            <a:pPr>
              <a:buNone/>
            </a:pPr>
            <a:r>
              <a:t>이전 메일·일정·사진 예시: docs/presentation/CREDITS.md, 2026-10-07 로컬 합성 화면</a:t>
            </a:r>
          </a:p>
          <a:p>
            <a:pPr>
              <a:buNone/>
            </a:pPr>
            <a:r>
              <a:t>추천 v5: docs/service-v3/MAIN_RECOMMENDATION_UX.md 및 src/recommendations/hybrid_v5.py</a:t>
            </a:r>
          </a:p>
          <a:p>
            <a:pPr>
              <a:buNone/>
            </a:pPr>
            <a:r>
              <a:t>기존 v4 합성 평가: docs/service-v4/reports/hybrid-v4-benchmark.md. v5 결과가 아님.</a:t>
            </a:r>
          </a:p>
          <a:p>
            <a:pPr>
              <a:buNone/>
            </a:pPr>
            <a:r>
              <a:t>엄격 현지어 리뷰 추천 OFF. 실제 사용자 만족도 미측정. 100개 도시 입력과 자료 수준은 다름.</a:t>
            </a:r>
          </a:p>
          <a:p>
            <a:pPr>
              <a:buNone/>
            </a:pPr>
            <a:r>
              <a:t>사진: Javier Lastras, CC BY 2.0 https://commons.wikimedia.org/wiki/File:Barra_de_Casa_Lucio_(4245090907).jpg</a:t>
            </a:r>
          </a:p>
          <a:p>
            <a:pPr>
              <a:buNone/>
            </a:pPr>
            <a:r>
              <a:t>사진: Tamorlan, CC BY-SA 3.0 https://commons.wikimedia.org/wiki/File:Gallina_en_Pepitoria_(Ciriaco).JPG</a:t>
            </a:r>
          </a:p>
          <a:p>
            <a:pPr>
              <a:buNone/>
            </a:pPr>
            <a:r>
              <a:t>장소 데이터: OpenStreetMap 기여자 https://www.openstreetmap.org/copyright, Photon https://photon.komoot.io/, GeoNames https://www.geonames.org/</a:t>
            </a:r>
          </a:p>
          <a:p>
            <a:pPr>
              <a:buNone/>
            </a:pPr>
            <a:r>
              <a:t>영상은 실제 캡처의 편집본으로 처리 시간이나 클릭을 재현하지 않음.</a:t>
            </a:r>
          </a:p>
        </p:txBody>
      </p:sp>
    </p:spTree>
  </p:cSld>
  <p:clrMapOvr>
    <a:masterClrMapping/>
  </p:clrMapOvr>
</p:notes>
</file>

<file path=ppt/slideLayouts/_rels/slideLayout1.xml.rels><?xml version='1.0' encoding='UTF-8' standalone='yes'?>
<Relationships xmlns="http://schemas.openxmlformats.org/package/2006/relationships"><Relationship Type="http://schemas.openxmlformats.org/officeDocument/2006/relationships/slideMaster" Target="../slideMasters/slideMaster1.xml" Id="R57f09954c6894fc1"/></Relationships>
</file>

<file path=ppt/slideLayouts/_rels/slideLayout2.xml.rels><?xml version='1.0' encoding='UTF-8' standalone='yes'?>
<Relationships xmlns="http://schemas.openxmlformats.org/package/2006/relationships"><Relationship Type="http://schemas.openxmlformats.org/officeDocument/2006/relationships/slideMaster" Target="../slideMasters/slideMaster1.xml" Id="R51ef1920cfab4dde"/></Relationships>
</file>

<file path=ppt/slideLayouts/_rels/slideLayout3.xml.rels><?xml version='1.0' encoding='UTF-8' standalone='yes'?>
<Relationships xmlns="http://schemas.openxmlformats.org/package/2006/relationships"><Relationship Type="http://schemas.openxmlformats.org/officeDocument/2006/relationships/slideMaster" Target="../slideMasters/slideMaster1.xml" Id="Rb893bca848c0474c"/></Relationships>
</file>

<file path=ppt/slideLayouts/_rels/slideLayout4.xml.rels><?xml version='1.0' encoding='UTF-8' standalone='yes'?>
<Relationships xmlns="http://schemas.openxmlformats.org/package/2006/relationships"><Relationship Type="http://schemas.openxmlformats.org/officeDocument/2006/relationships/slideMaster" Target="../slideMasters/slideMaster1.xml" Id="R69c043c9b43449f4"/></Relationships>
</file>

<file path=ppt/slideLayouts/_rels/slideLayout5.xml.rels><?xml version='1.0' encoding='UTF-8' standalone='yes'?>
<Relationships xmlns="http://schemas.openxmlformats.org/package/2006/relationships"><Relationship Type="http://schemas.openxmlformats.org/officeDocument/2006/relationships/slideMaster" Target="../slideMasters/slideMaster1.xml" Id="R810dd43a84054835"/></Relationships>
</file>

<file path=ppt/slideLayouts/_rels/slideLayout6.xml.rels><?xml version='1.0' encoding='UTF-8' standalone='yes'?>
<Relationships xmlns="http://schemas.openxmlformats.org/package/2006/relationships"><Relationship Type="http://schemas.openxmlformats.org/officeDocument/2006/relationships/slideMaster" Target="../slideMasters/slideMaster1.xml" Id="R28cf0cc864154f94"/></Relationships>
</file>

<file path=ppt/slideLayouts/slideLayout1.xml><?xml version="1.0" encoding="utf-8"?>
<p:sldLayout xmlns:p="http://schemas.openxmlformats.org/presentationml/2006/main" showMasterSp="1" showMasterPhAnim="1" type="title">
  <p:cSld name="Title Slide">
    <p:spTree>
      <p:nvGrpSpPr>
        <p:cNvPr id="1" name=""/>
        <p:cNvGrpSpPr/>
        <p:nvPr/>
      </p:nvGrpSpPr>
      <p:grpSpPr>
        <a:xfrm xmlns:a="http://schemas.openxmlformats.org/drawingml/2006/main"/>
      </p:grpSpPr>
      <p:sp>
        <p:nvSpPr>
          <p:cNvPr id="11" name="제목 텍스트">
            <a:extLst xmlns:a="http://schemas.openxmlformats.org/drawingml/2006/main">
              <a:ext uri="{FF2B5EF4-FFF2-40B4-BE49-F238E27FC236}">
                <a16:creationId xmlns:a16="http://schemas.microsoft.com/office/drawing/2014/main" id="{AD67843B-E562-4949-896A-FD57732B3E7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p:spPr>
        <p:txBody>
          <a:bodyPr xmlns:a="http://schemas.openxmlformats.org/drawingml/2006/main" anchor="ctr"/>
          <a:lstStyle xmlns:a="http://schemas.openxmlformats.org/drawingml/2006/main"/>
          <a:p xmlns:a="http://schemas.openxmlformats.org/drawingml/2006/main">
            <a:pPr>
              <a:buNone/>
            </a:pPr>
            <a:r>
              <a:t>제목 텍스트</a:t>
            </a:r>
          </a:p>
        </p:txBody>
      </p:sp>
      <p:sp>
        <p:nvSpPr>
          <p:cNvPr id="12" name="본문 첫 번째 줄…">
            <a:extLst xmlns:a="http://schemas.openxmlformats.org/drawingml/2006/main">
              <a:ext uri="{FF2B5EF4-FFF2-40B4-BE49-F238E27FC236}">
                <a16:creationId xmlns:a16="http://schemas.microsoft.com/office/drawing/2014/main" id="{7DEA3AF2-AB6E-4554-8E69-35CB1690FDE4}"/>
              </a:ext>
            </a:extLst>
          </p:cNvPr>
          <p:cNvSpPr>
            <a:spLocks xmlns:a="http://schemas.openxmlformats.org/drawingml/2006/main" noGrp="1"/>
          </p:cNvSpPr>
          <p:nvPr>
            <p:ph type="body" idx="1"/>
          </p:nvPr>
        </p:nvSpPr>
        <p:spPr>
          <a:xfrm xmlns:a="http://schemas.openxmlformats.org/drawingml/2006/main">
            <a:off x="1828800" y="3771900"/>
            <a:ext cx="8534400" cy="762000"/>
          </a:xfrm>
          <a:prstGeom xmlns:a="http://schemas.openxmlformats.org/drawingml/2006/main" prst="rect">
            <a:avLst/>
          </a:prstGeom>
        </p:spPr>
        <p:txBody>
          <a:bodyPr xmlns:a="http://schemas.openxmlformats.org/drawingml/2006/main" anchor="ctr"/>
          <a:lstStyle xmlns:a="http://schemas.openxmlformats.org/drawingml/2006/main">
            <a:lvl1pPr marL="0" indent="0">
              <a:spcBef>
                <a:spcPts val="0"/>
              </a:spcBef>
              <a:buSzTx/>
              <a:buNone/>
              <a:defRPr/>
            </a:lvl1pPr>
            <a:lvl2pPr marL="0" indent="0">
              <a:spcBef>
                <a:spcPts val="0"/>
              </a:spcBef>
              <a:buSzTx/>
              <a:buNone/>
              <a:defRPr/>
            </a:lvl2pPr>
            <a:lvl3pPr marL="0" indent="0">
              <a:spcBef>
                <a:spcPts val="0"/>
              </a:spcBef>
              <a:buSzTx/>
              <a:buNone/>
              <a:defRPr/>
            </a:lvl3pPr>
            <a:lvl4pPr marL="0" indent="0">
              <a:spcBef>
                <a:spcPts val="0"/>
              </a:spcBef>
              <a:buSzTx/>
              <a:buNone/>
              <a:defRPr/>
            </a:lvl4pPr>
            <a:lvl5pPr marL="0" indent="0">
              <a:spcBef>
                <a:spcPts val="0"/>
              </a:spcBef>
              <a:buSzTx/>
              <a:buNone/>
              <a:defRPr/>
            </a:lvl5pPr>
          </a:lstStyle>
          <a:p xmlns:a="http://schemas.openxmlformats.org/drawingml/2006/main">
            <a:pPr>
              <a:buNone/>
            </a:pPr>
            <a:r>
              <a:t>본문 첫 번째 줄</a:t>
            </a:r>
          </a:p>
          <a:p xmlns:a="http://schemas.openxmlformats.org/drawingml/2006/main">
            <a:pPr lvl="1">
              <a:buNone/>
            </a:pPr>
            <a:r>
              <a:t>본문 두 번째 줄</a:t>
            </a:r>
          </a:p>
          <a:p xmlns:a="http://schemas.openxmlformats.org/drawingml/2006/main">
            <a:pPr lvl="2">
              <a:buNone/>
            </a:pPr>
            <a:r>
              <a:t>본문 세 번째 줄</a:t>
            </a:r>
          </a:p>
          <a:p xmlns:a="http://schemas.openxmlformats.org/drawingml/2006/main">
            <a:pPr lvl="3">
              <a:buNone/>
            </a:pPr>
            <a:r>
              <a:t>본문 네 번째 줄</a:t>
            </a:r>
          </a:p>
          <a:p xmlns:a="http://schemas.openxmlformats.org/drawingml/2006/main">
            <a:pPr lvl="4">
              <a:buNone/>
            </a:pPr>
            <a:r>
              <a:t>본문 다섯 번째 줄</a:t>
            </a:r>
          </a:p>
        </p:txBody>
      </p:sp>
      <p:sp>
        <p:nvSpPr>
          <p:cNvPr id="13" name="슬라이드 번호">
            <a:extLst xmlns:a="http://schemas.openxmlformats.org/drawingml/2006/main">
              <a:ext uri="{FF2B5EF4-FFF2-40B4-BE49-F238E27FC236}">
                <a16:creationId xmlns:a16="http://schemas.microsoft.com/office/drawing/2014/main" id="{CD76CDA1-485D-47A2-8F62-5FB9F60462EC}"/>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Layouts/slideLayout2.xml><?xml version="1.0" encoding="utf-8"?>
<p:sldLayout xmlns:p="http://schemas.openxmlformats.org/presentationml/2006/main" showMasterSp="1" showMasterPhAnim="1">
  <p:cSld name="Section Header">
    <p:spTree>
      <p:nvGrpSpPr>
        <p:cNvPr id="1" name=""/>
        <p:cNvGrpSpPr/>
        <p:nvPr/>
      </p:nvGrpSpPr>
      <p:grpSpPr>
        <a:xfrm xmlns:a="http://schemas.openxmlformats.org/drawingml/2006/main"/>
      </p:grpSpPr>
      <p:sp>
        <p:nvSpPr>
          <p:cNvPr id="20" name="제목 텍스트">
            <a:extLst xmlns:a="http://schemas.openxmlformats.org/drawingml/2006/main">
              <a:ext uri="{FF2B5EF4-FFF2-40B4-BE49-F238E27FC236}">
                <a16:creationId xmlns:a16="http://schemas.microsoft.com/office/drawing/2014/main" id="{6A0A4053-121D-4EF7-B72A-A598D2F3E35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p:spPr>
        <p:txBody>
          <a:bodyPr xmlns:a="http://schemas.openxmlformats.org/drawingml/2006/main" anchor="ctr"/>
          <a:lstStyle xmlns:a="http://schemas.openxmlformats.org/drawingml/2006/main"/>
          <a:p xmlns:a="http://schemas.openxmlformats.org/drawingml/2006/main">
            <a:pPr>
              <a:buNone/>
            </a:pPr>
            <a:r>
              <a:t>제목 텍스트</a:t>
            </a:r>
          </a:p>
        </p:txBody>
      </p:sp>
      <p:sp>
        <p:nvSpPr>
          <p:cNvPr id="21" name="슬라이드 번호">
            <a:extLst xmlns:a="http://schemas.openxmlformats.org/drawingml/2006/main">
              <a:ext uri="{FF2B5EF4-FFF2-40B4-BE49-F238E27FC236}">
                <a16:creationId xmlns:a16="http://schemas.microsoft.com/office/drawing/2014/main" id="{59D9842E-DEC1-4AFD-A2B8-41DEAFC470AA}"/>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Layouts/slideLayout3.xml><?xml version="1.0" encoding="utf-8"?>
<p:sldLayout xmlns:p="http://schemas.openxmlformats.org/presentationml/2006/main" showMasterSp="1" showMasterPhAnim="1">
  <p:cSld name="Title and Body">
    <p:spTree>
      <p:nvGrpSpPr>
        <p:cNvPr id="1" name=""/>
        <p:cNvGrpSpPr/>
        <p:nvPr/>
      </p:nvGrpSpPr>
      <p:grpSpPr>
        <a:xfrm xmlns:a="http://schemas.openxmlformats.org/drawingml/2006/main"/>
      </p:grpSpPr>
      <p:sp>
        <p:nvSpPr>
          <p:cNvPr id="28" name="제목 텍스트">
            <a:extLst xmlns:a="http://schemas.openxmlformats.org/drawingml/2006/main">
              <a:ext uri="{FF2B5EF4-FFF2-40B4-BE49-F238E27FC236}">
                <a16:creationId xmlns:a16="http://schemas.microsoft.com/office/drawing/2014/main" id="{CA099289-509F-4F7B-BE32-9AA9EAE814FD}"/>
              </a:ext>
            </a:extLst>
          </p:cNvPr>
          <p:cNvSpPr>
            <a:spLocks xmlns:a="http://schemas.openxmlformats.org/drawingml/2006/main" noGrp="1"/>
          </p:cNvSpPr>
          <p:nvPr>
            <p:ph type="title" idx="0"/>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제목 텍스트</a:t>
            </a:r>
          </a:p>
        </p:txBody>
      </p:sp>
      <p:sp>
        <p:nvSpPr>
          <p:cNvPr id="29" name="본문 첫 번째 줄…">
            <a:extLst xmlns:a="http://schemas.openxmlformats.org/drawingml/2006/main">
              <a:ext uri="{FF2B5EF4-FFF2-40B4-BE49-F238E27FC236}">
                <a16:creationId xmlns:a16="http://schemas.microsoft.com/office/drawing/2014/main" id="{D000430D-5359-4D7C-93ED-5B7A6EBC5CC3}"/>
              </a:ext>
            </a:extLst>
          </p:cNvPr>
          <p:cNvSpPr>
            <a:spLocks xmlns:a="http://schemas.openxmlformats.org/drawingml/2006/main" noGrp="1"/>
          </p:cNvSpPr>
          <p:nvPr>
            <p:ph type="body"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본문 첫 번째 줄</a:t>
            </a:r>
          </a:p>
          <a:p xmlns:a="http://schemas.openxmlformats.org/drawingml/2006/main">
            <a:pPr lvl="1">
              <a:buNone/>
            </a:pPr>
            <a:r>
              <a:t>본문 두 번째 줄</a:t>
            </a:r>
          </a:p>
          <a:p xmlns:a="http://schemas.openxmlformats.org/drawingml/2006/main">
            <a:pPr lvl="2">
              <a:buNone/>
            </a:pPr>
            <a:r>
              <a:t>본문 세 번째 줄</a:t>
            </a:r>
          </a:p>
          <a:p xmlns:a="http://schemas.openxmlformats.org/drawingml/2006/main">
            <a:pPr lvl="3">
              <a:buNone/>
            </a:pPr>
            <a:r>
              <a:t>본문 네 번째 줄</a:t>
            </a:r>
          </a:p>
          <a:p xmlns:a="http://schemas.openxmlformats.org/drawingml/2006/main">
            <a:pPr lvl="4">
              <a:buNone/>
            </a:pPr>
            <a:r>
              <a:t>본문 다섯 번째 줄</a:t>
            </a:r>
          </a:p>
        </p:txBody>
      </p:sp>
      <p:sp>
        <p:nvSpPr>
          <p:cNvPr id="30" name="슬라이드 번호">
            <a:extLst xmlns:a="http://schemas.openxmlformats.org/drawingml/2006/main">
              <a:ext uri="{FF2B5EF4-FFF2-40B4-BE49-F238E27FC236}">
                <a16:creationId xmlns:a16="http://schemas.microsoft.com/office/drawing/2014/main" id="{1DB248BC-C1AA-4E1B-A02E-70C4B0B83B79}"/>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Layouts/slideLayout4.xml><?xml version="1.0" encoding="utf-8"?>
<p:sldLayout xmlns:p="http://schemas.openxmlformats.org/presentationml/2006/main" showMasterSp="1" showMasterPhAnim="1">
  <p:cSld name="Title and Two Column">
    <p:spTree>
      <p:nvGrpSpPr>
        <p:cNvPr id="1" name=""/>
        <p:cNvGrpSpPr/>
        <p:nvPr/>
      </p:nvGrpSpPr>
      <p:grpSpPr>
        <a:xfrm xmlns:a="http://schemas.openxmlformats.org/drawingml/2006/main"/>
      </p:grpSpPr>
      <p:sp>
        <p:nvSpPr>
          <p:cNvPr id="37" name="제목 텍스트">
            <a:extLst xmlns:a="http://schemas.openxmlformats.org/drawingml/2006/main">
              <a:ext uri="{FF2B5EF4-FFF2-40B4-BE49-F238E27FC236}">
                <a16:creationId xmlns:a16="http://schemas.microsoft.com/office/drawing/2014/main" id="{370E8C44-F261-4A0F-909D-2897A9141F0C}"/>
              </a:ext>
            </a:extLst>
          </p:cNvPr>
          <p:cNvSpPr>
            <a:spLocks xmlns:a="http://schemas.openxmlformats.org/drawingml/2006/main" noGrp="1"/>
          </p:cNvSpPr>
          <p:nvPr>
            <p:ph type="title" idx="0"/>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제목 텍스트</a:t>
            </a:r>
          </a:p>
        </p:txBody>
      </p:sp>
      <p:sp>
        <p:nvSpPr>
          <p:cNvPr id="38" name="본문 첫 번째 줄…">
            <a:extLst xmlns:a="http://schemas.openxmlformats.org/drawingml/2006/main">
              <a:ext uri="{FF2B5EF4-FFF2-40B4-BE49-F238E27FC236}">
                <a16:creationId xmlns:a16="http://schemas.microsoft.com/office/drawing/2014/main" id="{047623B1-F9B5-44D7-80BB-FFB903B9081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본문 첫 번째 줄</a:t>
            </a:r>
          </a:p>
          <a:p xmlns:a="http://schemas.openxmlformats.org/drawingml/2006/main">
            <a:pPr lvl="1">
              <a:buNone/>
            </a:pPr>
            <a:r>
              <a:t>본문 두 번째 줄</a:t>
            </a:r>
          </a:p>
          <a:p xmlns:a="http://schemas.openxmlformats.org/drawingml/2006/main">
            <a:pPr lvl="2">
              <a:buNone/>
            </a:pPr>
            <a:r>
              <a:t>본문 세 번째 줄</a:t>
            </a:r>
          </a:p>
          <a:p xmlns:a="http://schemas.openxmlformats.org/drawingml/2006/main">
            <a:pPr lvl="3">
              <a:buNone/>
            </a:pPr>
            <a:r>
              <a:t>본문 네 번째 줄</a:t>
            </a:r>
          </a:p>
          <a:p xmlns:a="http://schemas.openxmlformats.org/drawingml/2006/main">
            <a:pPr lvl="4">
              <a:buNone/>
            </a:pPr>
            <a:r>
              <a:t>본문 다섯 번째 줄</a:t>
            </a:r>
          </a:p>
        </p:txBody>
      </p:sp>
      <p:sp>
        <p:nvSpPr>
          <p:cNvPr id="39" name="Right column">
            <a:extLst xmlns:a="http://schemas.openxmlformats.org/drawingml/2006/main">
              <a:ext uri="{FF2B5EF4-FFF2-40B4-BE49-F238E27FC236}">
                <a16:creationId xmlns:a16="http://schemas.microsoft.com/office/drawing/2014/main" id="{0E5CC2B2-3BCD-438E-BB94-7B3D949DAB07}"/>
              </a:ext>
            </a:extLst>
          </p:cNvPr>
          <p:cNvSpPr>
            <a:spLocks xmlns:a="http://schemas.openxmlformats.org/drawingml/2006/main" noGrp="1"/>
          </p:cNvSpPr>
          <p:nvPr>
            <p:ph type="body" idx="21"/>
          </p:nvPr>
        </p:nvSpPr>
        <p:spPr>
          <a:xfrm xmlns:a="http://schemas.openxmlformats.org/drawingml/2006/main">
            <a:off x="6477000" y="1905000"/>
            <a:ext cx="5029200" cy="42672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
        <p:nvSpPr>
          <p:cNvPr id="40" name="슬라이드 번호">
            <a:extLst xmlns:a="http://schemas.openxmlformats.org/drawingml/2006/main">
              <a:ext uri="{FF2B5EF4-FFF2-40B4-BE49-F238E27FC236}">
                <a16:creationId xmlns:a16="http://schemas.microsoft.com/office/drawing/2014/main" id="{89F48A5E-22F0-4E13-9A81-B0C586FE4B4D}"/>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Layouts/slideLayout5.xml><?xml version="1.0" encoding="utf-8"?>
<p:sldLayout xmlns:p="http://schemas.openxmlformats.org/presentationml/2006/main" showMasterSp="1" showMasterPhAnim="1">
  <p:cSld name="Title and One Column">
    <p:spTree>
      <p:nvGrpSpPr>
        <p:cNvPr id="1" name=""/>
        <p:cNvGrpSpPr/>
        <p:nvPr/>
      </p:nvGrpSpPr>
      <p:grpSpPr>
        <a:xfrm xmlns:a="http://schemas.openxmlformats.org/drawingml/2006/main"/>
      </p:grpSpPr>
      <p:sp>
        <p:nvSpPr>
          <p:cNvPr id="47" name="제목 텍스트">
            <a:extLst xmlns:a="http://schemas.openxmlformats.org/drawingml/2006/main">
              <a:ext uri="{FF2B5EF4-FFF2-40B4-BE49-F238E27FC236}">
                <a16:creationId xmlns:a16="http://schemas.microsoft.com/office/drawing/2014/main" id="{C96C138E-21AF-474F-8F9B-4F73A1B3A32A}"/>
              </a:ext>
            </a:extLst>
          </p:cNvPr>
          <p:cNvSpPr>
            <a:spLocks xmlns:a="http://schemas.openxmlformats.org/drawingml/2006/main" noGrp="1"/>
          </p:cNvSpPr>
          <p:nvPr>
            <p:ph type="title" idx="0"/>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제목 텍스트</a:t>
            </a:r>
          </a:p>
        </p:txBody>
      </p:sp>
      <p:sp>
        <p:nvSpPr>
          <p:cNvPr id="48" name="본문 첫 번째 줄…">
            <a:extLst xmlns:a="http://schemas.openxmlformats.org/drawingml/2006/main">
              <a:ext uri="{FF2B5EF4-FFF2-40B4-BE49-F238E27FC236}">
                <a16:creationId xmlns:a16="http://schemas.microsoft.com/office/drawing/2014/main" id="{83DC08EB-600C-40A5-96F4-BAFAFD4D34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r>
              <a:t>본문 첫 번째 줄</a:t>
            </a:r>
          </a:p>
          <a:p xmlns:a="http://schemas.openxmlformats.org/drawingml/2006/main">
            <a:pPr lvl="1">
              <a:buNone/>
            </a:pPr>
            <a:r>
              <a:t>본문 두 번째 줄</a:t>
            </a:r>
          </a:p>
          <a:p xmlns:a="http://schemas.openxmlformats.org/drawingml/2006/main">
            <a:pPr lvl="2">
              <a:buNone/>
            </a:pPr>
            <a:r>
              <a:t>본문 세 번째 줄</a:t>
            </a:r>
          </a:p>
          <a:p xmlns:a="http://schemas.openxmlformats.org/drawingml/2006/main">
            <a:pPr lvl="3">
              <a:buNone/>
            </a:pPr>
            <a:r>
              <a:t>본문 네 번째 줄</a:t>
            </a:r>
          </a:p>
          <a:p xmlns:a="http://schemas.openxmlformats.org/drawingml/2006/main">
            <a:pPr lvl="4">
              <a:buNone/>
            </a:pPr>
            <a:r>
              <a:t>본문 다섯 번째 줄</a:t>
            </a:r>
          </a:p>
        </p:txBody>
      </p:sp>
      <p:sp>
        <p:nvSpPr>
          <p:cNvPr id="49" name="슬라이드 번호">
            <a:extLst xmlns:a="http://schemas.openxmlformats.org/drawingml/2006/main">
              <a:ext uri="{FF2B5EF4-FFF2-40B4-BE49-F238E27FC236}">
                <a16:creationId xmlns:a16="http://schemas.microsoft.com/office/drawing/2014/main" id="{ECCFC985-6123-47AA-BE35-0BC3F24CA3F1}"/>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Layouts/slideLayout6.xml><?xml version="1.0" encoding="utf-8"?>
<p:sldLayout xmlns:p="http://schemas.openxmlformats.org/presentationml/2006/main" showMasterSp="1" showMasterPhAnim="1">
  <p:cSld name="Blank">
    <p:spTree>
      <p:nvGrpSpPr>
        <p:cNvPr id="1" name=""/>
        <p:cNvGrpSpPr/>
        <p:nvPr/>
      </p:nvGrpSpPr>
      <p:grpSpPr>
        <a:xfrm xmlns:a="http://schemas.openxmlformats.org/drawingml/2006/main"/>
      </p:grpSpPr>
      <p:sp>
        <p:nvSpPr>
          <p:cNvPr id="56" name="슬라이드 번호">
            <a:extLst xmlns:a="http://schemas.openxmlformats.org/drawingml/2006/main">
              <a:ext uri="{FF2B5EF4-FFF2-40B4-BE49-F238E27FC236}">
                <a16:creationId xmlns:a16="http://schemas.microsoft.com/office/drawing/2014/main" id="{17BFB5C2-3A16-4101-96CA-38564802D0B6}"/>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a:buNone/>
            </a:pPr>
          </a:p>
        </p:txBody>
      </p:sp>
    </p:spTree>
  </p:cSld>
</p:sldLayout>
</file>

<file path=ppt/slideMasters/_rels/slideMaster1.xml.rels><?xml version='1.0' encoding='UTF-8' standalone='yes'?>
<Relationships xmlns="http://schemas.openxmlformats.org/package/2006/relationships"><Relationship Type="http://schemas.openxmlformats.org/officeDocument/2006/relationships/theme" Target="theme/theme2.xml" Id="Rb70a5dd7e6994810"/><Relationship Type="http://schemas.openxmlformats.org/officeDocument/2006/relationships/slideLayout" Target="../slideLayouts/slideLayout1.xml" Id="R8343bbcd6cd543c8"/><Relationship Type="http://schemas.openxmlformats.org/officeDocument/2006/relationships/slideLayout" Target="../slideLayouts/slideLayout2.xml" Id="R8e9511e69e9543c6"/><Relationship Type="http://schemas.openxmlformats.org/officeDocument/2006/relationships/slideLayout" Target="../slideLayouts/slideLayout3.xml" Id="R269157278181484d"/><Relationship Type="http://schemas.openxmlformats.org/officeDocument/2006/relationships/slideLayout" Target="../slideLayouts/slideLayout4.xml" Id="Rd8495e3f849446a3"/><Relationship Type="http://schemas.openxmlformats.org/officeDocument/2006/relationships/slideLayout" Target="../slideLayouts/slideLayout5.xml" Id="Rd761309a27fa4924"/><Relationship Type="http://schemas.openxmlformats.org/officeDocument/2006/relationships/slideLayout" Target="../slideLayouts/slideLayout6.xml" Id="R1858971a94c8488d"/></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제목 텍스트">
            <a:extLst xmlns:a="http://schemas.openxmlformats.org/drawingml/2006/main">
              <a:ext uri="{FF2B5EF4-FFF2-40B4-BE49-F238E27FC236}">
                <a16:creationId xmlns:a16="http://schemas.microsoft.com/office/drawing/2014/main" id="{1172680B-B882-482F-84A6-821F970C73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ln xmlns:a="http://schemas.openxmlformats.org/drawingml/2006/main" w="12700">
            <a:miter/>
          </a:ln>
        </p:spPr>
        <p:txBody>
          <a:bodyPr xmlns:a="http://schemas.openxmlformats.org/drawingml/2006/main" lIns="0" tIns="0" rIns="0" bIns="0">
            <a:normAutofit fontScale="100000" lnSpcReduction="0"/>
          </a:bodyPr>
          <a:lstStyle xmlns:a="http://schemas.openxmlformats.org/drawingml/2006/main"/>
          <a:p xmlns:a="http://schemas.openxmlformats.org/drawingml/2006/main">
            <a:pPr>
              <a:buNone/>
            </a:pPr>
            <a:r>
              <a:t>제목 텍스트</a:t>
            </a:r>
          </a:p>
        </p:txBody>
      </p:sp>
      <p:sp>
        <p:nvSpPr>
          <p:cNvPr id="3" name="본문 첫 번째 줄…">
            <a:extLst xmlns:a="http://schemas.openxmlformats.org/drawingml/2006/main">
              <a:ext uri="{FF2B5EF4-FFF2-40B4-BE49-F238E27FC236}">
                <a16:creationId xmlns:a16="http://schemas.microsoft.com/office/drawing/2014/main" id="{D2975F19-77D3-47E9-834A-0589BBDC8B0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ln xmlns:a="http://schemas.openxmlformats.org/drawingml/2006/main" w="12700">
            <a:miter/>
          </a:ln>
        </p:spPr>
        <p:txBody>
          <a:bodyPr xmlns:a="http://schemas.openxmlformats.org/drawingml/2006/main" lIns="0" tIns="0" rIns="0" bIns="0">
            <a:normAutofit fontScale="100000" lnSpcReduction="0"/>
          </a:bodyPr>
          <a:lstStyle xmlns:a="http://schemas.openxmlformats.org/drawingml/2006/main"/>
          <a:p xmlns:a="http://schemas.openxmlformats.org/drawingml/2006/main">
            <a:pPr>
              <a:buNone/>
            </a:pPr>
            <a:r>
              <a:t>본문 첫 번째 줄</a:t>
            </a:r>
          </a:p>
          <a:p xmlns:a="http://schemas.openxmlformats.org/drawingml/2006/main">
            <a:pPr lvl="1">
              <a:buNone/>
            </a:pPr>
            <a:r>
              <a:t>본문 두 번째 줄</a:t>
            </a:r>
          </a:p>
          <a:p xmlns:a="http://schemas.openxmlformats.org/drawingml/2006/main">
            <a:pPr lvl="2">
              <a:buNone/>
            </a:pPr>
            <a:r>
              <a:t>본문 세 번째 줄</a:t>
            </a:r>
          </a:p>
          <a:p xmlns:a="http://schemas.openxmlformats.org/drawingml/2006/main">
            <a:pPr lvl="3">
              <a:buNone/>
            </a:pPr>
            <a:r>
              <a:t>본문 네 번째 줄</a:t>
            </a:r>
          </a:p>
          <a:p xmlns:a="http://schemas.openxmlformats.org/drawingml/2006/main">
            <a:pPr lvl="4">
              <a:buNone/>
            </a:pPr>
            <a:r>
              <a:t>본문 다섯 번째 줄</a:t>
            </a:r>
          </a:p>
        </p:txBody>
      </p:sp>
      <p:sp>
        <p:nvSpPr>
          <p:cNvPr id="4" name="슬라이드 번호">
            <a:extLst xmlns:a="http://schemas.openxmlformats.org/drawingml/2006/main">
              <a:ext uri="{FF2B5EF4-FFF2-40B4-BE49-F238E27FC236}">
                <a16:creationId xmlns:a16="http://schemas.microsoft.com/office/drawing/2014/main" id="{8372A27F-12B1-4FB3-BAC9-2D5E236F9286}"/>
              </a:ext>
            </a:extLst>
          </p:cNvPr>
          <p:cNvSpPr>
            <a:spLocks xmlns:a="http://schemas.openxmlformats.org/drawingml/2006/main" noGrp="1"/>
          </p:cNvSpPr>
          <p:nvPr>
            <p:ph type="sldNum" idx="2"/>
          </p:nvPr>
        </p:nvSpPr>
        <p:spPr>
          <a:xfrm xmlns:a="http://schemas.openxmlformats.org/drawingml/2006/main">
            <a:off x="5892800" y="6172200"/>
            <a:ext cx="2844800" cy="368301"/>
          </a:xfrm>
          <a:prstGeom xmlns:a="http://schemas.openxmlformats.org/drawingml/2006/main" prst="rect">
            <a:avLst/>
          </a:prstGeom>
          <a:ln xmlns:a="http://schemas.openxmlformats.org/drawingml/2006/main" w="12700">
            <a:miter/>
          </a:ln>
        </p:spPr>
        <p:txBody>
          <a:bodyPr xmlns:a="http://schemas.openxmlformats.org/drawingml/2006/main" wrap="none" lIns="45719" rIns="45719" anchor="ctr">
            <a:spAutoFit/>
          </a:bodyPr>
          <a:lstStyle xmlns:a="http://schemas.openxmlformats.org/drawingml/2006/main">
            <a:lvl1pPr algn="r">
              <a:buNone/>
              <a:defRPr sz="1200">
                <a:latin typeface="+mj-lt"/>
                <a:ea typeface="+mj-lt"/>
                <a:cs typeface="+mj-lt"/>
              </a:defRPr>
            </a:lvl1pPr>
          </a:lstStyle>
          <a:p xmlns:a="http://schemas.openxmlformats.org/drawingml/2006/main">
            <a:pPr>
              <a:buNone/>
            </a:p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343bbcd6cd543c8"/>
    <p:sldLayoutId xmlns:r="http://schemas.openxmlformats.org/officeDocument/2006/relationships" id="2147483650" r:id="R8e9511e69e9543c6"/>
    <p:sldLayoutId xmlns:r="http://schemas.openxmlformats.org/officeDocument/2006/relationships" id="2147483651" r:id="R269157278181484d"/>
    <p:sldLayoutId xmlns:r="http://schemas.openxmlformats.org/officeDocument/2006/relationships" id="2147483652" r:id="Rd8495e3f849446a3"/>
    <p:sldLayoutId xmlns:r="http://schemas.openxmlformats.org/officeDocument/2006/relationships" id="2147483653" r:id="Rd761309a27fa4924"/>
    <p:sldLayoutId xmlns:r="http://schemas.openxmlformats.org/officeDocument/2006/relationships" id="2147483654" r:id="R1858971a94c8488d"/>
  </p:sldLayoutIdLst>
  <p:txStyles>
    <p:titleStyle>
      <a:lvl1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1pPr>
      <a:lvl2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2pPr>
      <a:lvl3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3pPr>
      <a:lvl4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4pPr>
      <a:lvl5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5pPr>
      <a:lvl6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6pPr>
      <a:lvl7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7pPr>
      <a:lvl8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8pPr>
      <a:lvl9pPr xmlns:a="http://schemas.openxmlformats.org/drawingml/2006/main" marL="0" marR="0" indent="0" algn="l" defTabSz="914400">
        <a:lnSpc>
          <a:spcPct val="110000"/>
        </a:lnSpc>
        <a:spcBef>
          <a:spcPts val="0"/>
        </a:spcBef>
        <a:spcAft>
          <a:spcPts val="0"/>
        </a:spcAft>
        <a:buClrTx/>
        <a:buSzTx/>
        <a:buFontTx/>
        <a:buNone/>
        <a:defRPr sz="4400" b="0" i="0" u="none" strike="noStrike" cap="none" spc="0" baseline="0">
          <a:solidFill>
            <a:srgbClr val="000000"/>
          </a:solidFill>
          <a:latin typeface="Pretendard"/>
          <a:ea typeface="Pretendard"/>
          <a:cs typeface="Pretendard"/>
        </a:defRPr>
      </a:lvl9pPr>
    </p:titleStyle>
    <p:bodyStyle>
      <a:lvl1pPr xmlns:a="http://schemas.openxmlformats.org/drawingml/2006/main" marL="228600" marR="0" indent="-228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1pPr>
      <a:lvl2pPr xmlns:a="http://schemas.openxmlformats.org/drawingml/2006/main" marL="571500" marR="0" indent="-2667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2pPr>
      <a:lvl3pPr xmlns:a="http://schemas.openxmlformats.org/drawingml/2006/main" marL="929639" marR="0" indent="-320039"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3pPr>
      <a:lvl4pPr xmlns:a="http://schemas.openxmlformats.org/drawingml/2006/main" marL="12700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4pPr>
      <a:lvl5pPr xmlns:a="http://schemas.openxmlformats.org/drawingml/2006/main" marL="15748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5pPr>
      <a:lvl6pPr xmlns:a="http://schemas.openxmlformats.org/drawingml/2006/main" marL="18796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6pPr>
      <a:lvl7pPr xmlns:a="http://schemas.openxmlformats.org/drawingml/2006/main" marL="21844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7pPr>
      <a:lvl8pPr xmlns:a="http://schemas.openxmlformats.org/drawingml/2006/main" marL="24892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8pPr>
      <a:lvl9pPr xmlns:a="http://schemas.openxmlformats.org/drawingml/2006/main" marL="2794000" marR="0" indent="-355600" algn="l" defTabSz="914400">
        <a:lnSpc>
          <a:spcPct val="110000"/>
        </a:lnSpc>
        <a:spcBef>
          <a:spcPts val="1200"/>
        </a:spcBef>
        <a:spcAft>
          <a:spcPts val="0"/>
        </a:spcAft>
        <a:buClrTx/>
        <a:buSzPct val="100000"/>
        <a:buFontTx/>
        <a:buChar char="•"/>
        <a:defRPr sz="2800" b="0" i="0" u="none" strike="noStrike" cap="none" spc="0" baseline="0">
          <a:solidFill>
            <a:srgbClr val="000000"/>
          </a:solidFill>
          <a:latin typeface="Pretendard"/>
          <a:ea typeface="Pretendard"/>
          <a:cs typeface="Pretendard"/>
        </a:defRPr>
      </a:lvl9pPr>
    </p:bodyStyle>
    <p:otherStyle>
      <a:lvl1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1pPr>
      <a:lvl2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2pPr>
      <a:lvl3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3pPr>
      <a:lvl4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4pPr>
      <a:lvl5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5pPr>
      <a:lvl6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6pPr>
      <a:lvl7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7pPr>
      <a:lvl8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8pPr>
      <a:lvl9pPr xmlns:a="http://schemas.openxmlformats.org/drawingml/2006/main" marL="0" marR="0" indent="0" algn="r" defTabSz="914400">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Pretendard"/>
        <a:ea typeface="Pretendard"/>
        <a:cs typeface="Pretendard"/>
      </a:majorFont>
      <a:minorFont>
        <a:latin typeface="Pretendard"/>
        <a:ea typeface="Pretendard"/>
        <a:cs typeface="Pretendard"/>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slideLayouts/slideLayout6.xml" Id="Rcc77369879504322"/><Relationship Type="http://schemas.openxmlformats.org/officeDocument/2006/relationships/image" Target="../media/image.png" Id="R54a3a3a5843d44b1"/><Relationship Type="http://schemas.openxmlformats.org/officeDocument/2006/relationships/notesSlide" Target="../notesSlides/notesSlide1.xml" Id="R1ba8fc188ab94e7e"/></Relationships>
</file>

<file path=ppt/slides/_rels/slide2.xml.rels><?xml version='1.0' encoding='UTF-8' standalone='yes'?>
<Relationships xmlns="http://schemas.openxmlformats.org/package/2006/relationships"><Relationship Type="http://schemas.openxmlformats.org/officeDocument/2006/relationships/slideLayout" Target="../slideLayouts/slideLayout6.xml" Id="R59fe594f57fe4604"/><Relationship Type="http://schemas.openxmlformats.org/officeDocument/2006/relationships/notesSlide" Target="../notesSlides/notesSlide2.xml" Id="R2d924cb99d254ecc"/></Relationships>
</file>

<file path=ppt/slides/_rels/slide3.xml.rels><?xml version='1.0' encoding='UTF-8' standalone='yes'?>
<Relationships xmlns="http://schemas.openxmlformats.org/package/2006/relationships"><Relationship Type="http://schemas.openxmlformats.org/officeDocument/2006/relationships/slideLayout" Target="../slideLayouts/slideLayout6.xml" Id="Rd31c41ad97624917"/><Relationship Type="http://schemas.openxmlformats.org/officeDocument/2006/relationships/image" Target="../media/image.jpeg" Id="R45d889c7003943f4"/><Relationship Type="http://schemas.openxmlformats.org/officeDocument/2006/relationships/notesSlide" Target="../notesSlides/notesSlide3.xml" Id="R260f9ee6acf142ff"/></Relationships>
</file>

<file path=ppt/slides/_rels/slide4.xml.rels><?xml version='1.0' encoding='UTF-8' standalone='yes'?>
<Relationships xmlns="http://schemas.openxmlformats.org/package/2006/relationships"><Relationship Type="http://schemas.openxmlformats.org/officeDocument/2006/relationships/slideLayout" Target="../slideLayouts/slideLayout6.xml" Id="R850535ca3a7c4501"/><Relationship Type="http://schemas.openxmlformats.org/officeDocument/2006/relationships/image" Target="../media/image2.png" Id="R9679d44a2c69446e"/><Relationship Type="http://schemas.openxmlformats.org/officeDocument/2006/relationships/notesSlide" Target="../notesSlides/notesSlide4.xml" Id="R3266aca7326842c4"/></Relationships>
</file>

<file path=ppt/slides/_rels/slide5.xml.rels><?xml version='1.0' encoding='UTF-8' standalone='yes'?>
<Relationships xmlns="http://schemas.openxmlformats.org/package/2006/relationships"><Relationship Type="http://schemas.openxmlformats.org/officeDocument/2006/relationships/slideLayout" Target="../slideLayouts/slideLayout6.xml" Id="R1380c65b99e34839"/><Relationship Type="http://schemas.openxmlformats.org/officeDocument/2006/relationships/image" Target="../media/image2.jpeg" Id="Re61b69ccfdca4fb9"/><Relationship Type="http://schemas.openxmlformats.org/officeDocument/2006/relationships/image" Target="../media/image3.jpeg" Id="R0fad422cb49c4197"/><Relationship Type="http://schemas.openxmlformats.org/officeDocument/2006/relationships/notesSlide" Target="../notesSlides/notesSlide5.xml" Id="R2e1700ece52f4029"/></Relationships>
</file>

<file path=ppt/slides/_rels/slide6.xml.rels><?xml version='1.0' encoding='UTF-8' standalone='yes'?>
<Relationships xmlns="http://schemas.openxmlformats.org/package/2006/relationships"><Relationship Type="http://schemas.openxmlformats.org/officeDocument/2006/relationships/slideLayout" Target="../slideLayouts/slideLayout6.xml" Id="R0e8dd65cb7fa4830"/><Relationship Type="http://schemas.openxmlformats.org/officeDocument/2006/relationships/image" Target="../media/image3.png" Id="R0987192a1cc54dfc"/><Relationship Type="http://schemas.openxmlformats.org/officeDocument/2006/relationships/notesSlide" Target="../notesSlides/notesSlide6.xml" Id="Rc795dc9cc1074206"/></Relationships>
</file>

<file path=ppt/slides/_rels/slide7.xml.rels><?xml version='1.0' encoding='UTF-8' standalone='yes'?>
<Relationships xmlns="http://schemas.openxmlformats.org/package/2006/relationships"><Relationship Type="http://schemas.openxmlformats.org/officeDocument/2006/relationships/slideLayout" Target="../slideLayouts/slideLayout6.xml" Id="Ra564343484904a04"/><Relationship Type="http://schemas.openxmlformats.org/officeDocument/2006/relationships/notesSlide" Target="../notesSlides/notesSlide7.xml" Id="R760fb13cd2264a82"/></Relationships>
</file>

<file path=ppt/slides/_rels/slide8.xml.rels><?xml version='1.0' encoding='UTF-8' standalone='yes'?>
<Relationships xmlns="http://schemas.openxmlformats.org/package/2006/relationships"><Relationship Type="http://schemas.openxmlformats.org/officeDocument/2006/relationships/slideLayout" Target="../slideLayouts/slideLayout6.xml" Id="R904b4c56b847485d"/><Relationship Type="http://schemas.openxmlformats.org/officeDocument/2006/relationships/image" Target="../media/image4.png" Id="R9852964b72a443c2"/><Relationship Type="http://schemas.openxmlformats.org/officeDocument/2006/relationships/notesSlide" Target="../notesSlides/notesSlide8.xml" Id="R3e6b63984f474982"/></Relationships>
</file>

<file path=ppt/slides/_rels/slide9.xml.rels><?xml version='1.0' encoding='UTF-8' standalone='yes'?>
<Relationships xmlns="http://schemas.openxmlformats.org/package/2006/relationships"><Relationship Type="http://schemas.openxmlformats.org/officeDocument/2006/relationships/slideLayout" Target="../slideLayouts/slideLayout6.xml" Id="R38c9075ad37e4235"/><Relationship Type="http://schemas.openxmlformats.org/officeDocument/2006/relationships/notesSlide" Target="../notesSlides/notesSlide9.xml" Id="R1bccbde930744a77"/></Relationships>
</file>

<file path=ppt/slides/_rels/slide10.xml.rels><?xml version='1.0' encoding='UTF-8' standalone='yes'?>
<Relationships xmlns="http://schemas.openxmlformats.org/package/2006/relationships"><Relationship Type="http://schemas.openxmlformats.org/officeDocument/2006/relationships/slideLayout" Target="../slideLayouts/slideLayout6.xml" Id="R4e19dee3bcae431a"/><Relationship Type="http://schemas.openxmlformats.org/officeDocument/2006/relationships/notesSlide" Target="../notesSlides/notesSlide10.xml" Id="R8420ab43d6c84219"/></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v7-image8.png"/><Relationship Id="rId4" Type="http://schemas.openxmlformats.org/officeDocument/2006/relationships/video" Target="../media/v7-media1.mp4"/><Relationship Id="rId5" Type="http://schemas.microsoft.com/office/2007/relationships/media" Target="../media/v7-media1.mp4"/><Relationship Id="rId6" Type="http://schemas.openxmlformats.org/officeDocument/2006/relationships/image" Target="../media/v7-image9.png"/></Relationships>
</file>

<file path=ppt/slides/slide1.xml><?xml version="1.0" encoding="utf-8"?>
<p:sld xmlns:p="http://schemas.openxmlformats.org/presentationml/2006/main" showMasterSp="1">
  <p:cSld>
    <p:bg>
      <p:bgPr>
        <a:solidFill xmlns:a="http://schemas.openxmlformats.org/drawingml/2006/main">
          <a:srgbClr val="25485A"/>
        </a:solidFill>
      </p:bgPr>
    </p:bg>
    <p:spTree>
      <p:nvGrpSpPr>
        <p:cNvPr id="1" name=""/>
        <p:cNvGrpSpPr/>
        <p:nvPr/>
      </p:nvGrpSpPr>
      <p:grpSpPr>
        <a:xfrm xmlns:a="http://schemas.openxmlformats.org/drawingml/2006/main"/>
      </p:grpSpPr>
      <p:pic>
        <p:nvPicPr>
          <p:cNvPr id="65" name="image.png">
            <a:extLst xmlns:a="http://schemas.openxmlformats.org/drawingml/2006/main">
              <a:ext uri="{FF2B5EF4-FFF2-40B4-BE49-F238E27FC236}">
                <a16:creationId xmlns:a16="http://schemas.microsoft.com/office/drawing/2014/main" id="{0DCC5060-D8DE-4F43-87A7-377C33392836}"/>
              </a:ext>
            </a:extLst>
          </p:cNvPr>
          <p:cNvPicPr>
            <a:picLocks xmlns:a="http://schemas.openxmlformats.org/drawingml/2006/main" noChangeAspect="1"/>
          </p:cNvPicPr>
          <p:nvPr/>
        </p:nvPicPr>
        <p:blipFill>
          <a:blip xmlns:r="http://schemas.openxmlformats.org/officeDocument/2006/relationships" xmlns:a="http://schemas.openxmlformats.org/drawingml/2006/main" r:embed="R54a3a3a5843d44b1"/>
          <a:stretch xmlns:a="http://schemas.openxmlformats.org/drawingml/2006/main">
            <a:fillRect l="0" t="0" r="0" b="0"/>
          </a:stretch>
        </p:blipFill>
        <p:spPr>
          <a:xfrm xmlns:a="http://schemas.openxmlformats.org/drawingml/2006/main">
            <a:off x="609600" y="609600"/>
            <a:ext cx="838200" cy="838200"/>
          </a:xfrm>
          <a:prstGeom xmlns:a="http://schemas.openxmlformats.org/drawingml/2006/main" prst="rect">
            <a:avLst/>
          </a:prstGeom>
          <a:ln xmlns:a="http://schemas.openxmlformats.org/drawingml/2006/main" w="12700">
            <a:miter/>
          </a:ln>
        </p:spPr>
      </p:pic>
      <p:sp>
        <p:nvSpPr>
          <p:cNvPr id="66" name="여행 준비 서비스">
            <a:extLst xmlns:a="http://schemas.openxmlformats.org/drawingml/2006/main">
              <a:ext uri="{FF2B5EF4-FFF2-40B4-BE49-F238E27FC236}">
                <a16:creationId xmlns:a16="http://schemas.microsoft.com/office/drawing/2014/main" id="{97854122-FDC1-4219-B265-FE57884B67E8}"/>
              </a:ext>
            </a:extLst>
          </p:cNvPr>
          <p:cNvSpPr>
            <a:spLocks xmlns:a="http://schemas.openxmlformats.org/drawingml/2006/main" noGrp="1"/>
          </p:cNvSpPr>
          <p:nvPr/>
        </p:nvSpPr>
        <p:spPr>
          <a:xfrm xmlns:a="http://schemas.openxmlformats.org/drawingml/2006/main">
            <a:off x="609600" y="2066925"/>
            <a:ext cx="9906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E2EBE9"/>
                </a:solidFill>
                <a:latin typeface="Pretendard"/>
                <a:ea typeface="Pretendard"/>
                <a:cs typeface="Pretendard"/>
              </a:defRPr>
            </a:defPPr>
          </a:lstStyle>
          <a:p xmlns:a="http://schemas.openxmlformats.org/drawingml/2006/main">
            <a:pPr algn="l">
              <a:buNone/>
              <a:defRPr sz="2025" b="0">
                <a:solidFill>
                  <a:srgbClr val="E2EBE9"/>
                </a:solidFill>
                <a:latin typeface="Pretendard"/>
                <a:ea typeface="Pretendard"/>
                <a:cs typeface="Pretendard"/>
              </a:defRPr>
            </a:pPr>
            <a:r>
              <a:rPr sz="2025" b="0">
                <a:solidFill>
                  <a:srgbClr val="E2EBE9"/>
                </a:solidFill>
                <a:latin typeface="Pretendard"/>
                <a:ea typeface="Pretendard"/>
                <a:cs typeface="Pretendard"/>
              </a:rPr>
              <a:t>여행 준비 서비스</a:t>
            </a:r>
          </a:p>
        </p:txBody>
      </p:sp>
      <p:sp>
        <p:nvSpPr>
          <p:cNvPr id="67" name="고잉">
            <a:extLst xmlns:a="http://schemas.openxmlformats.org/drawingml/2006/main">
              <a:ext uri="{FF2B5EF4-FFF2-40B4-BE49-F238E27FC236}">
                <a16:creationId xmlns:a16="http://schemas.microsoft.com/office/drawing/2014/main" id="{EA158E71-74AE-4158-BC78-61E8099E0238}"/>
              </a:ext>
            </a:extLst>
          </p:cNvPr>
          <p:cNvSpPr>
            <a:spLocks xmlns:a="http://schemas.openxmlformats.org/drawingml/2006/main" noGrp="1"/>
          </p:cNvSpPr>
          <p:nvPr/>
        </p:nvSpPr>
        <p:spPr>
          <a:xfrm xmlns:a="http://schemas.openxmlformats.org/drawingml/2006/main">
            <a:off x="552450" y="2638425"/>
            <a:ext cx="76200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FFFFFF"/>
                </a:solidFill>
                <a:latin typeface="Pretendard"/>
                <a:ea typeface="Pretendard"/>
                <a:cs typeface="Pretendard"/>
              </a:defRPr>
            </a:defPPr>
          </a:lstStyle>
          <a:p xmlns:a="http://schemas.openxmlformats.org/drawingml/2006/main">
            <a:pPr algn="l">
              <a:buNone/>
              <a:defRPr sz="8400" b="1">
                <a:solidFill>
                  <a:srgbClr val="FFFFFF"/>
                </a:solidFill>
                <a:latin typeface="Pretendard"/>
                <a:ea typeface="Pretendard"/>
                <a:cs typeface="Pretendard"/>
              </a:defRPr>
            </a:pPr>
            <a:r>
              <a:rPr sz="8400" b="1">
                <a:solidFill>
                  <a:srgbClr val="FFFFFF"/>
                </a:solidFill>
                <a:latin typeface="Pretendard"/>
                <a:ea typeface="Pretendard"/>
                <a:cs typeface="Pretendard"/>
              </a:rPr>
              <a:t>고잉</a:t>
            </a:r>
          </a:p>
        </p:txBody>
      </p:sp>
      <p:sp>
        <p:nvSpPr>
          <p:cNvPr id="68" name="예약 메일부터 하루 일정까지">
            <a:extLst xmlns:a="http://schemas.openxmlformats.org/drawingml/2006/main">
              <a:ext uri="{FF2B5EF4-FFF2-40B4-BE49-F238E27FC236}">
                <a16:creationId xmlns:a16="http://schemas.microsoft.com/office/drawing/2014/main" id="{0F485C22-27B7-44BE-9DA7-DEE7B2DF3E16}"/>
              </a:ext>
            </a:extLst>
          </p:cNvPr>
          <p:cNvSpPr>
            <a:spLocks xmlns:a="http://schemas.openxmlformats.org/drawingml/2006/main" noGrp="1"/>
          </p:cNvSpPr>
          <p:nvPr/>
        </p:nvSpPr>
        <p:spPr>
          <a:xfrm xmlns:a="http://schemas.openxmlformats.org/drawingml/2006/main">
            <a:off x="609600" y="4324350"/>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FFFFFF"/>
                </a:solidFill>
                <a:latin typeface="Pretendard"/>
                <a:ea typeface="Pretendard"/>
                <a:cs typeface="Pretendard"/>
              </a:defRPr>
            </a:defPPr>
          </a:lstStyle>
          <a:p xmlns:a="http://schemas.openxmlformats.org/drawingml/2006/main">
            <a:pPr algn="l">
              <a:buNone/>
              <a:defRPr sz="3150" b="0">
                <a:solidFill>
                  <a:srgbClr val="FFFFFF"/>
                </a:solidFill>
                <a:latin typeface="Pretendard"/>
                <a:ea typeface="Pretendard"/>
                <a:cs typeface="Pretendard"/>
              </a:defRPr>
            </a:pPr>
            <a:r>
              <a:rPr sz="3150" b="0">
                <a:solidFill>
                  <a:srgbClr val="FFFFFF"/>
                </a:solidFill>
                <a:latin typeface="Pretendard"/>
                <a:ea typeface="Pretendard"/>
                <a:cs typeface="Pretendard"/>
              </a:rPr>
              <a:t>예약 메일부터 하루 일정까지</a:t>
            </a:r>
          </a:p>
        </p:txBody>
      </p:sp>
      <p:sp>
        <p:nvSpPr>
          <p:cNvPr id="69" name="흩어진 예약을 모으고, 가고 싶은 곳을 일정으로 연결합니다.">
            <a:extLst xmlns:a="http://schemas.openxmlformats.org/drawingml/2006/main">
              <a:ext uri="{FF2B5EF4-FFF2-40B4-BE49-F238E27FC236}">
                <a16:creationId xmlns:a16="http://schemas.microsoft.com/office/drawing/2014/main" id="{E83C5B15-B435-42C5-BB70-4343EE4AC333}"/>
              </a:ext>
            </a:extLst>
          </p:cNvPr>
          <p:cNvSpPr>
            <a:spLocks xmlns:a="http://schemas.openxmlformats.org/drawingml/2006/main" noGrp="1"/>
          </p:cNvSpPr>
          <p:nvPr/>
        </p:nvSpPr>
        <p:spPr>
          <a:xfrm xmlns:a="http://schemas.openxmlformats.org/drawingml/2006/main">
            <a:off x="609600" y="52578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75" b="0">
                <a:solidFill>
                  <a:srgbClr val="DCE6E9"/>
                </a:solidFill>
                <a:latin typeface="Pretendard"/>
                <a:ea typeface="Pretendard"/>
                <a:cs typeface="Pretendard"/>
              </a:defRPr>
            </a:defPPr>
          </a:lstStyle>
          <a:p xmlns:a="http://schemas.openxmlformats.org/drawingml/2006/main">
            <a:pPr algn="l">
              <a:buNone/>
              <a:defRPr sz="1875" b="0">
                <a:solidFill>
                  <a:srgbClr val="DCE6E9"/>
                </a:solidFill>
                <a:latin typeface="Pretendard"/>
                <a:ea typeface="Pretendard"/>
                <a:cs typeface="Pretendard"/>
              </a:defRPr>
            </a:pPr>
            <a:r>
              <a:rPr sz="1875" b="0">
                <a:solidFill>
                  <a:srgbClr val="DCE6E9"/>
                </a:solidFill>
                <a:latin typeface="Pretendard"/>
                <a:ea typeface="Pretendard"/>
                <a:cs typeface="Pretendard"/>
              </a:rPr>
              <a:t>흩어진 예약을 모으고, 가고 싶은 곳을 일정으로 연결합니다.</a:t>
            </a:r>
          </a:p>
        </p:txBody>
      </p:sp>
      <p:sp>
        <p:nvSpPr>
          <p:cNvPr id="70" name="프로젝트 발표  ·  2026.10">
            <a:extLst xmlns:a="http://schemas.openxmlformats.org/drawingml/2006/main">
              <a:ext uri="{FF2B5EF4-FFF2-40B4-BE49-F238E27FC236}">
                <a16:creationId xmlns:a16="http://schemas.microsoft.com/office/drawing/2014/main" id="{34D0E286-7FE3-45FA-8DC2-0FDC659420E9}"/>
              </a:ext>
            </a:extLst>
          </p:cNvPr>
          <p:cNvSpPr>
            <a:spLocks xmlns:a="http://schemas.openxmlformats.org/drawingml/2006/main" noGrp="1"/>
          </p:cNvSpPr>
          <p:nvPr/>
        </p:nvSpPr>
        <p:spPr>
          <a:xfrm xmlns:a="http://schemas.openxmlformats.org/drawingml/2006/main">
            <a:off x="609600" y="626745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E2EBE9"/>
                </a:solidFill>
                <a:latin typeface="Pretendard"/>
                <a:ea typeface="Pretendard"/>
                <a:cs typeface="Pretendard"/>
              </a:defRPr>
            </a:defPPr>
          </a:lstStyle>
          <a:p xmlns:a="http://schemas.openxmlformats.org/drawingml/2006/main">
            <a:pPr algn="l">
              <a:buNone/>
              <a:defRPr sz="1350" b="0">
                <a:solidFill>
                  <a:srgbClr val="E2EBE9"/>
                </a:solidFill>
                <a:latin typeface="Pretendard"/>
                <a:ea typeface="Pretendard"/>
                <a:cs typeface="Pretendard"/>
              </a:defRPr>
            </a:pPr>
            <a:r>
              <a:rPr sz="1350" b="0">
                <a:solidFill>
                  <a:srgbClr val="E2EBE9"/>
                </a:solidFill>
                <a:latin typeface="Pretendard"/>
                <a:ea typeface="Pretendard"/>
                <a:cs typeface="Pretendard"/>
              </a:rPr>
              <a:t>프로젝트 발표  ·  2026.10</a:t>
            </a:r>
          </a:p>
        </p:txBody>
      </p:sp>
    </p:spTree>
    <p:extLst>
      <p:ext uri="{BB962C8B-B14F-4D97-AF65-F5344CB8AC3E}">
        <p14:creationId xmlns:p14="http://schemas.microsoft.com/office/powerpoint/2010/main" val="1740770962"/>
      </p:ext>
    </p:extLst>
  </p:cSld>
</p:sld>
</file>

<file path=ppt/slides/slide2.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74" name="고잉  /  문제">
            <a:extLst xmlns:a="http://schemas.openxmlformats.org/drawingml/2006/main">
              <a:ext uri="{FF2B5EF4-FFF2-40B4-BE49-F238E27FC236}">
                <a16:creationId xmlns:a16="http://schemas.microsoft.com/office/drawing/2014/main" id="{69EFCD91-44D5-43F5-8084-53AB806FB8C2}"/>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문제</a:t>
            </a:r>
          </a:p>
        </p:txBody>
      </p:sp>
      <p:sp>
        <p:nvSpPr>
          <p:cNvPr id="75" name="여행할 때마다 다시 찾는 정보">
            <a:extLst xmlns:a="http://schemas.openxmlformats.org/drawingml/2006/main">
              <a:ext uri="{FF2B5EF4-FFF2-40B4-BE49-F238E27FC236}">
                <a16:creationId xmlns:a16="http://schemas.microsoft.com/office/drawing/2014/main" id="{158F85F1-F4D5-41AA-B162-30FB92E124FE}"/>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buNone/>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여행할 때마다 다시 찾는 정보</a:t>
            </a:r>
          </a:p>
        </p:txBody>
      </p:sp>
      <p:sp>
        <p:nvSpPr>
          <p:cNvPr id="76" name="장소를 고른 뒤에도 예약과 동선을 다시 확인해야 했습니다">
            <a:extLst xmlns:a="http://schemas.openxmlformats.org/drawingml/2006/main">
              <a:ext uri="{FF2B5EF4-FFF2-40B4-BE49-F238E27FC236}">
                <a16:creationId xmlns:a16="http://schemas.microsoft.com/office/drawing/2014/main" id="{983A3FE3-2B8A-4C1A-80A1-56699F0EE184}"/>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장소를 고른 뒤에도 예약과 동선을 다시 확인해야 했습니다</a:t>
            </a:r>
          </a:p>
        </p:txBody>
      </p:sp>
      <p:sp>
        <p:nvSpPr>
          <p:cNvPr id="77" name="02">
            <a:extLst xmlns:a="http://schemas.openxmlformats.org/drawingml/2006/main">
              <a:ext uri="{FF2B5EF4-FFF2-40B4-BE49-F238E27FC236}">
                <a16:creationId xmlns:a16="http://schemas.microsoft.com/office/drawing/2014/main" id="{7A880379-EDFC-4D3F-ACB1-0D79144B3433}"/>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02</a:t>
            </a:r>
          </a:p>
        </p:txBody>
      </p:sp>
      <p:sp>
        <p:nvSpPr>
          <p:cNvPr id="78" name="“현지어 리뷰가 많은 식당도 가보고 싶다”">
            <a:extLst xmlns:a="http://schemas.openxmlformats.org/drawingml/2006/main">
              <a:ext uri="{FF2B5EF4-FFF2-40B4-BE49-F238E27FC236}">
                <a16:creationId xmlns:a16="http://schemas.microsoft.com/office/drawing/2014/main" id="{68612817-C324-4E7A-9B9C-602CDA76882C}"/>
              </a:ext>
            </a:extLst>
          </p:cNvPr>
          <p:cNvSpPr>
            <a:spLocks xmlns:a="http://schemas.openxmlformats.org/drawingml/2006/main" noGrp="1"/>
          </p:cNvSpPr>
          <p:nvPr/>
        </p:nvSpPr>
        <p:spPr>
          <a:xfrm xmlns:a="http://schemas.openxmlformats.org/drawingml/2006/main">
            <a:off x="609600" y="23526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150" b="1">
                <a:solidFill>
                  <a:srgbClr val="25485A"/>
                </a:solidFill>
                <a:latin typeface="Pretendard"/>
                <a:ea typeface="Pretendard"/>
                <a:cs typeface="Pretendard"/>
              </a:defRPr>
            </a:defPPr>
          </a:lstStyle>
          <a:p xmlns:a="http://schemas.openxmlformats.org/drawingml/2006/main">
            <a:pPr algn="l">
              <a:buNone/>
              <a:defRPr sz="3150" b="1">
                <a:solidFill>
                  <a:srgbClr val="25485A"/>
                </a:solidFill>
                <a:latin typeface="Pretendard"/>
                <a:ea typeface="Pretendard"/>
                <a:cs typeface="Pretendard"/>
              </a:defRPr>
            </a:pPr>
            <a:r>
              <a:rPr sz="3150" b="1">
                <a:solidFill>
                  <a:srgbClr val="25485A"/>
                </a:solidFill>
                <a:latin typeface="Pretendard"/>
                <a:ea typeface="Pretendard"/>
                <a:cs typeface="Pretendard"/>
              </a:rPr>
              <a:t>“현지어 리뷰가 많은 식당도 가보고 싶다”</a:t>
            </a:r>
          </a:p>
        </p:txBody>
      </p:sp>
      <p:sp>
        <p:nvSpPr>
          <p:cNvPr id="79" name="“이 식당을 들렀다가 다음 예약에 갈 수 있을까?”">
            <a:extLst xmlns:a="http://schemas.openxmlformats.org/drawingml/2006/main">
              <a:ext uri="{FF2B5EF4-FFF2-40B4-BE49-F238E27FC236}">
                <a16:creationId xmlns:a16="http://schemas.microsoft.com/office/drawing/2014/main" id="{0DDB1FA1-5A49-4177-BFF8-3862EB1B4D45}"/>
              </a:ext>
            </a:extLst>
          </p:cNvPr>
          <p:cNvSpPr>
            <a:spLocks xmlns:a="http://schemas.openxmlformats.org/drawingml/2006/main" noGrp="1"/>
          </p:cNvSpPr>
          <p:nvPr/>
        </p:nvSpPr>
        <p:spPr>
          <a:xfrm xmlns:a="http://schemas.openxmlformats.org/drawingml/2006/main">
            <a:off x="609600" y="315277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0">
                <a:solidFill>
                  <a:srgbClr val="252D2D"/>
                </a:solidFill>
                <a:latin typeface="Pretendard"/>
                <a:ea typeface="Pretendard"/>
                <a:cs typeface="Pretendard"/>
              </a:defRPr>
            </a:defPPr>
          </a:lstStyle>
          <a:p xmlns:a="http://schemas.openxmlformats.org/drawingml/2006/main">
            <a:pPr algn="l">
              <a:buNone/>
              <a:defRPr sz="2550" b="0">
                <a:solidFill>
                  <a:srgbClr val="252D2D"/>
                </a:solidFill>
                <a:latin typeface="Pretendard"/>
                <a:ea typeface="Pretendard"/>
                <a:cs typeface="Pretendard"/>
              </a:defRPr>
            </a:pPr>
            <a:r>
              <a:rPr sz="2550" b="0">
                <a:solidFill>
                  <a:srgbClr val="252D2D"/>
                </a:solidFill>
                <a:latin typeface="Pretendard"/>
                <a:ea typeface="Pretendard"/>
                <a:cs typeface="Pretendard"/>
              </a:rPr>
              <a:t>“이 식당을 들렀다가 다음 예약에 갈 수 있을까?”</a:t>
            </a:r>
          </a:p>
        </p:txBody>
      </p:sp>
      <p:sp>
        <p:nvSpPr>
          <p:cNvPr id="80" name="메일함">
            <a:extLst xmlns:a="http://schemas.openxmlformats.org/drawingml/2006/main">
              <a:ext uri="{FF2B5EF4-FFF2-40B4-BE49-F238E27FC236}">
                <a16:creationId xmlns:a16="http://schemas.microsoft.com/office/drawing/2014/main" id="{5F28332E-1545-4F95-9235-BA734CE89966}"/>
              </a:ext>
            </a:extLst>
          </p:cNvPr>
          <p:cNvSpPr>
            <a:spLocks xmlns:a="http://schemas.openxmlformats.org/drawingml/2006/main" noGrp="1"/>
          </p:cNvSpPr>
          <p:nvPr/>
        </p:nvSpPr>
        <p:spPr>
          <a:xfrm xmlns:a="http://schemas.openxmlformats.org/drawingml/2006/main">
            <a:off x="6096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25485A"/>
                </a:solidFill>
                <a:latin typeface="Pretendard"/>
                <a:ea typeface="Pretendard"/>
                <a:cs typeface="Pretendard"/>
              </a:defRPr>
            </a:defPPr>
          </a:lstStyle>
          <a:p xmlns:a="http://schemas.openxmlformats.org/drawingml/2006/main">
            <a:pPr algn="l">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메일함</a:t>
            </a:r>
          </a:p>
        </p:txBody>
      </p:sp>
      <p:sp>
        <p:nvSpPr>
          <p:cNvPr id="81" name="예약 날짜와 시간">
            <a:extLst xmlns:a="http://schemas.openxmlformats.org/drawingml/2006/main">
              <a:ext uri="{FF2B5EF4-FFF2-40B4-BE49-F238E27FC236}">
                <a16:creationId xmlns:a16="http://schemas.microsoft.com/office/drawing/2014/main" id="{74A801B6-E675-431D-9488-20BF44512E37}"/>
              </a:ext>
            </a:extLst>
          </p:cNvPr>
          <p:cNvSpPr>
            <a:spLocks xmlns:a="http://schemas.openxmlformats.org/drawingml/2006/main" noGrp="1"/>
          </p:cNvSpPr>
          <p:nvPr/>
        </p:nvSpPr>
        <p:spPr>
          <a:xfrm xmlns:a="http://schemas.openxmlformats.org/drawingml/2006/main">
            <a:off x="6096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예약 날짜와 시간</a:t>
            </a:r>
          </a:p>
        </p:txBody>
      </p:sp>
      <p:sp>
        <p:nvSpPr>
          <p:cNvPr id="82" name="지도와 리뷰">
            <a:extLst xmlns:a="http://schemas.openxmlformats.org/drawingml/2006/main">
              <a:ext uri="{FF2B5EF4-FFF2-40B4-BE49-F238E27FC236}">
                <a16:creationId xmlns:a16="http://schemas.microsoft.com/office/drawing/2014/main" id="{3A5A0D36-01B5-422D-BA2F-CEE72E8042B2}"/>
              </a:ext>
            </a:extLst>
          </p:cNvPr>
          <p:cNvSpPr>
            <a:spLocks xmlns:a="http://schemas.openxmlformats.org/drawingml/2006/main" noGrp="1"/>
          </p:cNvSpPr>
          <p:nvPr/>
        </p:nvSpPr>
        <p:spPr>
          <a:xfrm xmlns:a="http://schemas.openxmlformats.org/drawingml/2006/main">
            <a:off x="43434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25485A"/>
                </a:solidFill>
                <a:latin typeface="Pretendard"/>
                <a:ea typeface="Pretendard"/>
                <a:cs typeface="Pretendard"/>
              </a:defRPr>
            </a:defPPr>
          </a:lstStyle>
          <a:p xmlns:a="http://schemas.openxmlformats.org/drawingml/2006/main">
            <a:pPr algn="l">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지도와 리뷰</a:t>
            </a:r>
          </a:p>
        </p:txBody>
      </p:sp>
      <p:sp>
        <p:nvSpPr>
          <p:cNvPr id="83" name="장소를 고르고 거리 비교">
            <a:extLst xmlns:a="http://schemas.openxmlformats.org/drawingml/2006/main">
              <a:ext uri="{FF2B5EF4-FFF2-40B4-BE49-F238E27FC236}">
                <a16:creationId xmlns:a16="http://schemas.microsoft.com/office/drawing/2014/main" id="{1EAA2EE7-2EC9-4A30-A68D-49BE9DA0FD3E}"/>
              </a:ext>
            </a:extLst>
          </p:cNvPr>
          <p:cNvSpPr>
            <a:spLocks xmlns:a="http://schemas.openxmlformats.org/drawingml/2006/main" noGrp="1"/>
          </p:cNvSpPr>
          <p:nvPr/>
        </p:nvSpPr>
        <p:spPr>
          <a:xfrm xmlns:a="http://schemas.openxmlformats.org/drawingml/2006/main">
            <a:off x="43434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장소를 고르고 거리 비교</a:t>
            </a:r>
          </a:p>
        </p:txBody>
      </p:sp>
      <p:sp>
        <p:nvSpPr>
          <p:cNvPr id="84" name="여행 메모">
            <a:extLst xmlns:a="http://schemas.openxmlformats.org/drawingml/2006/main">
              <a:ext uri="{FF2B5EF4-FFF2-40B4-BE49-F238E27FC236}">
                <a16:creationId xmlns:a16="http://schemas.microsoft.com/office/drawing/2014/main" id="{C8C86696-9FB9-46F1-AA9C-2A14BC62B20A}"/>
              </a:ext>
            </a:extLst>
          </p:cNvPr>
          <p:cNvSpPr>
            <a:spLocks xmlns:a="http://schemas.openxmlformats.org/drawingml/2006/main" noGrp="1"/>
          </p:cNvSpPr>
          <p:nvPr/>
        </p:nvSpPr>
        <p:spPr>
          <a:xfrm xmlns:a="http://schemas.openxmlformats.org/drawingml/2006/main">
            <a:off x="8077200" y="4533900"/>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00" b="1">
                <a:solidFill>
                  <a:srgbClr val="25485A"/>
                </a:solidFill>
                <a:latin typeface="Pretendard"/>
                <a:ea typeface="Pretendard"/>
                <a:cs typeface="Pretendard"/>
              </a:defRPr>
            </a:defPPr>
          </a:lstStyle>
          <a:p xmlns:a="http://schemas.openxmlformats.org/drawingml/2006/main">
            <a:pPr algn="l">
              <a:buNone/>
              <a:defRPr sz="2400" b="1">
                <a:solidFill>
                  <a:srgbClr val="25485A"/>
                </a:solidFill>
                <a:latin typeface="Pretendard"/>
                <a:ea typeface="Pretendard"/>
                <a:cs typeface="Pretendard"/>
              </a:defRPr>
            </a:pPr>
            <a:r>
              <a:rPr sz="2400" b="1">
                <a:solidFill>
                  <a:srgbClr val="25485A"/>
                </a:solidFill>
                <a:latin typeface="Pretendard"/>
                <a:ea typeface="Pretendard"/>
                <a:cs typeface="Pretendard"/>
              </a:rPr>
              <a:t>여행 메모</a:t>
            </a:r>
          </a:p>
        </p:txBody>
      </p:sp>
      <p:sp>
        <p:nvSpPr>
          <p:cNvPr id="85" name="예약과 동선을 다시 맞추기">
            <a:extLst xmlns:a="http://schemas.openxmlformats.org/drawingml/2006/main">
              <a:ext uri="{FF2B5EF4-FFF2-40B4-BE49-F238E27FC236}">
                <a16:creationId xmlns:a16="http://schemas.microsoft.com/office/drawing/2014/main" id="{0351A8FA-234E-4C44-ADB2-3431757232B0}"/>
              </a:ext>
            </a:extLst>
          </p:cNvPr>
          <p:cNvSpPr>
            <a:spLocks xmlns:a="http://schemas.openxmlformats.org/drawingml/2006/main" noGrp="1"/>
          </p:cNvSpPr>
          <p:nvPr/>
        </p:nvSpPr>
        <p:spPr>
          <a:xfrm xmlns:a="http://schemas.openxmlformats.org/drawingml/2006/main">
            <a:off x="8077200" y="5114925"/>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예약과 동선을 다시 맞추기</a:t>
            </a:r>
          </a:p>
        </p:txBody>
      </p:sp>
    </p:spTree>
    <p:extLst>
      <p:ext uri="{BB962C8B-B14F-4D97-AF65-F5344CB8AC3E}">
        <p14:creationId xmlns:p14="http://schemas.microsoft.com/office/powerpoint/2010/main" val="2030801100"/>
      </p:ext>
    </p:extLst>
  </p:cSld>
</p:sld>
</file>

<file path=ppt/slides/slide3.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89" name="고잉  /  사용 흐름">
            <a:extLst xmlns:a="http://schemas.openxmlformats.org/drawingml/2006/main">
              <a:ext uri="{FF2B5EF4-FFF2-40B4-BE49-F238E27FC236}">
                <a16:creationId xmlns:a16="http://schemas.microsoft.com/office/drawing/2014/main" id="{3411D6DE-A84F-4051-A617-52EC08D6C07D}"/>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사용 흐름</a:t>
            </a:r>
          </a:p>
        </p:txBody>
      </p:sp>
      <p:sp>
        <p:nvSpPr>
          <p:cNvPr id="90" name="여행 하나를 중심으로">
            <a:extLst xmlns:a="http://schemas.openxmlformats.org/drawingml/2006/main">
              <a:ext uri="{FF2B5EF4-FFF2-40B4-BE49-F238E27FC236}">
                <a16:creationId xmlns:a16="http://schemas.microsoft.com/office/drawing/2014/main" id="{E3FBAEAB-0A6E-4736-928E-A1ECC411A36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추천과 질문을 메인에서</a:t>
            </a:r>
          </a:p>
        </p:txBody>
      </p:sp>
      <p:sp>
        <p:nvSpPr>
          <p:cNvPr id="91" name="도시와 날짜를 한 번 입력하고 계속 이어서 사용합니다">
            <a:extLst xmlns:a="http://schemas.openxmlformats.org/drawingml/2006/main">
              <a:ext uri="{FF2B5EF4-FFF2-40B4-BE49-F238E27FC236}">
                <a16:creationId xmlns:a16="http://schemas.microsoft.com/office/drawing/2014/main" id="{6010E9E6-6CCB-4B40-BE00-6928E5E5515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여행 조건은 이어받고, 필요한 정보만 나중에 더합니다</a:t>
            </a:r>
          </a:p>
        </p:txBody>
      </p:sp>
      <p:sp>
        <p:nvSpPr>
          <p:cNvPr id="92" name="03">
            <a:extLst xmlns:a="http://schemas.openxmlformats.org/drawingml/2006/main">
              <a:ext uri="{FF2B5EF4-FFF2-40B4-BE49-F238E27FC236}">
                <a16:creationId xmlns:a16="http://schemas.microsoft.com/office/drawing/2014/main" id="{A0F443CD-A931-4451-965D-95A07B5517B0}"/>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03</a:t>
            </a:r>
          </a:p>
        </p:txBody>
      </p:sp>
      <p:sp>
        <p:nvSpPr>
          <p:cNvPr id="93" name="도시와 날짜를 먼저">
            <a:extLst xmlns:a="http://schemas.openxmlformats.org/drawingml/2006/main">
              <a:ext uri="{FF2B5EF4-FFF2-40B4-BE49-F238E27FC236}">
                <a16:creationId xmlns:a16="http://schemas.microsoft.com/office/drawing/2014/main" id="{10DB1417-5C13-42D3-88A2-6B0D812908A7}"/>
              </a:ext>
            </a:extLst>
          </p:cNvPr>
          <p:cNvSpPr>
            <a:spLocks xmlns:a="http://schemas.openxmlformats.org/drawingml/2006/main" noGrp="1"/>
          </p:cNvSpPr>
          <p:nvPr/>
        </p:nvSpPr>
        <p:spPr>
          <a:xfrm xmlns:a="http://schemas.openxmlformats.org/drawingml/2006/main">
            <a:off x="609600" y="241935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25485A"/>
                </a:solidFill>
                <a:latin typeface="Pretendard"/>
                <a:ea typeface="Pretendard"/>
                <a:cs typeface="Pretendard"/>
              </a:defRPr>
            </a:defPPr>
          </a:lstStyle>
          <a:p xmlns:a="http://schemas.openxmlformats.org/drawingml/2006/main">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가볼 곳과 예약 질문</a:t>
            </a:r>
          </a:p>
        </p:txBody>
      </p:sp>
      <p:sp>
        <p:nvSpPr>
          <p:cNvPr id="94" name="예약과 장소, 일정에서 같은 여행 정보를 재사용">
            <a:extLst xmlns:a="http://schemas.openxmlformats.org/drawingml/2006/main">
              <a:ext uri="{FF2B5EF4-FFF2-40B4-BE49-F238E27FC236}">
                <a16:creationId xmlns:a16="http://schemas.microsoft.com/office/drawing/2014/main" id="{1FDB0F81-E904-4D6A-A1FA-2435EC2D37FD}"/>
              </a:ext>
            </a:extLst>
          </p:cNvPr>
          <p:cNvSpPr>
            <a:spLocks xmlns:a="http://schemas.openxmlformats.org/drawingml/2006/main" noGrp="1"/>
          </p:cNvSpPr>
          <p:nvPr/>
        </p:nvSpPr>
        <p:spPr>
          <a:xfrm xmlns:a="http://schemas.openxmlformats.org/drawingml/2006/main">
            <a:off x="609600" y="3105150"/>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252D2D"/>
                </a:solidFill>
                <a:latin typeface="Pretendard"/>
                <a:ea typeface="Pretendard"/>
                <a:cs typeface="Pretendard"/>
              </a:defRPr>
            </a:defPPr>
          </a:lstStyle>
          <a:p xmlns:a="http://schemas.openxmlformats.org/drawingml/2006/main">
            <a:pPr algn="l">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최근 장소를 바로 저장</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메인에서 AI 질문 시작</a:t>
            </a:r>
          </a:p>
        </p:txBody>
      </p:sp>
      <p:sp>
        <p:nvSpPr>
          <p:cNvPr id="95" name="숙소 없이도 시작 필요한 조건만 나중에 추가">
            <a:extLst xmlns:a="http://schemas.openxmlformats.org/drawingml/2006/main">
              <a:ext uri="{FF2B5EF4-FFF2-40B4-BE49-F238E27FC236}">
                <a16:creationId xmlns:a16="http://schemas.microsoft.com/office/drawing/2014/main" id="{8FBF7939-DAFF-4FAF-8140-56054EF97E07}"/>
              </a:ext>
            </a:extLst>
          </p:cNvPr>
          <p:cNvSpPr>
            <a:spLocks xmlns:a="http://schemas.openxmlformats.org/drawingml/2006/main" noGrp="1"/>
          </p:cNvSpPr>
          <p:nvPr/>
        </p:nvSpPr>
        <p:spPr>
          <a:xfrm xmlns:a="http://schemas.openxmlformats.org/drawingml/2006/main">
            <a:off x="609600" y="4619625"/>
            <a:ext cx="33147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627178"/>
                </a:solidFill>
                <a:latin typeface="Pretendard"/>
                <a:ea typeface="Pretendard"/>
                <a:cs typeface="Pretendard"/>
              </a:defRPr>
            </a:defPPr>
          </a:lstStyle>
          <a:p xmlns:a="http://schemas.openxmlformats.org/drawingml/2006/main">
            <a:pPr algn="l">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숙소와 취향은 선택</a:t>
            </a:r>
            <a:br>
              <a:rPr sz="2025" b="0">
                <a:solidFill>
                  <a:srgbClr val="627178"/>
                </a:solidFill>
                <a:latin typeface="Pretendard"/>
                <a:ea typeface="Pretendard"/>
                <a:cs typeface="Pretendard"/>
              </a:rPr>
            </a:br>
            <a:r>
              <a:rPr sz="2025" b="0">
                <a:solidFill>
                  <a:srgbClr val="627178"/>
                </a:solidFill>
                <a:latin typeface="Pretendard"/>
                <a:ea typeface="Pretendard"/>
                <a:cs typeface="Pretendard"/>
              </a:rPr>
              <a:t>추천 진행 상태도 이어 보기</a:t>
            </a:r>
          </a:p>
        </p:txBody>
      </p:sp>
      <p:pic>
        <p:nvPicPr>
          <p:cNvPr id="96" name="image2.png">
            <a:extLst xmlns:a="http://schemas.openxmlformats.org/drawingml/2006/main">
              <a:ext uri="{FF2B5EF4-FFF2-40B4-BE49-F238E27FC236}">
                <a16:creationId xmlns:a16="http://schemas.microsoft.com/office/drawing/2014/main" id="{5887671A-2DA5-432A-A116-2A05205517DA}"/>
              </a:ext>
            </a:extLst>
          </p:cNvPr>
          <p:cNvPicPr>
            <a:picLocks xmlns:a="http://schemas.openxmlformats.org/drawingml/2006/main" noChangeAspect="1"/>
          </p:cNvPicPr>
          <p:nvPr/>
        </p:nvPicPr>
        <p:blipFill>
          <a:blip xmlns:r="http://schemas.openxmlformats.org/officeDocument/2006/relationships" xmlns:a="http://schemas.openxmlformats.org/drawingml/2006/main" r:embed="R45d889c7003943f4"/>
          <a:srcRect xmlns:a="http://schemas.openxmlformats.org/drawingml/2006/main" l="6349" t="23148" r="6349" b="25794"/>
          <a:stretch xmlns:a="http://schemas.openxmlformats.org/drawingml/2006/main">
            <a:fillRect l="0" t="0" r="0" b="0"/>
          </a:stretch>
        </p:blipFill>
        <p:spPr>
          <a:xfrm xmlns:a="http://schemas.openxmlformats.org/drawingml/2006/main">
            <a:off x="4333875" y="2190750"/>
            <a:ext cx="7191375" cy="4105275"/>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64176442"/>
      </p:ext>
    </p:extLst>
  </p:cSld>
</p:sld>
</file>

<file path=ppt/slides/slide4.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00" name="고잉  /  메일 분석">
            <a:extLst xmlns:a="http://schemas.openxmlformats.org/drawingml/2006/main">
              <a:ext uri="{FF2B5EF4-FFF2-40B4-BE49-F238E27FC236}">
                <a16:creationId xmlns:a16="http://schemas.microsoft.com/office/drawing/2014/main" id="{2F4877EC-9060-4E06-BD0C-599C0896B821}"/>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메일 분석</a:t>
            </a:r>
          </a:p>
        </p:txBody>
      </p:sp>
      <p:sp>
        <p:nvSpPr>
          <p:cNvPr id="101" name="메일을 예약으로 정리하기">
            <a:extLst xmlns:a="http://schemas.openxmlformats.org/drawingml/2006/main">
              <a:ext uri="{FF2B5EF4-FFF2-40B4-BE49-F238E27FC236}">
                <a16:creationId xmlns:a16="http://schemas.microsoft.com/office/drawing/2014/main" id="{87FDD1E0-2F9B-431B-B44E-D6ECEFA9162F}"/>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buNone/>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메일을 예약으로 정리하기</a:t>
            </a:r>
          </a:p>
        </p:txBody>
      </p:sp>
      <p:sp>
        <p:nvSpPr>
          <p:cNvPr id="102" name="읽어 낸 날짜와 시간을 사용자가 확인하고 수정합니다">
            <a:extLst xmlns:a="http://schemas.openxmlformats.org/drawingml/2006/main">
              <a:ext uri="{FF2B5EF4-FFF2-40B4-BE49-F238E27FC236}">
                <a16:creationId xmlns:a16="http://schemas.microsoft.com/office/drawing/2014/main" id="{82E953F5-E4C3-4833-81B6-0D090DD4FD87}"/>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읽어 낸 날짜와 시간을 사용자가 확인하고 수정합니다</a:t>
            </a:r>
          </a:p>
        </p:txBody>
      </p:sp>
      <p:sp>
        <p:nvSpPr>
          <p:cNvPr id="103" name="04">
            <a:extLst xmlns:a="http://schemas.openxmlformats.org/drawingml/2006/main">
              <a:ext uri="{FF2B5EF4-FFF2-40B4-BE49-F238E27FC236}">
                <a16:creationId xmlns:a16="http://schemas.microsoft.com/office/drawing/2014/main" id="{FA8C99E5-8D52-473F-AD1E-5FA821549274}"/>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04</a:t>
            </a:r>
          </a:p>
        </p:txBody>
      </p:sp>
      <p:sp>
        <p:nvSpPr>
          <p:cNvPr id="104" name="AI가 읽고, 사용자가 확인">
            <a:extLst xmlns:a="http://schemas.openxmlformats.org/drawingml/2006/main">
              <a:ext uri="{FF2B5EF4-FFF2-40B4-BE49-F238E27FC236}">
                <a16:creationId xmlns:a16="http://schemas.microsoft.com/office/drawing/2014/main" id="{24E56905-8F33-4AF3-B4A4-A940888431AE}"/>
              </a:ext>
            </a:extLst>
          </p:cNvPr>
          <p:cNvSpPr>
            <a:spLocks xmlns:a="http://schemas.openxmlformats.org/drawingml/2006/main" noGrp="1"/>
          </p:cNvSpPr>
          <p:nvPr/>
        </p:nvSpPr>
        <p:spPr>
          <a:xfrm xmlns:a="http://schemas.openxmlformats.org/drawingml/2006/main">
            <a:off x="609600" y="2390775"/>
            <a:ext cx="5381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1">
                <a:solidFill>
                  <a:srgbClr val="25485A"/>
                </a:solidFill>
                <a:latin typeface="Pretendard"/>
                <a:ea typeface="Pretendard"/>
                <a:cs typeface="Pretendard"/>
              </a:defRPr>
            </a:defPPr>
          </a:lstStyle>
          <a:p xmlns:a="http://schemas.openxmlformats.org/drawingml/2006/main">
            <a:pPr algn="l">
              <a:buNone/>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AI가 읽고, 사용자가 확인</a:t>
            </a:r>
          </a:p>
        </p:txBody>
      </p:sp>
      <p:sp>
        <p:nvSpPr>
          <p:cNvPr id="105" name="체크인과 체크아웃을 한눈에">
            <a:extLst xmlns:a="http://schemas.openxmlformats.org/drawingml/2006/main">
              <a:ext uri="{FF2B5EF4-FFF2-40B4-BE49-F238E27FC236}">
                <a16:creationId xmlns:a16="http://schemas.microsoft.com/office/drawing/2014/main" id="{D0E6CBC5-EF41-40C8-BD84-7982EFE468EE}"/>
              </a:ext>
            </a:extLst>
          </p:cNvPr>
          <p:cNvSpPr>
            <a:spLocks xmlns:a="http://schemas.openxmlformats.org/drawingml/2006/main" noGrp="1"/>
          </p:cNvSpPr>
          <p:nvPr/>
        </p:nvSpPr>
        <p:spPr>
          <a:xfrm xmlns:a="http://schemas.openxmlformats.org/drawingml/2006/main">
            <a:off x="609600" y="3086100"/>
            <a:ext cx="552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252D2D"/>
                </a:solidFill>
                <a:latin typeface="Pretendard"/>
                <a:ea typeface="Pretendard"/>
                <a:cs typeface="Pretendard"/>
              </a:defRPr>
            </a:defPPr>
          </a:lstStyle>
          <a:p xmlns:a="http://schemas.openxmlformats.org/drawingml/2006/main">
            <a:pPr algn="l">
              <a:buNone/>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체크인과 체크아웃을 한눈에</a:t>
            </a:r>
          </a:p>
        </p:txBody>
      </p:sp>
      <p:sp>
        <p:nvSpPr>
          <p:cNvPr id="106" name="왕복편과 복수 예약도 구분 직접 고친 값은 다시 분석해도 유지">
            <a:extLst xmlns:a="http://schemas.openxmlformats.org/drawingml/2006/main">
              <a:ext uri="{FF2B5EF4-FFF2-40B4-BE49-F238E27FC236}">
                <a16:creationId xmlns:a16="http://schemas.microsoft.com/office/drawing/2014/main" id="{9483A7F2-697C-4C6E-AFC8-688F8D577DDF}"/>
              </a:ext>
            </a:extLst>
          </p:cNvPr>
          <p:cNvSpPr>
            <a:spLocks xmlns:a="http://schemas.openxmlformats.org/drawingml/2006/main" noGrp="1"/>
          </p:cNvSpPr>
          <p:nvPr/>
        </p:nvSpPr>
        <p:spPr>
          <a:xfrm xmlns:a="http://schemas.openxmlformats.org/drawingml/2006/main">
            <a:off x="609600" y="4019550"/>
            <a:ext cx="5619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75" b="0">
                <a:solidFill>
                  <a:srgbClr val="252D2D"/>
                </a:solidFill>
                <a:latin typeface="Pretendard"/>
                <a:ea typeface="Pretendard"/>
                <a:cs typeface="Pretendard"/>
              </a:defRPr>
            </a:defPPr>
          </a:lstStyle>
          <a:p xmlns:a="http://schemas.openxmlformats.org/drawingml/2006/main">
            <a:pPr algn="l">
              <a:buNone/>
              <a:defRPr sz="2175" b="0">
                <a:solidFill>
                  <a:srgbClr val="252D2D"/>
                </a:solidFill>
                <a:latin typeface="Pretendard"/>
                <a:ea typeface="Pretendard"/>
                <a:cs typeface="Pretendard"/>
              </a:defRPr>
            </a:pPr>
            <a:r>
              <a:rPr sz="2175" b="0">
                <a:solidFill>
                  <a:srgbClr val="252D2D"/>
                </a:solidFill>
                <a:latin typeface="Pretendard"/>
                <a:ea typeface="Pretendard"/>
                <a:cs typeface="Pretendard"/>
              </a:rPr>
              <a:t>왕복편과 복수 예약도 구분</a:t>
            </a:r>
            <a:br>
              <a:rPr sz="2175" b="0">
                <a:solidFill>
                  <a:srgbClr val="252D2D"/>
                </a:solidFill>
                <a:latin typeface="Pretendard"/>
                <a:ea typeface="Pretendard"/>
                <a:cs typeface="Pretendard"/>
              </a:rPr>
            </a:br>
            <a:r>
              <a:rPr sz="2175" b="0">
                <a:solidFill>
                  <a:srgbClr val="252D2D"/>
                </a:solidFill>
                <a:latin typeface="Pretendard"/>
                <a:ea typeface="Pretendard"/>
                <a:cs typeface="Pretendard"/>
              </a:rPr>
              <a:t>직접 고친 값은 다시 분석해도 유지</a:t>
            </a:r>
          </a:p>
        </p:txBody>
      </p:sp>
      <p:sp>
        <p:nvSpPr>
          <p:cNvPr id="107" name="AI 분석: gpt-5-mini 화면: 가상 메일의 기본 분석 예시">
            <a:extLst xmlns:a="http://schemas.openxmlformats.org/drawingml/2006/main">
              <a:ext uri="{FF2B5EF4-FFF2-40B4-BE49-F238E27FC236}">
                <a16:creationId xmlns:a16="http://schemas.microsoft.com/office/drawing/2014/main" id="{1CC756D3-E8F5-4B59-8100-9F84F885DB2C}"/>
              </a:ext>
            </a:extLst>
          </p:cNvPr>
          <p:cNvSpPr>
            <a:spLocks xmlns:a="http://schemas.openxmlformats.org/drawingml/2006/main" noGrp="1"/>
          </p:cNvSpPr>
          <p:nvPr/>
        </p:nvSpPr>
        <p:spPr>
          <a:xfrm xmlns:a="http://schemas.openxmlformats.org/drawingml/2006/main">
            <a:off x="609600" y="5505450"/>
            <a:ext cx="5524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627178"/>
                </a:solidFill>
                <a:latin typeface="Pretendard"/>
                <a:ea typeface="Pretendard"/>
                <a:cs typeface="Pretendard"/>
              </a:defRPr>
            </a:defPPr>
          </a:lstStyle>
          <a:p xmlns:a="http://schemas.openxmlformats.org/drawingml/2006/main">
            <a:pPr algn="l">
              <a:buNone/>
              <a:defRPr sz="1800" b="0">
                <a:solidFill>
                  <a:srgbClr val="627178"/>
                </a:solidFill>
                <a:latin typeface="Pretendard"/>
                <a:ea typeface="Pretendard"/>
                <a:cs typeface="Pretendard"/>
              </a:defRPr>
            </a:pPr>
            <a:r>
              <a:rPr sz="1800" b="0">
                <a:solidFill>
                  <a:srgbClr val="627178"/>
                </a:solidFill>
                <a:latin typeface="Pretendard"/>
                <a:ea typeface="Pretendard"/>
                <a:cs typeface="Pretendard"/>
              </a:rPr>
              <a:t>AI 분석: gpt-5-mini</a:t>
            </a:r>
            <a:br>
              <a:rPr sz="1800" b="0">
                <a:solidFill>
                  <a:srgbClr val="627178"/>
                </a:solidFill>
                <a:latin typeface="Pretendard"/>
                <a:ea typeface="Pretendard"/>
                <a:cs typeface="Pretendard"/>
              </a:rPr>
            </a:br>
            <a:r>
              <a:rPr sz="1800" b="0">
                <a:solidFill>
                  <a:srgbClr val="627178"/>
                </a:solidFill>
                <a:latin typeface="Pretendard"/>
                <a:ea typeface="Pretendard"/>
                <a:cs typeface="Pretendard"/>
              </a:rPr>
              <a:t>화면: 가상 메일의 기본 분석 예시</a:t>
            </a:r>
          </a:p>
        </p:txBody>
      </p:sp>
      <p:pic>
        <p:nvPicPr>
          <p:cNvPr id="108" name="image3.png">
            <a:extLst xmlns:a="http://schemas.openxmlformats.org/drawingml/2006/main">
              <a:ext uri="{FF2B5EF4-FFF2-40B4-BE49-F238E27FC236}">
                <a16:creationId xmlns:a16="http://schemas.microsoft.com/office/drawing/2014/main" id="{3F2EA774-D5FE-4BAC-9C9A-12B2A62AD093}"/>
              </a:ext>
            </a:extLst>
          </p:cNvPr>
          <p:cNvPicPr>
            <a:picLocks xmlns:a="http://schemas.openxmlformats.org/drawingml/2006/main" noChangeAspect="1"/>
          </p:cNvPicPr>
          <p:nvPr/>
        </p:nvPicPr>
        <p:blipFill>
          <a:blip xmlns:r="http://schemas.openxmlformats.org/officeDocument/2006/relationships" xmlns:a="http://schemas.openxmlformats.org/drawingml/2006/main" r:embed="R9679d44a2c69446e"/>
          <a:stretch xmlns:a="http://schemas.openxmlformats.org/drawingml/2006/main">
            <a:fillRect l="0" t="0" r="0" b="0"/>
          </a:stretch>
        </p:blipFill>
        <p:spPr>
          <a:xfrm xmlns:a="http://schemas.openxmlformats.org/drawingml/2006/main">
            <a:off x="6495677" y="2028825"/>
            <a:ext cx="4887071" cy="4257675"/>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1925833487"/>
      </p:ext>
    </p:extLst>
  </p:cSld>
</p:sld>
</file>

<file path=ppt/slides/slide5.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12" name="고잉  /  근거 기반 답변">
            <a:extLst xmlns:a="http://schemas.openxmlformats.org/drawingml/2006/main">
              <a:ext uri="{FF2B5EF4-FFF2-40B4-BE49-F238E27FC236}">
                <a16:creationId xmlns:a16="http://schemas.microsoft.com/office/drawing/2014/main" id="{2A01E457-CA6E-4099-BCB3-A1911AD1F064}"/>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근거 기반 답변</a:t>
            </a:r>
          </a:p>
        </p:txBody>
      </p:sp>
      <p:sp>
        <p:nvSpPr>
          <p:cNvPr id="113" name="날짜로 묻고, 원문으로 확인하기">
            <a:extLst xmlns:a="http://schemas.openxmlformats.org/drawingml/2006/main">
              <a:ext uri="{FF2B5EF4-FFF2-40B4-BE49-F238E27FC236}">
                <a16:creationId xmlns:a16="http://schemas.microsoft.com/office/drawing/2014/main" id="{56FE9A51-D026-4E72-B025-698BFF43378C}"/>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메인에서 묻고, 출처로 확인하기</a:t>
            </a:r>
          </a:p>
        </p:txBody>
      </p:sp>
      <p:sp>
        <p:nvSpPr>
          <p:cNvPr id="114" name="“2일차 예약을 전부 알려줘”라고 물어볼 수 있습니다">
            <a:extLst xmlns:a="http://schemas.openxmlformats.org/drawingml/2006/main">
              <a:ext uri="{FF2B5EF4-FFF2-40B4-BE49-F238E27FC236}">
                <a16:creationId xmlns:a16="http://schemas.microsoft.com/office/drawing/2014/main" id="{BA61864E-D91A-4D4E-B3A5-4A09C4125803}"/>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“1일차 예약을 전부 알려줘”에 답하고 사용한 출처를 보여줍니다</a:t>
            </a:r>
          </a:p>
        </p:txBody>
      </p:sp>
      <p:sp>
        <p:nvSpPr>
          <p:cNvPr id="115" name="05">
            <a:extLst xmlns:a="http://schemas.openxmlformats.org/drawingml/2006/main">
              <a:ext uri="{FF2B5EF4-FFF2-40B4-BE49-F238E27FC236}">
                <a16:creationId xmlns:a16="http://schemas.microsoft.com/office/drawing/2014/main" id="{7F6527D4-8991-47D9-B38A-2D1F9D536671}"/>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05</a:t>
            </a:r>
          </a:p>
        </p:txBody>
      </p:sp>
      <p:pic>
        <p:nvPicPr>
          <p:cNvPr id="116" name="image4.png">
            <a:extLst xmlns:a="http://schemas.openxmlformats.org/drawingml/2006/main">
              <a:ext uri="{FF2B5EF4-FFF2-40B4-BE49-F238E27FC236}">
                <a16:creationId xmlns:a16="http://schemas.microsoft.com/office/drawing/2014/main" id="{841DCA4D-0F87-4301-9DDE-76EAFDC74A3E}"/>
              </a:ext>
            </a:extLst>
          </p:cNvPr>
          <p:cNvPicPr>
            <a:picLocks xmlns:a="http://schemas.openxmlformats.org/drawingml/2006/main" noChangeAspect="1"/>
          </p:cNvPicPr>
          <p:nvPr/>
        </p:nvPicPr>
        <p:blipFill>
          <a:blip xmlns:r="http://schemas.openxmlformats.org/officeDocument/2006/relationships" xmlns:a="http://schemas.openxmlformats.org/drawingml/2006/main" r:embed="Re61b69ccfdca4fb9"/>
          <a:srcRect xmlns:a="http://schemas.openxmlformats.org/drawingml/2006/main" l="7606" t="53980" r="60979" b="30207"/>
          <a:stretch xmlns:a="http://schemas.openxmlformats.org/drawingml/2006/main">
            <a:fillRect l="0" t="0" r="0" b="0"/>
          </a:stretch>
        </p:blipFill>
        <p:spPr>
          <a:xfrm xmlns:a="http://schemas.openxmlformats.org/drawingml/2006/main">
            <a:off x="609600" y="3009900"/>
            <a:ext cx="6743700" cy="2057400"/>
          </a:xfrm>
          <a:prstGeom xmlns:a="http://schemas.openxmlformats.org/drawingml/2006/main" prst="rect">
            <a:avLst/>
          </a:prstGeom>
          <a:ln xmlns:a="http://schemas.openxmlformats.org/drawingml/2006/main" w="12700">
            <a:miter/>
          </a:ln>
        </p:spPr>
      </p:pic>
      <p:pic>
        <p:nvPicPr>
          <p:cNvPr id="117" name="image5.png">
            <a:extLst xmlns:a="http://schemas.openxmlformats.org/drawingml/2006/main">
              <a:ext uri="{FF2B5EF4-FFF2-40B4-BE49-F238E27FC236}">
                <a16:creationId xmlns:a16="http://schemas.microsoft.com/office/drawing/2014/main" id="{08875CA8-7E81-4A6D-AA9B-F767E8E9CBF9}"/>
              </a:ext>
            </a:extLst>
          </p:cNvPr>
          <p:cNvPicPr>
            <a:picLocks xmlns:a="http://schemas.openxmlformats.org/drawingml/2006/main" noChangeAspect="1"/>
          </p:cNvPicPr>
          <p:nvPr/>
        </p:nvPicPr>
        <p:blipFill>
          <a:blip xmlns:r="http://schemas.openxmlformats.org/officeDocument/2006/relationships" xmlns:a="http://schemas.openxmlformats.org/drawingml/2006/main" r:embed="R0fad422cb49c4197"/>
          <a:srcRect xmlns:a="http://schemas.openxmlformats.org/drawingml/2006/main" l="28175" t="25948" r="28175" b="25364"/>
          <a:stretch xmlns:a="http://schemas.openxmlformats.org/drawingml/2006/main">
            <a:fillRect l="0" t="0" r="0" b="0"/>
          </a:stretch>
        </p:blipFill>
        <p:spPr>
          <a:xfrm xmlns:a="http://schemas.openxmlformats.org/drawingml/2006/main">
            <a:off x="7620000" y="3009900"/>
            <a:ext cx="3962400" cy="2009775"/>
          </a:xfrm>
          <a:prstGeom xmlns:a="http://schemas.openxmlformats.org/drawingml/2006/main" prst="rect">
            <a:avLst/>
          </a:prstGeom>
          <a:ln xmlns:a="http://schemas.openxmlformats.org/drawingml/2006/main" w="12700">
            <a:miter/>
          </a:ln>
        </p:spPr>
      </p:pic>
      <p:sp>
        <p:nvSpPr>
          <p:cNvPr id="118" name="날짜별 예약 전체 조회 / 답변에서 원문 근거 확인">
            <a:extLst xmlns:a="http://schemas.openxmlformats.org/drawingml/2006/main">
              <a:ext uri="{FF2B5EF4-FFF2-40B4-BE49-F238E27FC236}">
                <a16:creationId xmlns:a16="http://schemas.microsoft.com/office/drawing/2014/main" id="{D3789167-AA1D-486D-83BB-B4F2DFDB66DF}"/>
              </a:ext>
            </a:extLst>
          </p:cNvPr>
          <p:cNvSpPr>
            <a:spLocks xmlns:a="http://schemas.openxmlformats.org/drawingml/2006/main" noGrp="1"/>
          </p:cNvSpPr>
          <p:nvPr/>
        </p:nvSpPr>
        <p:spPr>
          <a:xfrm xmlns:a="http://schemas.openxmlformats.org/drawingml/2006/main">
            <a:off x="609600" y="613410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25485A"/>
                </a:solidFill>
                <a:latin typeface="Pretendard"/>
                <a:ea typeface="Pretendard"/>
                <a:cs typeface="Pretendard"/>
              </a:defRPr>
            </a:defPPr>
          </a:lstStyle>
          <a:p xmlns:a="http://schemas.openxmlformats.org/drawingml/2006/main">
            <a:pPr algn="l">
              <a:defRPr sz="2025" b="1">
                <a:solidFill>
                  <a:srgbClr val="25485A"/>
                </a:solidFill>
                <a:latin typeface="Pretendard"/>
                <a:ea typeface="Pretendard"/>
                <a:cs typeface="Pretendard"/>
              </a:defRPr>
            </a:pPr>
            <a:r>
              <a:rPr sz="2025" b="1">
                <a:solidFill>
                  <a:srgbClr val="25485A"/>
                </a:solidFill>
                <a:latin typeface="Pretendard"/>
                <a:ea typeface="Pretendard"/>
                <a:cs typeface="Pretendard"/>
              </a:rPr>
              <a:t>날짜별 예약 전체 조회 / 메일과 직접 입력의 출처 구분</a:t>
            </a:r>
          </a:p>
        </p:txBody>
      </p:sp>
    </p:spTree>
    <p:extLst>
      <p:ext uri="{BB962C8B-B14F-4D97-AF65-F5344CB8AC3E}">
        <p14:creationId xmlns:p14="http://schemas.microsoft.com/office/powerpoint/2010/main" val="709654454"/>
      </p:ext>
    </p:extLst>
  </p:cSld>
</p:sld>
</file>

<file path=ppt/slides/slide6.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22" name="고잉  /  장소 탐색">
            <a:extLst xmlns:a="http://schemas.openxmlformats.org/drawingml/2006/main">
              <a:ext uri="{FF2B5EF4-FFF2-40B4-BE49-F238E27FC236}">
                <a16:creationId xmlns:a16="http://schemas.microsoft.com/office/drawing/2014/main" id="{B79713B1-B3AE-4933-8B74-6946DF3DEE84}"/>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장소 탐색</a:t>
            </a:r>
          </a:p>
        </p:txBody>
      </p:sp>
      <p:sp>
        <p:nvSpPr>
          <p:cNvPr id="123" name="사진과 조건을 보고 장소 고르기">
            <a:extLst xmlns:a="http://schemas.openxmlformats.org/drawingml/2006/main">
              <a:ext uri="{FF2B5EF4-FFF2-40B4-BE49-F238E27FC236}">
                <a16:creationId xmlns:a16="http://schemas.microsoft.com/office/drawing/2014/main" id="{19289787-9DA8-4D9C-8116-8114F67FFD47}"/>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장소를 고르고 바로 저장하기</a:t>
            </a:r>
          </a:p>
        </p:txBody>
      </p:sp>
      <p:sp>
        <p:nvSpPr>
          <p:cNvPr id="124" name="사진만 보고 정하기 어려운 정보를 함께 보여줍니다">
            <a:extLst xmlns:a="http://schemas.openxmlformats.org/drawingml/2006/main">
              <a:ext uri="{FF2B5EF4-FFF2-40B4-BE49-F238E27FC236}">
                <a16:creationId xmlns:a16="http://schemas.microsoft.com/office/drawing/2014/main" id="{729B897F-645F-44B1-8570-2F40365C4748}"/>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날짜와 인원은 재사용하고, 취향과 숙소는 선택해서 더합니다</a:t>
            </a:r>
          </a:p>
        </p:txBody>
      </p:sp>
      <p:sp>
        <p:nvSpPr>
          <p:cNvPr id="125" name="06">
            <a:extLst xmlns:a="http://schemas.openxmlformats.org/drawingml/2006/main">
              <a:ext uri="{FF2B5EF4-FFF2-40B4-BE49-F238E27FC236}">
                <a16:creationId xmlns:a16="http://schemas.microsoft.com/office/drawing/2014/main" id="{29EC0334-D01D-4F00-B2E3-172B4E86C4E7}"/>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06</a:t>
            </a:r>
          </a:p>
        </p:txBody>
      </p:sp>
      <p:sp>
        <p:nvSpPr>
          <p:cNvPr id="126" name="사진과 추천 이유">
            <a:extLst xmlns:a="http://schemas.openxmlformats.org/drawingml/2006/main">
              <a:ext uri="{FF2B5EF4-FFF2-40B4-BE49-F238E27FC236}">
                <a16:creationId xmlns:a16="http://schemas.microsoft.com/office/drawing/2014/main" id="{52945636-5EB5-48ED-B816-48639F09F1B5}"/>
              </a:ext>
            </a:extLst>
          </p:cNvPr>
          <p:cNvSpPr>
            <a:spLocks xmlns:a="http://schemas.openxmlformats.org/drawingml/2006/main" noGrp="1"/>
          </p:cNvSpPr>
          <p:nvPr/>
        </p:nvSpPr>
        <p:spPr>
          <a:xfrm xmlns:a="http://schemas.openxmlformats.org/drawingml/2006/main">
            <a:off x="609600" y="23622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25485A"/>
                </a:solidFill>
                <a:latin typeface="Pretendard"/>
                <a:ea typeface="Pretendard"/>
                <a:cs typeface="Pretendard"/>
              </a:defRPr>
            </a:defPPr>
          </a:lstStyle>
          <a:p xmlns:a="http://schemas.openxmlformats.org/drawingml/2006/main">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상세 보기와 바로 저장</a:t>
            </a:r>
          </a:p>
        </p:txBody>
      </p:sp>
      <p:sp>
        <p:nvSpPr>
          <p:cNvPr id="127" name="영업시간과 예약 방법의 출처 저장하고 최대 3곳 비교">
            <a:extLst xmlns:a="http://schemas.openxmlformats.org/drawingml/2006/main">
              <a:ext uri="{FF2B5EF4-FFF2-40B4-BE49-F238E27FC236}">
                <a16:creationId xmlns:a16="http://schemas.microsoft.com/office/drawing/2014/main" id="{91990B55-D863-4E8E-89CA-456A65992353}"/>
              </a:ext>
            </a:extLst>
          </p:cNvPr>
          <p:cNvSpPr>
            <a:spLocks xmlns:a="http://schemas.openxmlformats.org/drawingml/2006/main" noGrp="1"/>
          </p:cNvSpPr>
          <p:nvPr/>
        </p:nvSpPr>
        <p:spPr>
          <a:xfrm xmlns:a="http://schemas.openxmlformats.org/drawingml/2006/main">
            <a:off x="609600" y="3133725"/>
            <a:ext cx="4857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252D2D"/>
                </a:solidFill>
                <a:latin typeface="Pretendard"/>
                <a:ea typeface="Pretendard"/>
                <a:cs typeface="Pretendard"/>
              </a:defRPr>
            </a:defPPr>
          </a:lstStyle>
          <a:p xmlns:a="http://schemas.openxmlformats.org/drawingml/2006/main">
            <a:pPr algn="l">
              <a:defRPr sz="2100" b="0">
                <a:solidFill>
                  <a:srgbClr val="252D2D"/>
                </a:solidFill>
                <a:latin typeface="Pretendard"/>
                <a:ea typeface="Pretendard"/>
                <a:cs typeface="Pretendard"/>
              </a:defRPr>
            </a:pPr>
            <a:r>
              <a:rPr sz="2100" b="0">
                <a:solidFill>
                  <a:srgbClr val="252D2D"/>
                </a:solidFill>
                <a:latin typeface="Pretendard"/>
                <a:ea typeface="Pretendard"/>
                <a:cs typeface="Pretendard"/>
              </a:rPr>
              <a:t>영업·예약·가격의 출처 확인</a:t>
            </a:r>
            <a:br>
              <a:rPr sz="2100" b="0">
                <a:solidFill>
                  <a:srgbClr val="252D2D"/>
                </a:solidFill>
                <a:latin typeface="Pretendard"/>
                <a:ea typeface="Pretendard"/>
                <a:cs typeface="Pretendard"/>
              </a:rPr>
            </a:br>
            <a:r>
              <a:rPr sz="2100" b="0">
                <a:solidFill>
                  <a:srgbClr val="252D2D"/>
                </a:solidFill>
                <a:latin typeface="Pretendard"/>
                <a:ea typeface="Pretendard"/>
                <a:cs typeface="Pretendard"/>
              </a:rPr>
              <a:t>같은 조건으로 최대 3곳 비교</a:t>
            </a:r>
          </a:p>
        </p:txBody>
      </p:sp>
      <p:sp>
        <p:nvSpPr>
          <p:cNvPr id="128" name="숙소 기준 거리도 참고 모르는 조건은 확인 필요로 표시">
            <a:extLst xmlns:a="http://schemas.openxmlformats.org/drawingml/2006/main">
              <a:ext uri="{FF2B5EF4-FFF2-40B4-BE49-F238E27FC236}">
                <a16:creationId xmlns:a16="http://schemas.microsoft.com/office/drawing/2014/main" id="{8C9FD1BF-E05E-4E04-A6FA-110B4AFE12CE}"/>
              </a:ext>
            </a:extLst>
          </p:cNvPr>
          <p:cNvSpPr>
            <a:spLocks xmlns:a="http://schemas.openxmlformats.org/drawingml/2006/main" noGrp="1"/>
          </p:cNvSpPr>
          <p:nvPr/>
        </p:nvSpPr>
        <p:spPr>
          <a:xfrm xmlns:a="http://schemas.openxmlformats.org/drawingml/2006/main">
            <a:off x="609600" y="464820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627178"/>
                </a:solidFill>
                <a:latin typeface="Pretendard"/>
                <a:ea typeface="Pretendard"/>
                <a:cs typeface="Pretendard"/>
              </a:defRPr>
            </a:defPPr>
          </a:lstStyle>
          <a:p xmlns:a="http://schemas.openxmlformats.org/drawingml/2006/main">
            <a:pPr algn="l">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사진은 확보한 곳만 표시</a:t>
            </a:r>
            <a:br>
              <a:rPr sz="2025" b="0">
                <a:solidFill>
                  <a:srgbClr val="627178"/>
                </a:solidFill>
                <a:latin typeface="Pretendard"/>
                <a:ea typeface="Pretendard"/>
                <a:cs typeface="Pretendard"/>
              </a:rPr>
            </a:br>
            <a:r>
              <a:rPr sz="2025" b="0">
                <a:solidFill>
                  <a:srgbClr val="627178"/>
                </a:solidFill>
                <a:latin typeface="Pretendard"/>
                <a:ea typeface="Pretendard"/>
                <a:cs typeface="Pretendard"/>
              </a:rPr>
              <a:t>숙소와 도심의 거리 기준 구분</a:t>
            </a:r>
          </a:p>
        </p:txBody>
      </p:sp>
      <p:sp>
        <p:nvSpPr>
          <p:cNvPr id="129" name="마드리드 실제 식당 / 방문 조건 확인 필요">
            <a:extLst xmlns:a="http://schemas.openxmlformats.org/drawingml/2006/main">
              <a:ext uri="{FF2B5EF4-FFF2-40B4-BE49-F238E27FC236}">
                <a16:creationId xmlns:a16="http://schemas.microsoft.com/office/drawing/2014/main" id="{4F967219-8C02-4CD2-A0B9-023118AD5B6B}"/>
              </a:ext>
            </a:extLst>
          </p:cNvPr>
          <p:cNvSpPr>
            <a:spLocks xmlns:a="http://schemas.openxmlformats.org/drawingml/2006/main" noGrp="1"/>
          </p:cNvSpPr>
          <p:nvPr/>
        </p:nvSpPr>
        <p:spPr>
          <a:xfrm xmlns:a="http://schemas.openxmlformats.org/drawingml/2006/main">
            <a:off x="609600" y="58674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627178"/>
                </a:solidFill>
                <a:latin typeface="Pretendard"/>
                <a:ea typeface="Pretendard"/>
                <a:cs typeface="Pretendard"/>
              </a:defRPr>
            </a:defPPr>
          </a:lstStyle>
          <a:p xmlns:a="http://schemas.openxmlformats.org/drawingml/2006/main">
            <a:pPr algn="l">
              <a:defRPr sz="1575" b="0">
                <a:solidFill>
                  <a:srgbClr val="627178"/>
                </a:solidFill>
                <a:latin typeface="Pretendard"/>
                <a:ea typeface="Pretendard"/>
                <a:cs typeface="Pretendard"/>
              </a:defRPr>
            </a:pPr>
            <a:r>
              <a:rPr sz="1575" b="0">
                <a:solidFill>
                  <a:srgbClr val="627178"/>
                </a:solidFill>
                <a:latin typeface="Pretendard"/>
                <a:ea typeface="Pretendard"/>
                <a:cs typeface="Pretendard"/>
              </a:rPr>
              <a:t>이전 마드리드 화면 / 무료 사진이 없는 곳도 있음</a:t>
            </a:r>
          </a:p>
        </p:txBody>
      </p:sp>
      <p:pic>
        <p:nvPicPr>
          <p:cNvPr id="130" name="image6.png">
            <a:extLst xmlns:a="http://schemas.openxmlformats.org/drawingml/2006/main">
              <a:ext uri="{FF2B5EF4-FFF2-40B4-BE49-F238E27FC236}">
                <a16:creationId xmlns:a16="http://schemas.microsoft.com/office/drawing/2014/main" id="{AA9D1D04-7286-472F-8E2F-8640CD10BC0A}"/>
              </a:ext>
            </a:extLst>
          </p:cNvPr>
          <p:cNvPicPr>
            <a:picLocks xmlns:a="http://schemas.openxmlformats.org/drawingml/2006/main" noChangeAspect="1"/>
          </p:cNvPicPr>
          <p:nvPr/>
        </p:nvPicPr>
        <p:blipFill>
          <a:blip xmlns:r="http://schemas.openxmlformats.org/officeDocument/2006/relationships" xmlns:a="http://schemas.openxmlformats.org/drawingml/2006/main" r:embed="R0987192a1cc54dfc"/>
          <a:stretch xmlns:a="http://schemas.openxmlformats.org/drawingml/2006/main">
            <a:fillRect l="0" t="0" r="0" b="0"/>
          </a:stretch>
        </p:blipFill>
        <p:spPr>
          <a:xfrm xmlns:a="http://schemas.openxmlformats.org/drawingml/2006/main">
            <a:off x="6452489" y="2114550"/>
            <a:ext cx="4849622" cy="4210050"/>
          </a:xfrm>
          <a:prstGeom xmlns:a="http://schemas.openxmlformats.org/drawingml/2006/main" prst="rect">
            <a:avLst/>
          </a:prstGeom>
          <a:ln xmlns:a="http://schemas.openxmlformats.org/drawingml/2006/main" w="12700">
            <a:miter/>
          </a:ln>
        </p:spPr>
      </p:pic>
    </p:spTree>
    <p:extLst>
      <p:ext uri="{BB962C8B-B14F-4D97-AF65-F5344CB8AC3E}">
        <p14:creationId xmlns:p14="http://schemas.microsoft.com/office/powerpoint/2010/main" val="1342082862"/>
      </p:ext>
    </p:extLst>
  </p:cSld>
</p:sld>
</file>

<file path=ppt/slides/slide7.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34" name="고잉  /  추천의 기획">
            <a:extLst xmlns:a="http://schemas.openxmlformats.org/drawingml/2006/main">
              <a:ext uri="{FF2B5EF4-FFF2-40B4-BE49-F238E27FC236}">
                <a16:creationId xmlns:a16="http://schemas.microsoft.com/office/drawing/2014/main" id="{C5CD342F-E502-43F3-9788-BA7B3A040139}"/>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0">
                <a:solidFill>
                  <a:srgbClr val="627178"/>
                </a:solidFill>
                <a:latin typeface="Pretendard"/>
                <a:ea typeface="Pretendard"/>
                <a:cs typeface="Pretendard"/>
              </a:defRPr>
            </a:defPPr>
          </a:lstStyle>
          <a:p xmlns:a="http://schemas.openxmlformats.org/drawingml/2006/main">
            <a:pPr algn="l">
              <a:buNone/>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추천의 기획</a:t>
            </a:r>
          </a:p>
        </p:txBody>
      </p:sp>
      <p:sp>
        <p:nvSpPr>
          <p:cNvPr id="135" name="현지 탐색과 유명한 곳">
            <a:extLst xmlns:a="http://schemas.openxmlformats.org/drawingml/2006/main">
              <a:ext uri="{FF2B5EF4-FFF2-40B4-BE49-F238E27FC236}">
                <a16:creationId xmlns:a16="http://schemas.microsoft.com/office/drawing/2014/main" id="{33C1B1B0-0C58-4CA0-8E79-777C440FB933}"/>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buNone/>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현지 탐색과 유명한 곳</a:t>
            </a:r>
          </a:p>
        </p:txBody>
      </p:sp>
      <p:sp>
        <p:nvSpPr>
          <p:cNvPr id="136" name="여행에서 원하는 경험에 맞춰 나눠 찾습니다">
            <a:extLst xmlns:a="http://schemas.openxmlformats.org/drawingml/2006/main">
              <a:ext uri="{FF2B5EF4-FFF2-40B4-BE49-F238E27FC236}">
                <a16:creationId xmlns:a16="http://schemas.microsoft.com/office/drawing/2014/main" id="{B1C3BE5C-97B0-4930-9BDA-86802FCEBC18}"/>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여행에서 원하는 경험에 맞춰 나눠 찾습니다</a:t>
            </a:r>
          </a:p>
        </p:txBody>
      </p:sp>
      <p:sp>
        <p:nvSpPr>
          <p:cNvPr id="137" name="07">
            <a:extLst xmlns:a="http://schemas.openxmlformats.org/drawingml/2006/main">
              <a:ext uri="{FF2B5EF4-FFF2-40B4-BE49-F238E27FC236}">
                <a16:creationId xmlns:a16="http://schemas.microsoft.com/office/drawing/2014/main" id="{B946A0CA-A063-47AD-A7FE-04A6620FF70F}"/>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07</a:t>
            </a:r>
          </a:p>
        </p:txBody>
      </p:sp>
      <p:sp>
        <p:nvSpPr>
          <p:cNvPr id="138" name="현지 탐색">
            <a:extLst xmlns:a="http://schemas.openxmlformats.org/drawingml/2006/main">
              <a:ext uri="{FF2B5EF4-FFF2-40B4-BE49-F238E27FC236}">
                <a16:creationId xmlns:a16="http://schemas.microsoft.com/office/drawing/2014/main" id="{7AA4D806-604F-470D-BA55-01B3CB5242D1}"/>
              </a:ext>
            </a:extLst>
          </p:cNvPr>
          <p:cNvSpPr>
            <a:spLocks xmlns:a="http://schemas.openxmlformats.org/drawingml/2006/main" noGrp="1"/>
          </p:cNvSpPr>
          <p:nvPr/>
        </p:nvSpPr>
        <p:spPr>
          <a:xfrm xmlns:a="http://schemas.openxmlformats.org/drawingml/2006/main">
            <a:off x="609600" y="2466975"/>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850" b="1">
                <a:solidFill>
                  <a:srgbClr val="25485A"/>
                </a:solidFill>
                <a:latin typeface="Pretendard"/>
                <a:ea typeface="Pretendard"/>
                <a:cs typeface="Pretendard"/>
              </a:defRPr>
            </a:defPPr>
          </a:lstStyle>
          <a:p xmlns:a="http://schemas.openxmlformats.org/drawingml/2006/main">
            <a:pPr algn="l">
              <a:buNone/>
              <a:defRPr sz="2850" b="1">
                <a:solidFill>
                  <a:srgbClr val="25485A"/>
                </a:solidFill>
                <a:latin typeface="Pretendard"/>
                <a:ea typeface="Pretendard"/>
                <a:cs typeface="Pretendard"/>
              </a:defRPr>
            </a:pPr>
            <a:r>
              <a:rPr sz="2850" b="1">
                <a:solidFill>
                  <a:srgbClr val="25485A"/>
                </a:solidFill>
                <a:latin typeface="Pretendard"/>
                <a:ea typeface="Pretendard"/>
                <a:cs typeface="Pretendard"/>
              </a:rPr>
              <a:t>현지 탐색</a:t>
            </a:r>
          </a:p>
        </p:txBody>
      </p:sp>
      <p:sp>
        <p:nvSpPr>
          <p:cNvPr id="139" name="현지어 원문 리뷰가 많고 한국어가 적게 관측된 장소  미판별 리뷰와 관측 기간도 확인">
            <a:extLst xmlns:a="http://schemas.openxmlformats.org/drawingml/2006/main">
              <a:ext uri="{FF2B5EF4-FFF2-40B4-BE49-F238E27FC236}">
                <a16:creationId xmlns:a16="http://schemas.microsoft.com/office/drawing/2014/main" id="{6A53E1F3-2C33-4732-AF9B-83300D97EA0C}"/>
              </a:ext>
            </a:extLst>
          </p:cNvPr>
          <p:cNvSpPr>
            <a:spLocks xmlns:a="http://schemas.openxmlformats.org/drawingml/2006/main" noGrp="1"/>
          </p:cNvSpPr>
          <p:nvPr/>
        </p:nvSpPr>
        <p:spPr>
          <a:xfrm xmlns:a="http://schemas.openxmlformats.org/drawingml/2006/main">
            <a:off x="609600" y="3267075"/>
            <a:ext cx="516255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252D2D"/>
                </a:solidFill>
                <a:latin typeface="Pretendard"/>
                <a:ea typeface="Pretendard"/>
                <a:cs typeface="Pretendard"/>
              </a:defRPr>
            </a:defPPr>
          </a:lstStyle>
          <a:p xmlns:a="http://schemas.openxmlformats.org/drawingml/2006/main">
            <a:pPr algn="l">
              <a:buNone/>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현지어 원문 리뷰가 많고</a:t>
            </a: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한국어가 적게 관측된 장소</a:t>
            </a:r>
            <a:br>
              <a:rPr sz="2250" b="0">
                <a:solidFill>
                  <a:srgbClr val="252D2D"/>
                </a:solidFill>
                <a:latin typeface="Pretendard"/>
                <a:ea typeface="Pretendard"/>
                <a:cs typeface="Pretendard"/>
              </a:rPr>
            </a:b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미판별 리뷰와 관측 기간도 확인</a:t>
            </a:r>
          </a:p>
        </p:txBody>
      </p:sp>
      <p:sp>
        <p:nvSpPr>
          <p:cNvPr id="140" name="유명한 곳">
            <a:extLst xmlns:a="http://schemas.openxmlformats.org/drawingml/2006/main">
              <a:ext uri="{FF2B5EF4-FFF2-40B4-BE49-F238E27FC236}">
                <a16:creationId xmlns:a16="http://schemas.microsoft.com/office/drawing/2014/main" id="{86280EB1-13C2-4E5B-931F-7885ADBEA013}"/>
              </a:ext>
            </a:extLst>
          </p:cNvPr>
          <p:cNvSpPr>
            <a:spLocks xmlns:a="http://schemas.openxmlformats.org/drawingml/2006/main" noGrp="1"/>
          </p:cNvSpPr>
          <p:nvPr/>
        </p:nvSpPr>
        <p:spPr>
          <a:xfrm xmlns:a="http://schemas.openxmlformats.org/drawingml/2006/main">
            <a:off x="6591300" y="2466975"/>
            <a:ext cx="4914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850" b="1">
                <a:solidFill>
                  <a:srgbClr val="25485A"/>
                </a:solidFill>
                <a:latin typeface="Pretendard"/>
                <a:ea typeface="Pretendard"/>
                <a:cs typeface="Pretendard"/>
              </a:defRPr>
            </a:defPPr>
          </a:lstStyle>
          <a:p xmlns:a="http://schemas.openxmlformats.org/drawingml/2006/main">
            <a:pPr algn="l">
              <a:buNone/>
              <a:defRPr sz="2850" b="1">
                <a:solidFill>
                  <a:srgbClr val="25485A"/>
                </a:solidFill>
                <a:latin typeface="Pretendard"/>
                <a:ea typeface="Pretendard"/>
                <a:cs typeface="Pretendard"/>
              </a:defRPr>
            </a:pPr>
            <a:r>
              <a:rPr sz="2850" b="1">
                <a:solidFill>
                  <a:srgbClr val="25485A"/>
                </a:solidFill>
                <a:latin typeface="Pretendard"/>
                <a:ea typeface="Pretendard"/>
                <a:cs typeface="Pretendard"/>
              </a:rPr>
              <a:t>유명한 곳</a:t>
            </a:r>
          </a:p>
        </p:txBody>
      </p:sp>
      <p:sp>
        <p:nvSpPr>
          <p:cNvPr id="141" name="대표 명소와 알려진 식당 공식 소개와 플랫폼의 평가 규모  같은 날짜와 인원 조건으로 비교">
            <a:extLst xmlns:a="http://schemas.openxmlformats.org/drawingml/2006/main">
              <a:ext uri="{FF2B5EF4-FFF2-40B4-BE49-F238E27FC236}">
                <a16:creationId xmlns:a16="http://schemas.microsoft.com/office/drawing/2014/main" id="{AB4B45E6-A6AF-40B9-807F-E98F5663E9D0}"/>
              </a:ext>
            </a:extLst>
          </p:cNvPr>
          <p:cNvSpPr>
            <a:spLocks xmlns:a="http://schemas.openxmlformats.org/drawingml/2006/main" noGrp="1"/>
          </p:cNvSpPr>
          <p:nvPr/>
        </p:nvSpPr>
        <p:spPr>
          <a:xfrm xmlns:a="http://schemas.openxmlformats.org/drawingml/2006/main">
            <a:off x="6591300" y="3267075"/>
            <a:ext cx="4972050"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252D2D"/>
                </a:solidFill>
                <a:latin typeface="Pretendard"/>
                <a:ea typeface="Pretendard"/>
                <a:cs typeface="Pretendard"/>
              </a:defRPr>
            </a:defPPr>
          </a:lstStyle>
          <a:p xmlns:a="http://schemas.openxmlformats.org/drawingml/2006/main">
            <a:pPr algn="l">
              <a:buNone/>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대표 명소와 알려진 식당</a:t>
            </a: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공식 소개와 플랫폼의 평가 규모</a:t>
            </a:r>
            <a:br>
              <a:rPr sz="2250" b="0">
                <a:solidFill>
                  <a:srgbClr val="252D2D"/>
                </a:solidFill>
                <a:latin typeface="Pretendard"/>
                <a:ea typeface="Pretendard"/>
                <a:cs typeface="Pretendard"/>
              </a:rPr>
            </a:b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같은 날짜와 인원 조건으로 비교</a:t>
            </a:r>
          </a:p>
        </p:txBody>
      </p:sp>
      <p:sp>
        <p:nvSpPr>
          <p:cNvPr id="142" name="리뷰 언어는 주민 비율과 다릅니다. 엄격 현지어 추천은 실제 검증 전 OFF.">
            <a:extLst xmlns:a="http://schemas.openxmlformats.org/drawingml/2006/main">
              <a:ext uri="{FF2B5EF4-FFF2-40B4-BE49-F238E27FC236}">
                <a16:creationId xmlns:a16="http://schemas.microsoft.com/office/drawing/2014/main" id="{E3D927EE-75D1-4C86-B40D-882A9A74AC47}"/>
              </a:ext>
            </a:extLst>
          </p:cNvPr>
          <p:cNvSpPr>
            <a:spLocks xmlns:a="http://schemas.openxmlformats.org/drawingml/2006/main" noGrp="1"/>
          </p:cNvSpPr>
          <p:nvPr/>
        </p:nvSpPr>
        <p:spPr>
          <a:xfrm xmlns:a="http://schemas.openxmlformats.org/drawingml/2006/main">
            <a:off x="609600" y="5753100"/>
            <a:ext cx="10953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8E682B"/>
                </a:solidFill>
                <a:latin typeface="Pretendard"/>
                <a:ea typeface="Pretendard"/>
                <a:cs typeface="Pretendard"/>
              </a:defRPr>
            </a:defPPr>
          </a:lstStyle>
          <a:p xmlns:a="http://schemas.openxmlformats.org/drawingml/2006/main">
            <a:pPr algn="l">
              <a:buNone/>
              <a:defRPr sz="1800" b="0">
                <a:solidFill>
                  <a:srgbClr val="8E682B"/>
                </a:solidFill>
                <a:latin typeface="Pretendard"/>
                <a:ea typeface="Pretendard"/>
                <a:cs typeface="Pretendard"/>
              </a:defRPr>
            </a:pPr>
            <a:r>
              <a:rPr sz="1800" b="0">
                <a:solidFill>
                  <a:srgbClr val="8E682B"/>
                </a:solidFill>
                <a:latin typeface="Pretendard"/>
                <a:ea typeface="Pretendard"/>
                <a:cs typeface="Pretendard"/>
              </a:rPr>
              <a:t>리뷰 언어는 주민 비율과 다릅니다. 엄격 현지어 추천은 실제 검증 전 OFF.</a:t>
            </a:r>
          </a:p>
        </p:txBody>
      </p:sp>
    </p:spTree>
    <p:extLst>
      <p:ext uri="{BB962C8B-B14F-4D97-AF65-F5344CB8AC3E}">
        <p14:creationId xmlns:p14="http://schemas.microsoft.com/office/powerpoint/2010/main" val="10687946"/>
      </p:ext>
    </p:extLst>
  </p:cSld>
</p:sld>
</file>

<file path=ppt/slides/slide8.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46" name="고잉  /  일정 편집">
            <a:extLst xmlns:a="http://schemas.openxmlformats.org/drawingml/2006/main">
              <a:ext uri="{FF2B5EF4-FFF2-40B4-BE49-F238E27FC236}">
                <a16:creationId xmlns:a16="http://schemas.microsoft.com/office/drawing/2014/main" id="{D6834606-AA10-4250-9B77-DCC25DB9D99F}"/>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06C70"/>
                </a:solidFill>
                <a:latin typeface="Pretendard"/>
                <a:ea typeface="Pretendard"/>
                <a:cs typeface="Pretendard"/>
              </a:defRPr>
            </a:defPPr>
          </a:lstStyle>
          <a:p xmlns:a="http://schemas.openxmlformats.org/drawingml/2006/main">
            <a:pPr algn="l">
              <a:buNone/>
              <a:defRPr sz="1350" b="0">
                <a:solidFill>
                  <a:srgbClr val="606C70"/>
                </a:solidFill>
                <a:latin typeface="Pretendard"/>
                <a:ea typeface="Pretendard"/>
                <a:cs typeface="Pretendard"/>
              </a:defRPr>
            </a:pPr>
            <a:r>
              <a:rPr sz="1350" b="0">
                <a:solidFill>
                  <a:srgbClr val="606C70"/>
                </a:solidFill>
                <a:latin typeface="Pretendard"/>
                <a:ea typeface="Pretendard"/>
                <a:cs typeface="Pretendard"/>
              </a:rPr>
              <a:t>고잉  /  일정 편집</a:t>
            </a:r>
          </a:p>
        </p:txBody>
      </p:sp>
      <p:sp>
        <p:nvSpPr>
          <p:cNvPr id="147" name="예약 사이에 들어가는 일정">
            <a:extLst xmlns:a="http://schemas.openxmlformats.org/drawingml/2006/main">
              <a:ext uri="{FF2B5EF4-FFF2-40B4-BE49-F238E27FC236}">
                <a16:creationId xmlns:a16="http://schemas.microsoft.com/office/drawing/2014/main" id="{E64C237E-1566-42ED-94E7-7DE877769AE4}"/>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buNone/>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예약 사이에 들어가는 일정</a:t>
            </a:r>
          </a:p>
        </p:txBody>
      </p:sp>
      <p:sp>
        <p:nvSpPr>
          <p:cNvPr id="148" name="머무는 시간에 앞뒤 이동시간까지 더해 확인합니다">
            <a:extLst xmlns:a="http://schemas.openxmlformats.org/drawingml/2006/main">
              <a:ext uri="{FF2B5EF4-FFF2-40B4-BE49-F238E27FC236}">
                <a16:creationId xmlns:a16="http://schemas.microsoft.com/office/drawing/2014/main" id="{C2E9F801-8DB3-4FCA-B6CE-4B9B48241064}"/>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buNone/>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머무는 시간에 앞뒤 이동시간까지 더해 확인합니다</a:t>
            </a:r>
          </a:p>
        </p:txBody>
      </p:sp>
      <p:sp>
        <p:nvSpPr>
          <p:cNvPr id="149" name="08">
            <a:extLst xmlns:a="http://schemas.openxmlformats.org/drawingml/2006/main">
              <a:ext uri="{FF2B5EF4-FFF2-40B4-BE49-F238E27FC236}">
                <a16:creationId xmlns:a16="http://schemas.microsoft.com/office/drawing/2014/main" id="{05BBF4D0-09ED-466E-8D10-251AE39CA7AC}"/>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08</a:t>
            </a:r>
          </a:p>
        </p:txBody>
      </p:sp>
      <p:sp>
        <p:nvSpPr>
          <p:cNvPr id="150" name="13:00 – 15:00">
            <a:extLst xmlns:a="http://schemas.openxmlformats.org/drawingml/2006/main">
              <a:ext uri="{FF2B5EF4-FFF2-40B4-BE49-F238E27FC236}">
                <a16:creationId xmlns:a16="http://schemas.microsoft.com/office/drawing/2014/main" id="{948F7D56-7DB4-4D5B-BE42-9025665A5135}"/>
              </a:ext>
            </a:extLst>
          </p:cNvPr>
          <p:cNvSpPr>
            <a:spLocks xmlns:a="http://schemas.openxmlformats.org/drawingml/2006/main" noGrp="1"/>
          </p:cNvSpPr>
          <p:nvPr/>
        </p:nvSpPr>
        <p:spPr>
          <a:xfrm xmlns:a="http://schemas.openxmlformats.org/drawingml/2006/main">
            <a:off x="609600" y="22764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375" b="1">
                <a:solidFill>
                  <a:srgbClr val="25485A"/>
                </a:solidFill>
                <a:latin typeface="Pretendard"/>
                <a:ea typeface="Pretendard"/>
                <a:cs typeface="Pretendard"/>
              </a:defRPr>
            </a:defPPr>
          </a:lstStyle>
          <a:p xmlns:a="http://schemas.openxmlformats.org/drawingml/2006/main">
            <a:pPr algn="l">
              <a:buNone/>
              <a:defRPr sz="3375" b="1">
                <a:solidFill>
                  <a:srgbClr val="25485A"/>
                </a:solidFill>
                <a:latin typeface="Pretendard"/>
                <a:ea typeface="Pretendard"/>
                <a:cs typeface="Pretendard"/>
              </a:defRPr>
            </a:pPr>
            <a:r>
              <a:rPr sz="3375" b="1">
                <a:solidFill>
                  <a:srgbClr val="25485A"/>
                </a:solidFill>
                <a:latin typeface="Pretendard"/>
                <a:ea typeface="Pretendard"/>
                <a:cs typeface="Pretendard"/>
              </a:rPr>
              <a:t>13:00 – 15:00</a:t>
            </a:r>
          </a:p>
        </p:txBody>
      </p:sp>
      <p:sp>
        <p:nvSpPr>
          <p:cNvPr id="151" name="점심 종료부터 다음 예약까지 120분">
            <a:extLst xmlns:a="http://schemas.openxmlformats.org/drawingml/2006/main">
              <a:ext uri="{FF2B5EF4-FFF2-40B4-BE49-F238E27FC236}">
                <a16:creationId xmlns:a16="http://schemas.microsoft.com/office/drawing/2014/main" id="{914E9029-259B-4170-AC8C-6C1567950601}"/>
              </a:ext>
            </a:extLst>
          </p:cNvPr>
          <p:cNvSpPr>
            <a:spLocks xmlns:a="http://schemas.openxmlformats.org/drawingml/2006/main" noGrp="1"/>
          </p:cNvSpPr>
          <p:nvPr/>
        </p:nvSpPr>
        <p:spPr>
          <a:xfrm xmlns:a="http://schemas.openxmlformats.org/drawingml/2006/main">
            <a:off x="609600" y="30003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627178"/>
                </a:solidFill>
                <a:latin typeface="Pretendard"/>
                <a:ea typeface="Pretendard"/>
                <a:cs typeface="Pretendard"/>
              </a:defRPr>
            </a:defPPr>
          </a:lstStyle>
          <a:p xmlns:a="http://schemas.openxmlformats.org/drawingml/2006/main">
            <a:pPr algn="l">
              <a:buNone/>
              <a:defRPr sz="2025" b="0">
                <a:solidFill>
                  <a:srgbClr val="627178"/>
                </a:solidFill>
                <a:latin typeface="Pretendard"/>
                <a:ea typeface="Pretendard"/>
                <a:cs typeface="Pretendard"/>
              </a:defRPr>
            </a:pPr>
            <a:r>
              <a:rPr sz="2025" b="0">
                <a:solidFill>
                  <a:srgbClr val="627178"/>
                </a:solidFill>
                <a:latin typeface="Pretendard"/>
                <a:ea typeface="Pretendard"/>
                <a:cs typeface="Pretendard"/>
              </a:rPr>
              <a:t>점심 종료부터 다음 예약까지 120분</a:t>
            </a:r>
          </a:p>
        </p:txBody>
      </p:sp>
      <p:pic>
        <p:nvPicPr>
          <p:cNvPr id="152" name="image7.png">
            <a:extLst xmlns:a="http://schemas.openxmlformats.org/drawingml/2006/main">
              <a:ext uri="{FF2B5EF4-FFF2-40B4-BE49-F238E27FC236}">
                <a16:creationId xmlns:a16="http://schemas.microsoft.com/office/drawing/2014/main" id="{4375497F-9635-4523-A15A-7A08D1B16AB8}"/>
              </a:ext>
            </a:extLst>
          </p:cNvPr>
          <p:cNvPicPr>
            <a:picLocks xmlns:a="http://schemas.openxmlformats.org/drawingml/2006/main" noChangeAspect="1"/>
          </p:cNvPicPr>
          <p:nvPr/>
        </p:nvPicPr>
        <p:blipFill>
          <a:blip xmlns:r="http://schemas.openxmlformats.org/officeDocument/2006/relationships" xmlns:a="http://schemas.openxmlformats.org/drawingml/2006/main" r:embed="R9852964b72a443c2"/>
          <a:stretch xmlns:a="http://schemas.openxmlformats.org/drawingml/2006/main">
            <a:fillRect l="0" t="0" r="0" b="0"/>
          </a:stretch>
        </p:blipFill>
        <p:spPr>
          <a:xfrm xmlns:a="http://schemas.openxmlformats.org/drawingml/2006/main">
            <a:off x="6391275" y="2647950"/>
            <a:ext cx="5095875" cy="2695575"/>
          </a:xfrm>
          <a:prstGeom xmlns:a="http://schemas.openxmlformats.org/drawingml/2006/main" prst="rect">
            <a:avLst/>
          </a:prstGeom>
          <a:ln xmlns:a="http://schemas.openxmlformats.org/drawingml/2006/main" w="12700">
            <a:miter/>
          </a:ln>
        </p:spPr>
      </p:pic>
      <p:sp>
        <p:nvSpPr>
          <p:cNvPr id="153" name="30 + 90 + 30 = 150분">
            <a:extLst xmlns:a="http://schemas.openxmlformats.org/drawingml/2006/main">
              <a:ext uri="{FF2B5EF4-FFF2-40B4-BE49-F238E27FC236}">
                <a16:creationId xmlns:a16="http://schemas.microsoft.com/office/drawing/2014/main" id="{5D12C9FE-A154-43C7-B0EB-8C15567B24AF}"/>
              </a:ext>
            </a:extLst>
          </p:cNvPr>
          <p:cNvSpPr>
            <a:spLocks xmlns:a="http://schemas.openxmlformats.org/drawingml/2006/main" noGrp="1"/>
          </p:cNvSpPr>
          <p:nvPr/>
        </p:nvSpPr>
        <p:spPr>
          <a:xfrm xmlns:a="http://schemas.openxmlformats.org/drawingml/2006/main">
            <a:off x="609600" y="3762375"/>
            <a:ext cx="5476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000" b="1">
                <a:solidFill>
                  <a:srgbClr val="252D2D"/>
                </a:solidFill>
                <a:latin typeface="Pretendard"/>
                <a:ea typeface="Pretendard"/>
                <a:cs typeface="Pretendard"/>
              </a:defRPr>
            </a:defPPr>
          </a:lstStyle>
          <a:p xmlns:a="http://schemas.openxmlformats.org/drawingml/2006/main">
            <a:pPr algn="l">
              <a:buNone/>
              <a:defRPr sz="3000" b="1">
                <a:solidFill>
                  <a:srgbClr val="252D2D"/>
                </a:solidFill>
                <a:latin typeface="Pretendard"/>
                <a:ea typeface="Pretendard"/>
                <a:cs typeface="Pretendard"/>
              </a:defRPr>
            </a:pPr>
            <a:r>
              <a:rPr sz="3000" b="1">
                <a:solidFill>
                  <a:srgbClr val="252D2D"/>
                </a:solidFill>
                <a:latin typeface="Pretendard"/>
                <a:ea typeface="Pretendard"/>
                <a:cs typeface="Pretendard"/>
              </a:rPr>
              <a:t>30 + 90 + 30 = 150분</a:t>
            </a:r>
          </a:p>
        </p:txBody>
      </p:sp>
      <p:sp>
        <p:nvSpPr>
          <p:cNvPr id="154" name="이동과 체류를 더하면 30분 부족 확정 예약은 그대로 유지합니다">
            <a:extLst xmlns:a="http://schemas.openxmlformats.org/drawingml/2006/main">
              <a:ext uri="{FF2B5EF4-FFF2-40B4-BE49-F238E27FC236}">
                <a16:creationId xmlns:a16="http://schemas.microsoft.com/office/drawing/2014/main" id="{F187F536-2134-476A-9585-507B885C80F1}"/>
              </a:ext>
            </a:extLst>
          </p:cNvPr>
          <p:cNvSpPr>
            <a:spLocks xmlns:a="http://schemas.openxmlformats.org/drawingml/2006/main" noGrp="1"/>
          </p:cNvSpPr>
          <p:nvPr/>
        </p:nvSpPr>
        <p:spPr>
          <a:xfrm xmlns:a="http://schemas.openxmlformats.org/drawingml/2006/main">
            <a:off x="609600" y="4562475"/>
            <a:ext cx="5476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252D2D"/>
                </a:solidFill>
                <a:latin typeface="Pretendard"/>
                <a:ea typeface="Pretendard"/>
                <a:cs typeface="Pretendard"/>
              </a:defRPr>
            </a:defPPr>
          </a:lstStyle>
          <a:p xmlns:a="http://schemas.openxmlformats.org/drawingml/2006/main">
            <a:pPr algn="l">
              <a:buNone/>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이동과 체류를 더하면 30분 부족</a:t>
            </a:r>
            <a:br>
              <a:rPr sz="2025" b="0">
                <a:solidFill>
                  <a:srgbClr val="252D2D"/>
                </a:solidFill>
                <a:latin typeface="Pretendard"/>
                <a:ea typeface="Pretendard"/>
                <a:cs typeface="Pretendard"/>
              </a:rPr>
            </a:br>
            <a:r>
              <a:rPr sz="2025" b="0">
                <a:solidFill>
                  <a:srgbClr val="252D2D"/>
                </a:solidFill>
                <a:latin typeface="Pretendard"/>
                <a:ea typeface="Pretendard"/>
                <a:cs typeface="Pretendard"/>
              </a:rPr>
              <a:t>확정 예약은 그대로 유지합니다</a:t>
            </a:r>
          </a:p>
        </p:txBody>
      </p:sp>
      <p:sp>
        <p:nvSpPr>
          <p:cNvPr id="155" name="일정 제약을 설명하는 합성 예시">
            <a:extLst xmlns:a="http://schemas.openxmlformats.org/drawingml/2006/main">
              <a:ext uri="{FF2B5EF4-FFF2-40B4-BE49-F238E27FC236}">
                <a16:creationId xmlns:a16="http://schemas.microsoft.com/office/drawing/2014/main" id="{12D2B2A9-E4E7-4CC6-AF8E-8FFF4D6C7BF5}"/>
              </a:ext>
            </a:extLst>
          </p:cNvPr>
          <p:cNvSpPr>
            <a:spLocks xmlns:a="http://schemas.openxmlformats.org/drawingml/2006/main" noGrp="1"/>
          </p:cNvSpPr>
          <p:nvPr/>
        </p:nvSpPr>
        <p:spPr>
          <a:xfrm xmlns:a="http://schemas.openxmlformats.org/drawingml/2006/main">
            <a:off x="609600" y="5591175"/>
            <a:ext cx="4953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575" b="0">
                <a:solidFill>
                  <a:srgbClr val="627178"/>
                </a:solidFill>
                <a:latin typeface="Pretendard"/>
                <a:ea typeface="Pretendard"/>
                <a:cs typeface="Pretendard"/>
              </a:defRPr>
            </a:defPPr>
          </a:lstStyle>
          <a:p xmlns:a="http://schemas.openxmlformats.org/drawingml/2006/main">
            <a:pPr algn="l">
              <a:buNone/>
              <a:defRPr sz="1575" b="0">
                <a:solidFill>
                  <a:srgbClr val="627178"/>
                </a:solidFill>
                <a:latin typeface="Pretendard"/>
                <a:ea typeface="Pretendard"/>
                <a:cs typeface="Pretendard"/>
              </a:defRPr>
            </a:pPr>
            <a:r>
              <a:rPr sz="1575" b="0">
                <a:solidFill>
                  <a:srgbClr val="627178"/>
                </a:solidFill>
                <a:latin typeface="Pretendard"/>
                <a:ea typeface="Pretendard"/>
                <a:cs typeface="Pretendard"/>
              </a:rPr>
              <a:t>일정 제약을 설명하는 합성 예시</a:t>
            </a:r>
          </a:p>
        </p:txBody>
      </p:sp>
      <p:sp>
        <p:nvSpPr>
          <p:cNvPr id="156" name="실제 화면: 고정 예약과 충돌 안내">
            <a:extLst xmlns:a="http://schemas.openxmlformats.org/drawingml/2006/main">
              <a:ext uri="{FF2B5EF4-FFF2-40B4-BE49-F238E27FC236}">
                <a16:creationId xmlns:a16="http://schemas.microsoft.com/office/drawing/2014/main" id="{44901617-F517-430A-BC03-4872A55D05E8}"/>
              </a:ext>
            </a:extLst>
          </p:cNvPr>
          <p:cNvSpPr>
            <a:spLocks xmlns:a="http://schemas.openxmlformats.org/drawingml/2006/main" noGrp="1"/>
          </p:cNvSpPr>
          <p:nvPr/>
        </p:nvSpPr>
        <p:spPr>
          <a:xfrm xmlns:a="http://schemas.openxmlformats.org/drawingml/2006/main">
            <a:off x="6515100" y="2276475"/>
            <a:ext cx="5000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627178"/>
                </a:solidFill>
                <a:latin typeface="Pretendard"/>
                <a:ea typeface="Pretendard"/>
                <a:cs typeface="Pretendard"/>
              </a:defRPr>
            </a:defPPr>
          </a:lstStyle>
          <a:p xmlns:a="http://schemas.openxmlformats.org/drawingml/2006/main">
            <a:pPr algn="l">
              <a:buNone/>
              <a:defRPr sz="1800" b="0">
                <a:solidFill>
                  <a:srgbClr val="627178"/>
                </a:solidFill>
                <a:latin typeface="Pretendard"/>
                <a:ea typeface="Pretendard"/>
                <a:cs typeface="Pretendard"/>
              </a:defRPr>
            </a:pPr>
            <a:r>
              <a:rPr sz="1800" b="0">
                <a:solidFill>
                  <a:srgbClr val="627178"/>
                </a:solidFill>
                <a:latin typeface="Pretendard"/>
                <a:ea typeface="Pretendard"/>
                <a:cs typeface="Pretendard"/>
              </a:rPr>
              <a:t>실제 화면: 고정 예약과 충돌 안내</a:t>
            </a:r>
          </a:p>
        </p:txBody>
      </p:sp>
      <p:sp>
        <p:nvSpPr>
          <p:cNvPr id="157" name="미리 확인하고 적용, 필요하면 되돌리기">
            <a:extLst xmlns:a="http://schemas.openxmlformats.org/drawingml/2006/main">
              <a:ext uri="{FF2B5EF4-FFF2-40B4-BE49-F238E27FC236}">
                <a16:creationId xmlns:a16="http://schemas.microsoft.com/office/drawing/2014/main" id="{E290463A-B71C-4362-83C8-13E27CFD055A}"/>
              </a:ext>
            </a:extLst>
          </p:cNvPr>
          <p:cNvSpPr>
            <a:spLocks xmlns:a="http://schemas.openxmlformats.org/drawingml/2006/main" noGrp="1"/>
          </p:cNvSpPr>
          <p:nvPr/>
        </p:nvSpPr>
        <p:spPr>
          <a:xfrm xmlns:a="http://schemas.openxmlformats.org/drawingml/2006/main">
            <a:off x="6486525" y="560070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1">
                <a:solidFill>
                  <a:srgbClr val="25485A"/>
                </a:solidFill>
                <a:latin typeface="Pretendard"/>
                <a:ea typeface="Pretendard"/>
                <a:cs typeface="Pretendard"/>
              </a:defRPr>
            </a:defPPr>
          </a:lstStyle>
          <a:p xmlns:a="http://schemas.openxmlformats.org/drawingml/2006/main">
            <a:pPr algn="l">
              <a:buNone/>
              <a:defRPr sz="2025" b="1">
                <a:solidFill>
                  <a:srgbClr val="25485A"/>
                </a:solidFill>
                <a:latin typeface="Pretendard"/>
                <a:ea typeface="Pretendard"/>
                <a:cs typeface="Pretendard"/>
              </a:defRPr>
            </a:pPr>
            <a:r>
              <a:rPr sz="2025" b="1">
                <a:solidFill>
                  <a:srgbClr val="25485A"/>
                </a:solidFill>
                <a:latin typeface="Pretendard"/>
                <a:ea typeface="Pretendard"/>
                <a:cs typeface="Pretendard"/>
              </a:rPr>
              <a:t>미리 확인하고 적용, 필요하면 되돌리기</a:t>
            </a:r>
          </a:p>
        </p:txBody>
      </p:sp>
    </p:spTree>
    <p:extLst>
      <p:ext uri="{BB962C8B-B14F-4D97-AF65-F5344CB8AC3E}">
        <p14:creationId xmlns:p14="http://schemas.microsoft.com/office/powerpoint/2010/main" val="1592943906"/>
      </p:ext>
    </p:extLst>
  </p:cSld>
</p:sld>
</file>

<file path=ppt/slides/slide9.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61" name="고잉  /  구현 방법">
            <a:extLst xmlns:a="http://schemas.openxmlformats.org/drawingml/2006/main">
              <a:ext uri="{FF2B5EF4-FFF2-40B4-BE49-F238E27FC236}">
                <a16:creationId xmlns:a16="http://schemas.microsoft.com/office/drawing/2014/main" id="{B7BA4BD6-A42C-4DE7-AA4A-33384EFDC033}"/>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0">
                <a:solidFill>
                  <a:srgbClr val="627178"/>
                </a:solidFill>
                <a:latin typeface="Pretendard"/>
                <a:ea typeface="Pretendard"/>
                <a:cs typeface="Pretendard"/>
              </a:defRPr>
            </a:defPPr>
          </a:lstStyle>
          <a:p xmlns:a="http://schemas.openxmlformats.org/drawingml/2006/main">
            <a:pPr algn="l">
              <a:buNone/>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구현 방법</a:t>
            </a:r>
          </a:p>
        </p:txBody>
      </p:sp>
      <p:sp>
        <p:nvSpPr>
          <p:cNvPr id="162" name="어떻게 만들었는지">
            <a:extLst xmlns:a="http://schemas.openxmlformats.org/drawingml/2006/main">
              <a:ext uri="{FF2B5EF4-FFF2-40B4-BE49-F238E27FC236}">
                <a16:creationId xmlns:a16="http://schemas.microsoft.com/office/drawing/2014/main" id="{2CDEE8AA-0E67-4EC2-A7BA-DE60CFC0D330}"/>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어떻게 만들었는지</a:t>
            </a:r>
          </a:p>
        </p:txBody>
      </p:sp>
      <p:sp>
        <p:nvSpPr>
          <p:cNvPr id="163" name="메일 분석에서 시작해 여행 정보와 일정 계산을 연결했습니다">
            <a:extLst xmlns:a="http://schemas.openxmlformats.org/drawingml/2006/main">
              <a:ext uri="{FF2B5EF4-FFF2-40B4-BE49-F238E27FC236}">
                <a16:creationId xmlns:a16="http://schemas.microsoft.com/office/drawing/2014/main" id="{6923019C-5BFA-4628-8108-6E7696D6C72C}"/>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AI가 읽는 부분과 서버가 계산하는 부분을 나눴습니다</a:t>
            </a:r>
          </a:p>
        </p:txBody>
      </p:sp>
      <p:sp>
        <p:nvSpPr>
          <p:cNvPr id="164" name="09">
            <a:extLst xmlns:a="http://schemas.openxmlformats.org/drawingml/2006/main">
              <a:ext uri="{FF2B5EF4-FFF2-40B4-BE49-F238E27FC236}">
                <a16:creationId xmlns:a16="http://schemas.microsoft.com/office/drawing/2014/main" id="{5FCC481E-D87F-4AEB-A980-97A0DBEA3297}"/>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09</a:t>
            </a:r>
          </a:p>
        </p:txBody>
      </p:sp>
      <p:sp>
        <p:nvSpPr>
          <p:cNvPr id="165" name="웹 화면과 여행 데이터">
            <a:extLst xmlns:a="http://schemas.openxmlformats.org/drawingml/2006/main">
              <a:ext uri="{FF2B5EF4-FFF2-40B4-BE49-F238E27FC236}">
                <a16:creationId xmlns:a16="http://schemas.microsoft.com/office/drawing/2014/main" id="{616DF272-CC5B-442C-81A0-D67D5730075C}"/>
              </a:ext>
            </a:extLst>
          </p:cNvPr>
          <p:cNvSpPr>
            <a:spLocks xmlns:a="http://schemas.openxmlformats.org/drawingml/2006/main" noGrp="1"/>
          </p:cNvSpPr>
          <p:nvPr/>
        </p:nvSpPr>
        <p:spPr>
          <a:xfrm xmlns:a="http://schemas.openxmlformats.org/drawingml/2006/main">
            <a:off x="609600" y="229552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25485A"/>
                </a:solidFill>
                <a:latin typeface="Pretendard"/>
                <a:ea typeface="Pretendard"/>
                <a:cs typeface="Pretendard"/>
              </a:defRPr>
            </a:defPPr>
          </a:lstStyle>
          <a:p xmlns:a="http://schemas.openxmlformats.org/drawingml/2006/main">
            <a:pPr algn="l">
              <a:buNone/>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웹 화면과 여행 데이터</a:t>
            </a:r>
          </a:p>
        </p:txBody>
      </p:sp>
      <p:sp>
        <p:nvSpPr>
          <p:cNvPr id="166" name="웹 UI와 FastAPI / Render 서버 / Supabase에 여행과 파일 보관">
            <a:extLst xmlns:a="http://schemas.openxmlformats.org/drawingml/2006/main">
              <a:ext uri="{FF2B5EF4-FFF2-40B4-BE49-F238E27FC236}">
                <a16:creationId xmlns:a16="http://schemas.microsoft.com/office/drawing/2014/main" id="{B67CBF3B-7A92-4FFF-B2D7-B54DB52F8FF8}"/>
              </a:ext>
            </a:extLst>
          </p:cNvPr>
          <p:cNvSpPr>
            <a:spLocks xmlns:a="http://schemas.openxmlformats.org/drawingml/2006/main" noGrp="1"/>
          </p:cNvSpPr>
          <p:nvPr/>
        </p:nvSpPr>
        <p:spPr>
          <a:xfrm xmlns:a="http://schemas.openxmlformats.org/drawingml/2006/main">
            <a:off x="609600" y="277177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252D2D"/>
                </a:solidFill>
                <a:latin typeface="Pretendard"/>
                <a:ea typeface="Pretendard"/>
                <a:cs typeface="Pretendard"/>
              </a:defRPr>
            </a:defPPr>
          </a:lstStyle>
          <a:p xmlns:a="http://schemas.openxmlformats.org/drawingml/2006/main">
            <a:pPr algn="l">
              <a:buNone/>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웹 UI와 FastAPI / Render 서버 / Supabase에 여행과 파일 보관</a:t>
            </a:r>
          </a:p>
        </p:txBody>
      </p:sp>
      <p:sp>
        <p:nvSpPr>
          <p:cNvPr id="167" name="메일을 읽고 근거 찾기">
            <a:extLst xmlns:a="http://schemas.openxmlformats.org/drawingml/2006/main">
              <a:ext uri="{FF2B5EF4-FFF2-40B4-BE49-F238E27FC236}">
                <a16:creationId xmlns:a16="http://schemas.microsoft.com/office/drawing/2014/main" id="{8C066D4A-0ADB-490F-933F-60E42ED0821E}"/>
              </a:ext>
            </a:extLst>
          </p:cNvPr>
          <p:cNvSpPr>
            <a:spLocks xmlns:a="http://schemas.openxmlformats.org/drawingml/2006/main" noGrp="1"/>
          </p:cNvSpPr>
          <p:nvPr/>
        </p:nvSpPr>
        <p:spPr>
          <a:xfrm xmlns:a="http://schemas.openxmlformats.org/drawingml/2006/main">
            <a:off x="609600" y="3429000"/>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25485A"/>
                </a:solidFill>
                <a:latin typeface="Pretendard"/>
                <a:ea typeface="Pretendard"/>
                <a:cs typeface="Pretendard"/>
              </a:defRPr>
            </a:defPPr>
          </a:lstStyle>
          <a:p xmlns:a="http://schemas.openxmlformats.org/drawingml/2006/main">
            <a:pPr algn="l">
              <a:buNone/>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메일을 읽고 근거 찾기</a:t>
            </a:r>
          </a:p>
        </p:txBody>
      </p:sp>
      <p:sp>
        <p:nvSpPr>
          <p:cNvPr id="168" name="gpt-5-mini로 정보 추출 / text-embedding-3-small로 본문 검색">
            <a:extLst xmlns:a="http://schemas.openxmlformats.org/drawingml/2006/main">
              <a:ext uri="{FF2B5EF4-FFF2-40B4-BE49-F238E27FC236}">
                <a16:creationId xmlns:a16="http://schemas.microsoft.com/office/drawing/2014/main" id="{92D84336-7A13-44B4-903A-E462045404BC}"/>
              </a:ext>
            </a:extLst>
          </p:cNvPr>
          <p:cNvSpPr>
            <a:spLocks xmlns:a="http://schemas.openxmlformats.org/drawingml/2006/main" noGrp="1"/>
          </p:cNvSpPr>
          <p:nvPr/>
        </p:nvSpPr>
        <p:spPr>
          <a:xfrm xmlns:a="http://schemas.openxmlformats.org/drawingml/2006/main">
            <a:off x="609600" y="3905250"/>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025" b="0">
                <a:solidFill>
                  <a:srgbClr val="252D2D"/>
                </a:solidFill>
                <a:latin typeface="Pretendard"/>
                <a:ea typeface="Pretendard"/>
                <a:cs typeface="Pretendard"/>
              </a:defRPr>
            </a:defPPr>
          </a:lstStyle>
          <a:p xmlns:a="http://schemas.openxmlformats.org/drawingml/2006/main">
            <a:pPr algn="l">
              <a:buNone/>
              <a:defRPr sz="2025" b="0">
                <a:solidFill>
                  <a:srgbClr val="252D2D"/>
                </a:solidFill>
                <a:latin typeface="Pretendard"/>
                <a:ea typeface="Pretendard"/>
                <a:cs typeface="Pretendard"/>
              </a:defRPr>
            </a:pPr>
            <a:r>
              <a:rPr sz="2025" b="0">
                <a:solidFill>
                  <a:srgbClr val="252D2D"/>
                </a:solidFill>
                <a:latin typeface="Pretendard"/>
                <a:ea typeface="Pretendard"/>
                <a:cs typeface="Pretendard"/>
              </a:rPr>
              <a:t>gpt-5-mini로 정보 추출 / text-embedding-3-small로 본문 검색</a:t>
            </a:r>
          </a:p>
        </p:txBody>
      </p:sp>
      <p:sp>
        <p:nvSpPr>
          <p:cNvPr id="169" name="추천과 일정은 확인한 데이터로 계산">
            <a:extLst xmlns:a="http://schemas.openxmlformats.org/drawingml/2006/main">
              <a:ext uri="{FF2B5EF4-FFF2-40B4-BE49-F238E27FC236}">
                <a16:creationId xmlns:a16="http://schemas.microsoft.com/office/drawing/2014/main" id="{C8612D2D-88D8-4249-80B7-F24712028AFA}"/>
              </a:ext>
            </a:extLst>
          </p:cNvPr>
          <p:cNvSpPr>
            <a:spLocks xmlns:a="http://schemas.openxmlformats.org/drawingml/2006/main" noGrp="1"/>
          </p:cNvSpPr>
          <p:nvPr/>
        </p:nvSpPr>
        <p:spPr>
          <a:xfrm xmlns:a="http://schemas.openxmlformats.org/drawingml/2006/main">
            <a:off x="609600" y="4562475"/>
            <a:ext cx="10620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475" b="1">
                <a:solidFill>
                  <a:srgbClr val="25485A"/>
                </a:solidFill>
                <a:latin typeface="Pretendard"/>
                <a:ea typeface="Pretendard"/>
                <a:cs typeface="Pretendard"/>
              </a:defRPr>
            </a:defPPr>
          </a:lstStyle>
          <a:p xmlns:a="http://schemas.openxmlformats.org/drawingml/2006/main">
            <a:pPr algn="l">
              <a:defRPr sz="2475" b="1">
                <a:solidFill>
                  <a:srgbClr val="25485A"/>
                </a:solidFill>
                <a:latin typeface="Pretendard"/>
                <a:ea typeface="Pretendard"/>
                <a:cs typeface="Pretendard"/>
              </a:defRPr>
            </a:pPr>
            <a:r>
              <a:rPr sz="2475" b="1">
                <a:solidFill>
                  <a:srgbClr val="25485A"/>
                </a:solidFill>
                <a:latin typeface="Pretendard"/>
                <a:ea typeface="Pretendard"/>
                <a:cs typeface="Pretendard"/>
              </a:rPr>
              <a:t>hybrid_v5로 추천 순위 계산</a:t>
            </a:r>
          </a:p>
        </p:txBody>
      </p:sp>
      <p:sp>
        <p:nvSpPr>
          <p:cNvPr id="170" name="취향 태그·보정 평점·거리로 추천 / 코드로 시간과 조건 검사">
            <a:extLst xmlns:a="http://schemas.openxmlformats.org/drawingml/2006/main">
              <a:ext uri="{FF2B5EF4-FFF2-40B4-BE49-F238E27FC236}">
                <a16:creationId xmlns:a16="http://schemas.microsoft.com/office/drawing/2014/main" id="{0994E6C6-AB32-4F56-92E3-A515BB4568BB}"/>
              </a:ext>
            </a:extLst>
          </p:cNvPr>
          <p:cNvSpPr>
            <a:spLocks xmlns:a="http://schemas.openxmlformats.org/drawingml/2006/main" noGrp="1"/>
          </p:cNvSpPr>
          <p:nvPr/>
        </p:nvSpPr>
        <p:spPr>
          <a:xfrm xmlns:a="http://schemas.openxmlformats.org/drawingml/2006/main">
            <a:off x="609600" y="5038725"/>
            <a:ext cx="10620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252D2D"/>
                </a:solidFill>
                <a:latin typeface="Pretendard"/>
                <a:ea typeface="Pretendard"/>
                <a:cs typeface="Pretendard"/>
              </a:defRPr>
            </a:defPPr>
          </a:lstStyle>
          <a:p xmlns:a="http://schemas.openxmlformats.org/drawingml/2006/main">
            <a:pPr algn="l">
              <a:defRPr sz="1950" b="0">
                <a:solidFill>
                  <a:srgbClr val="252D2D"/>
                </a:solidFill>
                <a:latin typeface="Pretendard"/>
                <a:ea typeface="Pretendard"/>
                <a:cs typeface="Pretendard"/>
              </a:defRPr>
            </a:pPr>
            <a:r>
              <a:rPr sz="1950" b="0">
                <a:solidFill>
                  <a:srgbClr val="252D2D"/>
                </a:solidFill>
                <a:latin typeface="Pretendard"/>
                <a:ea typeface="Pretendard"/>
                <a:cs typeface="Pretendard"/>
              </a:rPr>
              <a:t>취향 유사도와 보정 평점, 거리 / 공개 음식 태그와 도심 기준 보완</a:t>
            </a:r>
          </a:p>
        </p:txBody>
      </p:sp>
      <p:sp>
        <p:nvSpPr>
          <p:cNvPr id="171" name="사용자 행동 학습은 아직 없음 / 실제 추천 만족도는 앞으로 확인">
            <a:extLst xmlns:a="http://schemas.openxmlformats.org/drawingml/2006/main">
              <a:ext uri="{FF2B5EF4-FFF2-40B4-BE49-F238E27FC236}">
                <a16:creationId xmlns:a16="http://schemas.microsoft.com/office/drawing/2014/main" id="{D77C2D3D-61F0-4E9B-A562-9C47DCAD81F7}"/>
              </a:ext>
            </a:extLst>
          </p:cNvPr>
          <p:cNvSpPr>
            <a:spLocks xmlns:a="http://schemas.openxmlformats.org/drawingml/2006/main" noGrp="1"/>
          </p:cNvSpPr>
          <p:nvPr/>
        </p:nvSpPr>
        <p:spPr>
          <a:xfrm xmlns:a="http://schemas.openxmlformats.org/drawingml/2006/main">
            <a:off x="609600" y="5895975"/>
            <a:ext cx="10934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725" b="0">
                <a:solidFill>
                  <a:srgbClr val="627178"/>
                </a:solidFill>
                <a:latin typeface="Pretendard"/>
                <a:ea typeface="Pretendard"/>
                <a:cs typeface="Pretendard"/>
              </a:defRPr>
            </a:defPPr>
          </a:lstStyle>
          <a:p xmlns:a="http://schemas.openxmlformats.org/drawingml/2006/main">
            <a:pPr algn="l">
              <a:defRPr sz="1725" b="0">
                <a:solidFill>
                  <a:srgbClr val="627178"/>
                </a:solidFill>
                <a:latin typeface="Pretendard"/>
                <a:ea typeface="Pretendard"/>
                <a:cs typeface="Pretendard"/>
              </a:defRPr>
            </a:pPr>
            <a:r>
              <a:rPr sz="1725" b="0">
                <a:solidFill>
                  <a:srgbClr val="627178"/>
                </a:solidFill>
                <a:latin typeface="Pretendard"/>
                <a:ea typeface="Pretendard"/>
                <a:cs typeface="Pretendard"/>
              </a:rPr>
              <a:t>사용자 행동 학습 전 / v5의 독립 평가와 실제 여행 만족도는 미측정</a:t>
            </a:r>
          </a:p>
        </p:txBody>
      </p:sp>
    </p:spTree>
    <p:extLst>
      <p:ext uri="{BB962C8B-B14F-4D97-AF65-F5344CB8AC3E}">
        <p14:creationId xmlns:p14="http://schemas.microsoft.com/office/powerpoint/2010/main" val="1383325975"/>
      </p:ext>
    </p:extLst>
  </p:cSld>
</p:sld>
</file>

<file path=ppt/slides/slide10.xml><?xml version="1.0" encoding="utf-8"?>
<p:sld xmlns:p="http://schemas.openxmlformats.org/presentationml/2006/main" showMasterSp="1">
  <p:cSld>
    <p:bg>
      <p:bgPr>
        <a:solidFill xmlns:a="http://schemas.openxmlformats.org/drawingml/2006/main">
          <a:srgbClr val="FAF9F6"/>
        </a:solidFill>
      </p:bgPr>
    </p:bg>
    <p:spTree>
      <p:nvGrpSpPr>
        <p:cNvPr id="1" name=""/>
        <p:cNvGrpSpPr/>
        <p:nvPr/>
      </p:nvGrpSpPr>
      <p:grpSpPr>
        <a:xfrm xmlns:a="http://schemas.openxmlformats.org/drawingml/2006/main"/>
      </p:grpSpPr>
      <p:sp>
        <p:nvSpPr>
          <p:cNvPr id="175" name="고잉  /  다음 개발">
            <a:extLst xmlns:a="http://schemas.openxmlformats.org/drawingml/2006/main">
              <a:ext uri="{FF2B5EF4-FFF2-40B4-BE49-F238E27FC236}">
                <a16:creationId xmlns:a16="http://schemas.microsoft.com/office/drawing/2014/main" id="{89D6AA73-8A05-429A-8743-2D26880AA705}"/>
              </a:ext>
            </a:extLst>
          </p:cNvPr>
          <p:cNvSpPr>
            <a:spLocks xmlns:a="http://schemas.openxmlformats.org/drawingml/2006/main" noGrp="1"/>
          </p:cNvSpPr>
          <p:nvPr/>
        </p:nvSpPr>
        <p:spPr>
          <a:xfrm xmlns:a="http://schemas.openxmlformats.org/drawingml/2006/main">
            <a:off x="609600" y="285750"/>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350" b="0">
                <a:solidFill>
                  <a:srgbClr val="627178"/>
                </a:solidFill>
                <a:latin typeface="Pretendard"/>
                <a:ea typeface="Pretendard"/>
                <a:cs typeface="Pretendard"/>
              </a:defRPr>
            </a:defPPr>
          </a:lstStyle>
          <a:p xmlns:a="http://schemas.openxmlformats.org/drawingml/2006/main">
            <a:pPr algn="l">
              <a:buNone/>
              <a:defRPr sz="1350" b="0">
                <a:solidFill>
                  <a:srgbClr val="627178"/>
                </a:solidFill>
                <a:latin typeface="Pretendard"/>
                <a:ea typeface="Pretendard"/>
                <a:cs typeface="Pretendard"/>
              </a:defRPr>
            </a:pPr>
            <a:r>
              <a:rPr sz="1350" b="0">
                <a:solidFill>
                  <a:srgbClr val="627178"/>
                </a:solidFill>
                <a:latin typeface="Pretendard"/>
                <a:ea typeface="Pretendard"/>
                <a:cs typeface="Pretendard"/>
              </a:rPr>
              <a:t>고잉  /  다음 개발</a:t>
            </a:r>
          </a:p>
        </p:txBody>
      </p:sp>
      <p:sp>
        <p:nvSpPr>
          <p:cNvPr id="176" name="직접 써 보며 이어갈 개발">
            <a:extLst xmlns:a="http://schemas.openxmlformats.org/drawingml/2006/main">
              <a:ext uri="{FF2B5EF4-FFF2-40B4-BE49-F238E27FC236}">
                <a16:creationId xmlns:a16="http://schemas.microsoft.com/office/drawing/2014/main" id="{C887D872-5FB0-4835-9619-6BD1913CAC84}"/>
              </a:ext>
            </a:extLst>
          </p:cNvPr>
          <p:cNvSpPr>
            <a:spLocks xmlns:a="http://schemas.openxmlformats.org/drawingml/2006/main" noGrp="1"/>
          </p:cNvSpPr>
          <p:nvPr/>
        </p:nvSpPr>
        <p:spPr>
          <a:xfrm xmlns:a="http://schemas.openxmlformats.org/drawingml/2006/main">
            <a:off x="609600" y="809625"/>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3600" b="1">
                <a:solidFill>
                  <a:srgbClr val="252D2D"/>
                </a:solidFill>
                <a:latin typeface="Pretendard"/>
                <a:ea typeface="Pretendard"/>
                <a:cs typeface="Pretendard"/>
              </a:defRPr>
            </a:defPPr>
          </a:lstStyle>
          <a:p xmlns:a="http://schemas.openxmlformats.org/drawingml/2006/main">
            <a:pPr algn="l">
              <a:defRPr sz="3600" b="1">
                <a:solidFill>
                  <a:srgbClr val="252D2D"/>
                </a:solidFill>
                <a:latin typeface="Pretendard"/>
                <a:ea typeface="Pretendard"/>
                <a:cs typeface="Pretendard"/>
              </a:defRPr>
            </a:pPr>
            <a:r>
              <a:rPr sz="3600" b="1">
                <a:solidFill>
                  <a:srgbClr val="252D2D"/>
                </a:solidFill>
                <a:latin typeface="Pretendard"/>
                <a:ea typeface="Pretendard"/>
                <a:cs typeface="Pretendard"/>
              </a:rPr>
              <a:t>직접 써 보며 확인할 것</a:t>
            </a:r>
          </a:p>
        </p:txBody>
      </p:sp>
      <p:sp>
        <p:nvSpPr>
          <p:cNvPr id="177" name="연결한 사용 흐름을 실제 여행에서 더 확인하려고 합니다">
            <a:extLst xmlns:a="http://schemas.openxmlformats.org/drawingml/2006/main">
              <a:ext uri="{FF2B5EF4-FFF2-40B4-BE49-F238E27FC236}">
                <a16:creationId xmlns:a16="http://schemas.microsoft.com/office/drawing/2014/main" id="{51F6900F-32D9-4980-8533-1824A313DC59}"/>
              </a:ext>
            </a:extLst>
          </p:cNvPr>
          <p:cNvSpPr>
            <a:spLocks xmlns:a="http://schemas.openxmlformats.org/drawingml/2006/main" noGrp="1"/>
          </p:cNvSpPr>
          <p:nvPr/>
        </p:nvSpPr>
        <p:spPr>
          <a:xfrm xmlns:a="http://schemas.openxmlformats.org/drawingml/2006/main">
            <a:off x="609600" y="1476375"/>
            <a:ext cx="1104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화면의 완성과 실제 추천 품질을 나누어 확인합니다</a:t>
            </a:r>
          </a:p>
        </p:txBody>
      </p:sp>
      <p:sp>
        <p:nvSpPr>
          <p:cNvPr id="178" name="10">
            <a:extLst xmlns:a="http://schemas.openxmlformats.org/drawingml/2006/main">
              <a:ext uri="{FF2B5EF4-FFF2-40B4-BE49-F238E27FC236}">
                <a16:creationId xmlns:a16="http://schemas.microsoft.com/office/drawing/2014/main" id="{E5EE845E-A590-4552-A80B-935B80E2363E}"/>
              </a:ext>
            </a:extLst>
          </p:cNvPr>
          <p:cNvSpPr>
            <a:spLocks xmlns:a="http://schemas.openxmlformats.org/drawingml/2006/main" noGrp="1"/>
          </p:cNvSpPr>
          <p:nvPr/>
        </p:nvSpPr>
        <p:spPr>
          <a:xfrm xmlns:a="http://schemas.openxmlformats.org/drawingml/2006/main">
            <a:off x="11049000" y="6429375"/>
            <a:ext cx="5238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606C70"/>
                </a:solidFill>
                <a:latin typeface="Pretendard"/>
                <a:ea typeface="Pretendard"/>
                <a:cs typeface="Pretendard"/>
              </a:defRPr>
            </a:defPPr>
          </a:lstStyle>
          <a:p xmlns:a="http://schemas.openxmlformats.org/drawingml/2006/main">
            <a:pPr algn="l">
              <a:buNone/>
              <a:defRPr sz="1275" b="0">
                <a:solidFill>
                  <a:srgbClr val="606C70"/>
                </a:solidFill>
                <a:latin typeface="Pretendard"/>
                <a:ea typeface="Pretendard"/>
                <a:cs typeface="Pretendard"/>
              </a:defRPr>
            </a:pPr>
            <a:r>
              <a:rPr sz="1275" b="0">
                <a:solidFill>
                  <a:srgbClr val="606C70"/>
                </a:solidFill>
                <a:latin typeface="Pretendard"/>
                <a:ea typeface="Pretendard"/>
                <a:cs typeface="Pretendard"/>
              </a:rPr>
              <a:t>10</a:t>
            </a:r>
          </a:p>
        </p:txBody>
      </p:sp>
      <p:sp>
        <p:nvSpPr>
          <p:cNvPr id="179" name="지금 연결한 흐름">
            <a:extLst xmlns:a="http://schemas.openxmlformats.org/drawingml/2006/main">
              <a:ext uri="{FF2B5EF4-FFF2-40B4-BE49-F238E27FC236}">
                <a16:creationId xmlns:a16="http://schemas.microsoft.com/office/drawing/2014/main" id="{95284986-8F3C-4BC3-8E26-816FFEC2B861}"/>
              </a:ext>
            </a:extLst>
          </p:cNvPr>
          <p:cNvSpPr>
            <a:spLocks xmlns:a="http://schemas.openxmlformats.org/drawingml/2006/main" noGrp="1"/>
          </p:cNvSpPr>
          <p:nvPr/>
        </p:nvSpPr>
        <p:spPr>
          <a:xfrm xmlns:a="http://schemas.openxmlformats.org/drawingml/2006/main">
            <a:off x="609600" y="2324100"/>
            <a:ext cx="5143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1">
                <a:solidFill>
                  <a:srgbClr val="25485A"/>
                </a:solidFill>
                <a:latin typeface="Pretendard"/>
                <a:ea typeface="Pretendard"/>
                <a:cs typeface="Pretendard"/>
              </a:defRPr>
            </a:defPPr>
          </a:lstStyle>
          <a:p xmlns:a="http://schemas.openxmlformats.org/drawingml/2006/main">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지금 연결한 흐름</a:t>
            </a:r>
          </a:p>
        </p:txBody>
      </p:sp>
      <p:sp>
        <p:nvSpPr>
          <p:cNvPr id="180" name="예약 정리와 근거 질문 장소 선택과 일정 편집">
            <a:extLst xmlns:a="http://schemas.openxmlformats.org/drawingml/2006/main">
              <a:ext uri="{FF2B5EF4-FFF2-40B4-BE49-F238E27FC236}">
                <a16:creationId xmlns:a16="http://schemas.microsoft.com/office/drawing/2014/main" id="{5815AE1D-6BEC-4506-AE1A-CC8D2E09A1E1}"/>
              </a:ext>
            </a:extLst>
          </p:cNvPr>
          <p:cNvSpPr>
            <a:spLocks xmlns:a="http://schemas.openxmlformats.org/drawingml/2006/main" noGrp="1"/>
          </p:cNvSpPr>
          <p:nvPr/>
        </p:nvSpPr>
        <p:spPr>
          <a:xfrm xmlns:a="http://schemas.openxmlformats.org/drawingml/2006/main">
            <a:off x="609600" y="3000375"/>
            <a:ext cx="5191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250" b="0">
                <a:solidFill>
                  <a:srgbClr val="252D2D"/>
                </a:solidFill>
                <a:latin typeface="Pretendard"/>
                <a:ea typeface="Pretendard"/>
                <a:cs typeface="Pretendard"/>
              </a:defRPr>
            </a:defPPr>
          </a:lstStyle>
          <a:p xmlns:a="http://schemas.openxmlformats.org/drawingml/2006/main">
            <a:pPr algn="l">
              <a:defRPr sz="2250" b="0">
                <a:solidFill>
                  <a:srgbClr val="252D2D"/>
                </a:solidFill>
                <a:latin typeface="Pretendard"/>
                <a:ea typeface="Pretendard"/>
                <a:cs typeface="Pretendard"/>
              </a:defRPr>
            </a:pPr>
            <a:r>
              <a:rPr sz="2250" b="0">
                <a:solidFill>
                  <a:srgbClr val="252D2D"/>
                </a:solidFill>
                <a:latin typeface="Pretendard"/>
                <a:ea typeface="Pretendard"/>
                <a:cs typeface="Pretendard"/>
              </a:rPr>
              <a:t>메인 추천과 바로 저장</a:t>
            </a:r>
            <a:br>
              <a:rPr sz="2250" b="0">
                <a:solidFill>
                  <a:srgbClr val="252D2D"/>
                </a:solidFill>
                <a:latin typeface="Pretendard"/>
                <a:ea typeface="Pretendard"/>
                <a:cs typeface="Pretendard"/>
              </a:rPr>
            </a:br>
            <a:r>
              <a:rPr sz="2250" b="0">
                <a:solidFill>
                  <a:srgbClr val="252D2D"/>
                </a:solidFill>
                <a:latin typeface="Pretendard"/>
                <a:ea typeface="Pretendard"/>
                <a:cs typeface="Pretendard"/>
              </a:rPr>
              <a:t>AI 예약 질문과 출처 확인</a:t>
            </a:r>
          </a:p>
        </p:txBody>
      </p:sp>
      <p:sp>
        <p:nvSpPr>
          <p:cNvPr id="181" name="다음에 확인할 것">
            <a:extLst xmlns:a="http://schemas.openxmlformats.org/drawingml/2006/main">
              <a:ext uri="{FF2B5EF4-FFF2-40B4-BE49-F238E27FC236}">
                <a16:creationId xmlns:a16="http://schemas.microsoft.com/office/drawing/2014/main" id="{E847F38C-D514-4016-9591-5A5488A496FB}"/>
              </a:ext>
            </a:extLst>
          </p:cNvPr>
          <p:cNvSpPr>
            <a:spLocks xmlns:a="http://schemas.openxmlformats.org/drawingml/2006/main" noGrp="1"/>
          </p:cNvSpPr>
          <p:nvPr/>
        </p:nvSpPr>
        <p:spPr>
          <a:xfrm xmlns:a="http://schemas.openxmlformats.org/drawingml/2006/main">
            <a:off x="6619875" y="232410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550" b="1">
                <a:solidFill>
                  <a:srgbClr val="25485A"/>
                </a:solidFill>
                <a:latin typeface="Pretendard"/>
                <a:ea typeface="Pretendard"/>
                <a:cs typeface="Pretendard"/>
              </a:defRPr>
            </a:defPPr>
          </a:lstStyle>
          <a:p xmlns:a="http://schemas.openxmlformats.org/drawingml/2006/main">
            <a:pPr algn="l">
              <a:defRPr sz="2550" b="1">
                <a:solidFill>
                  <a:srgbClr val="25485A"/>
                </a:solidFill>
                <a:latin typeface="Pretendard"/>
                <a:ea typeface="Pretendard"/>
                <a:cs typeface="Pretendard"/>
              </a:defRPr>
            </a:pPr>
            <a:r>
              <a:rPr sz="2550" b="1">
                <a:solidFill>
                  <a:srgbClr val="25485A"/>
                </a:solidFill>
                <a:latin typeface="Pretendard"/>
                <a:ea typeface="Pretendard"/>
                <a:cs typeface="Pretendard"/>
              </a:rPr>
              <a:t>다음에 확인할 것</a:t>
            </a:r>
          </a:p>
        </p:txBody>
      </p:sp>
      <p:sp>
        <p:nvSpPr>
          <p:cNvPr id="182" name="실제 리뷰의 이용 범위와 언어 품질 다른 사람의 선택과 방문 경험">
            <a:extLst xmlns:a="http://schemas.openxmlformats.org/drawingml/2006/main">
              <a:ext uri="{FF2B5EF4-FFF2-40B4-BE49-F238E27FC236}">
                <a16:creationId xmlns:a16="http://schemas.microsoft.com/office/drawing/2014/main" id="{A1C0331F-98E3-4A93-BD7F-013BF7357C01}"/>
              </a:ext>
            </a:extLst>
          </p:cNvPr>
          <p:cNvSpPr>
            <a:spLocks xmlns:a="http://schemas.openxmlformats.org/drawingml/2006/main" noGrp="1"/>
          </p:cNvSpPr>
          <p:nvPr/>
        </p:nvSpPr>
        <p:spPr>
          <a:xfrm xmlns:a="http://schemas.openxmlformats.org/drawingml/2006/main">
            <a:off x="6619875" y="3000375"/>
            <a:ext cx="4857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100" b="0">
                <a:solidFill>
                  <a:srgbClr val="252D2D"/>
                </a:solidFill>
                <a:latin typeface="Pretendard"/>
                <a:ea typeface="Pretendard"/>
                <a:cs typeface="Pretendard"/>
              </a:defRPr>
            </a:defPPr>
          </a:lstStyle>
          <a:p xmlns:a="http://schemas.openxmlformats.org/drawingml/2006/main">
            <a:pPr algn="l">
              <a:defRPr sz="2100" b="0">
                <a:solidFill>
                  <a:srgbClr val="252D2D"/>
                </a:solidFill>
                <a:latin typeface="Pretendard"/>
                <a:ea typeface="Pretendard"/>
                <a:cs typeface="Pretendard"/>
              </a:defRPr>
            </a:pPr>
            <a:r>
              <a:rPr sz="2100" b="0">
                <a:solidFill>
                  <a:srgbClr val="252D2D"/>
                </a:solidFill>
                <a:latin typeface="Pretendard"/>
                <a:ea typeface="Pretendard"/>
                <a:cs typeface="Pretendard"/>
              </a:rPr>
              <a:t>현지어 리뷰의 이용 범위와 품질</a:t>
            </a:r>
            <a:br>
              <a:rPr sz="2100" b="0">
                <a:solidFill>
                  <a:srgbClr val="252D2D"/>
                </a:solidFill>
                <a:latin typeface="Pretendard"/>
                <a:ea typeface="Pretendard"/>
                <a:cs typeface="Pretendard"/>
              </a:rPr>
            </a:br>
            <a:r>
              <a:rPr sz="2100" b="0">
                <a:solidFill>
                  <a:srgbClr val="252D2D"/>
                </a:solidFill>
                <a:latin typeface="Pretendard"/>
                <a:ea typeface="Pretendard"/>
                <a:cs typeface="Pretendard"/>
              </a:rPr>
              <a:t>독립 평가와 실제 방문 경험</a:t>
            </a:r>
          </a:p>
        </p:txBody>
      </p:sp>
      <p:sp>
        <p:nvSpPr>
          <p:cNvPr id="183" name="도시별 자료와 이동 경로 보강">
            <a:extLst xmlns:a="http://schemas.openxmlformats.org/drawingml/2006/main">
              <a:ext uri="{FF2B5EF4-FFF2-40B4-BE49-F238E27FC236}">
                <a16:creationId xmlns:a16="http://schemas.microsoft.com/office/drawing/2014/main" id="{720E8A2F-4FAD-4FDC-B54C-DE0A78CF7A55}"/>
              </a:ext>
            </a:extLst>
          </p:cNvPr>
          <p:cNvSpPr>
            <a:spLocks xmlns:a="http://schemas.openxmlformats.org/drawingml/2006/main" noGrp="1"/>
          </p:cNvSpPr>
          <p:nvPr/>
        </p:nvSpPr>
        <p:spPr>
          <a:xfrm xmlns:a="http://schemas.openxmlformats.org/drawingml/2006/main">
            <a:off x="609600" y="449580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2625" b="1">
                <a:solidFill>
                  <a:srgbClr val="252D2D"/>
                </a:solidFill>
                <a:latin typeface="Pretendard"/>
                <a:ea typeface="Pretendard"/>
                <a:cs typeface="Pretendard"/>
              </a:defRPr>
            </a:defPPr>
          </a:lstStyle>
          <a:p xmlns:a="http://schemas.openxmlformats.org/drawingml/2006/main">
            <a:pPr algn="l">
              <a:defRPr sz="2625" b="1">
                <a:solidFill>
                  <a:srgbClr val="252D2D"/>
                </a:solidFill>
                <a:latin typeface="Pretendard"/>
                <a:ea typeface="Pretendard"/>
                <a:cs typeface="Pretendard"/>
              </a:defRPr>
            </a:pPr>
            <a:r>
              <a:rPr sz="2625" b="1">
                <a:solidFill>
                  <a:srgbClr val="252D2D"/>
                </a:solidFill>
                <a:latin typeface="Pretendard"/>
                <a:ea typeface="Pretendard"/>
                <a:cs typeface="Pretendard"/>
              </a:rPr>
              <a:t>사진과 방문 조건부터 보강</a:t>
            </a:r>
          </a:p>
        </p:txBody>
      </p:sp>
      <p:sp>
        <p:nvSpPr>
          <p:cNvPr id="184" name="100개 도시 입력 지원 / 도시별 추천 자료는 확보 수준이 다릅니다">
            <a:extLst xmlns:a="http://schemas.openxmlformats.org/drawingml/2006/main">
              <a:ext uri="{FF2B5EF4-FFF2-40B4-BE49-F238E27FC236}">
                <a16:creationId xmlns:a16="http://schemas.microsoft.com/office/drawing/2014/main" id="{D2546EE9-BF56-49D4-9D14-2B11E4BC606E}"/>
              </a:ext>
            </a:extLst>
          </p:cNvPr>
          <p:cNvSpPr>
            <a:spLocks xmlns:a="http://schemas.openxmlformats.org/drawingml/2006/main" noGrp="1"/>
          </p:cNvSpPr>
          <p:nvPr/>
        </p:nvSpPr>
        <p:spPr>
          <a:xfrm xmlns:a="http://schemas.openxmlformats.org/drawingml/2006/main">
            <a:off x="609600" y="5229225"/>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950" b="0">
                <a:solidFill>
                  <a:srgbClr val="627178"/>
                </a:solidFill>
                <a:latin typeface="Pretendard"/>
                <a:ea typeface="Pretendard"/>
                <a:cs typeface="Pretendard"/>
              </a:defRPr>
            </a:defPPr>
          </a:lstStyle>
          <a:p xmlns:a="http://schemas.openxmlformats.org/drawingml/2006/main">
            <a:pPr algn="l">
              <a:defRPr sz="1950" b="0">
                <a:solidFill>
                  <a:srgbClr val="627178"/>
                </a:solidFill>
                <a:latin typeface="Pretendard"/>
                <a:ea typeface="Pretendard"/>
                <a:cs typeface="Pretendard"/>
              </a:defRPr>
            </a:pPr>
            <a:r>
              <a:rPr sz="1950" b="0">
                <a:solidFill>
                  <a:srgbClr val="627178"/>
                </a:solidFill>
                <a:latin typeface="Pretendard"/>
                <a:ea typeface="Pretendard"/>
                <a:cs typeface="Pretendard"/>
              </a:rPr>
              <a:t>100개 도시 입력 지원 / 도시별 자료와 모바일 검증은 추가 필요</a:t>
            </a:r>
          </a:p>
        </p:txBody>
      </p:sp>
      <p:sp>
        <p:nvSpPr>
          <p:cNvPr id="185" name="마지막으로, 실제 사용 화면을 보여드리겠습니다.">
            <a:extLst xmlns:a="http://schemas.openxmlformats.org/drawingml/2006/main">
              <a:ext uri="{FF2B5EF4-FFF2-40B4-BE49-F238E27FC236}">
                <a16:creationId xmlns:a16="http://schemas.microsoft.com/office/drawing/2014/main" id="{BBE57039-794A-4713-8485-F54AEB035911}"/>
              </a:ext>
            </a:extLst>
          </p:cNvPr>
          <p:cNvSpPr>
            <a:spLocks xmlns:a="http://schemas.openxmlformats.org/drawingml/2006/main" noGrp="1"/>
          </p:cNvSpPr>
          <p:nvPr/>
        </p:nvSpPr>
        <p:spPr>
          <a:xfrm xmlns:a="http://schemas.openxmlformats.org/drawingml/2006/main">
            <a:off x="609600" y="6057900"/>
            <a:ext cx="10715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lgn="l">
              <a:defRPr sz="1800" b="0">
                <a:solidFill>
                  <a:srgbClr val="25485A"/>
                </a:solidFill>
                <a:latin typeface="Pretendard"/>
                <a:ea typeface="Pretendard"/>
                <a:cs typeface="Pretendard"/>
              </a:defRPr>
            </a:defPPr>
          </a:lstStyle>
          <a:p xmlns:a="http://schemas.openxmlformats.org/drawingml/2006/main">
            <a:pPr algn="l">
              <a:buNone/>
              <a:defRPr sz="1800" b="0">
                <a:solidFill>
                  <a:srgbClr val="25485A"/>
                </a:solidFill>
                <a:latin typeface="Pretendard"/>
                <a:ea typeface="Pretendard"/>
                <a:cs typeface="Pretendard"/>
              </a:defRPr>
            </a:pPr>
            <a:r>
              <a:rPr sz="1800" b="0">
                <a:solidFill>
                  <a:srgbClr val="25485A"/>
                </a:solidFill>
                <a:latin typeface="Pretendard"/>
                <a:ea typeface="Pretendard"/>
                <a:cs typeface="Pretendard"/>
              </a:rPr>
              <a:t>마지막으로, 실제 사용 화면을 보여드리겠습니다.</a:t>
            </a:r>
          </a:p>
        </p:txBody>
      </p:sp>
    </p:spTree>
    <p:extLst>
      <p:ext uri="{BB962C8B-B14F-4D97-AF65-F5344CB8AC3E}">
        <p14:creationId xmlns:p14="http://schemas.microsoft.com/office/powerpoint/2010/main" val="300745530"/>
      </p:ext>
    </p:extLst>
  </p:cSld>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9F6"/>
        </a:solidFill>
      </p:bgPr>
    </p:bg>
    <p:spTree>
      <p:nvGrpSpPr>
        <p:cNvPr id="1" name=""/>
        <p:cNvGrpSpPr/>
        <p:nvPr/>
      </p:nvGrpSpPr>
      <p:grpSpPr>
        <a:xfrm>
          <a:off x="0" y="0"/>
          <a:ext cx="0" cy="0"/>
          <a:chOff x="0" y="0"/>
          <a:chExt cx="0" cy="0"/>
        </a:xfrm>
      </p:grpSpPr>
      <p:sp>
        <p:nvSpPr>
          <p:cNvPr id="189" name="고잉 사용 화면"/>
          <p:cNvSpPr txBox="1"/>
          <p:nvPr/>
        </p:nvSpPr>
        <p:spPr>
          <a:xfrm>
            <a:off x="609600" y="276225"/>
            <a:ext cx="10972800" cy="561975"/>
          </a:xfrm>
          <a:prstGeom prst="rect">
            <a:avLst/>
          </a:prstGeom>
          <a:noFill/>
          <a:ln w="0">
            <a:noFill/>
          </a:ln>
        </p:spPr>
        <p:txBody>
          <a:bodyPr lIns="0" tIns="0" rIns="0" bIns="0" anchor="t"/>
          <a:lstStyle>
            <a:defPPr algn="l">
              <a:defRPr sz="3150" b="1">
                <a:solidFill>
                  <a:srgbClr val="25485A"/>
                </a:solidFill>
              </a:defRPr>
            </a:defPPr>
          </a:lstStyle>
          <a:p>
            <a:pPr algn="l">
              <a:defRPr sz="3150" b="1">
                <a:solidFill>
                  <a:srgbClr val="25485A"/>
                </a:solidFill>
              </a:defRPr>
            </a:pPr>
            <a:r>
              <a:rPr sz="3150" b="1">
                <a:solidFill>
                  <a:srgbClr val="25485A"/>
                </a:solidFill>
                <a:latin typeface="Pretendard"/>
                <a:ea typeface="Pretendard"/>
                <a:cs typeface="Pretendard"/>
              </a:rPr>
              <a:t>고잉 사용 화면</a:t>
            </a:r>
          </a:p>
        </p:txBody>
      </p:sp>
      <p:pic>
        <p:nvPicPr>
          <p:cNvPr id="190" name="image8.png" descr="image8.png"/>
          <p:cNvPicPr>
            <a:picLocks noChangeAspect="1"/>
          </p:cNvPicPr>
          <p:nvPr/>
        </p:nvPicPr>
        <p:blipFill>
          <a:blip r:embed="rId3">
            <a:extLst/>
          </a:blip>
          <a:stretch>
            <a:fillRect/>
          </a:stretch>
        </p:blipFill>
        <p:spPr>
          <a:xfrm>
            <a:off x="1143000" y="1085850"/>
            <a:ext cx="9906000" cy="5572125"/>
          </a:xfrm>
          <a:prstGeom prst="rect">
            <a:avLst/>
          </a:prstGeom>
          <a:ln w="12700">
            <a:miter lim="400000"/>
          </a:ln>
        </p:spPr>
      </p:pic>
      <p:pic>
        <p:nvPicPr>
          <p:cNvPr id="191" name="70초 고잉 사용 화면. 합성 여행의 실제 화면 캡처를 자막과 함께 편집한 영상입니다." descr="70초 고잉 사용 화면. 합성 여행의 실제 화면 캡처를 자막과 함께 편집한 영상입니다."/>
          <p:cNvPicPr>
            <a:picLocks noChangeAspect="0"/>
          </p:cNvPicPr>
          <p:nvPr>
            <a:videoFile r:link="rId4"/>
            <p:extLst>
              <p:ext uri="{DAA4B4D4-6D71-4841-9C94-3DE7FCFB9230}">
                <p14:media xmlns:p14="http://schemas.microsoft.com/office/powerpoint/2010/main" r:embed="rId5"/>
              </p:ext>
            </p:extLst>
          </p:nvPr>
        </p:nvPicPr>
        <p:blipFill>
          <a:blip r:embed="rId6">
            <a:extLst/>
          </a:blip>
          <a:stretch>
            <a:fillRect/>
          </a:stretch>
        </p:blipFill>
        <p:spPr>
          <a:xfrm>
            <a:off x="0" y="0"/>
            <a:ext cx="12192000" cy="6858000"/>
          </a:xfrm>
          <a:prstGeom prst="rect">
            <a:avLst/>
          </a:prstGeom>
          <a:ln w="12700">
            <a:miter lim="400000"/>
          </a:ln>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mediacall" nodeType="clickEffect" presetSubtype="0" presetID="1" grpId="1" fill="hold">
                                  <p:stCondLst>
                                    <p:cond delay="0"/>
                                  </p:stCondLst>
                                  <p:childTnLst>
                                    <p:cmd type="call" cmd="playFrom(0.0)">
                                      <p:cBhvr>
                                        <p:cTn id="6" dur="70000" fill="hold"/>
                                        <p:tgtEl>
                                          <p:spTgt spid="191"/>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100000">
                <p:cTn id="7" fill="hold" display="0">
                  <p:stCondLst>
                    <p:cond delay="indefinite"/>
                  </p:stCondLst>
                </p:cTn>
                <p:tgtEl>
                  <p:spTgt spid="191"/>
                </p:tgtEl>
              </p:cMediaNode>
            </p:video>
            <p:seq concurrent="1" prevAc="none" nextAc="seek">
              <p:cTn id="8" evtFilter="cancelBubble" nodeType="interactiveSeq" restart="whenNotActive" fill="hold">
                <p:stCondLst>
                  <p:cond delay="0" evt="onClick">
                    <p:tgtEl>
                      <p:spTgt spid="191"/>
                    </p:tgtEl>
                  </p:cond>
                </p:stCondLst>
                <p:endSync delay="0" evt="end">
                  <p:rtn val="all"/>
                </p:endSync>
                <p:childTnLst>
                  <p:par>
                    <p:cTn id="9" fill="hold">
                      <p:stCondLst>
                        <p:cond delay="0"/>
                      </p:stCondLst>
                      <p:childTnLst>
                        <p:par>
                          <p:cTn id="10" fill="hold">
                            <p:stCondLst>
                              <p:cond delay="0"/>
                            </p:stCondLst>
                            <p:childTnLst>
                              <p:par>
                                <p:cTn id="11" presetClass="mediacall" nodeType="clickEffect" presetSubtype="0" presetID="2" fill="hold">
                                  <p:stCondLst>
                                    <p:cond delay="0"/>
                                  </p:stCondLst>
                                  <p:childTnLst>
                                    <p:cmd type="call" cmd="togglePause">
                                      <p:cBhvr>
                                        <p:cTn id="12" dur="1" fill="hold"/>
                                        <p:tgtEl>
                                          <p:spTgt spid="191"/>
                                        </p:tgtEl>
                                      </p:cBhvr>
                                    </p:cmd>
                                  </p:childTnLst>
                                </p:cTn>
                              </p:par>
                            </p:childTnLst>
                          </p:cTn>
                        </p:par>
                      </p:childTnLst>
                    </p:cTn>
                  </p:par>
                </p:childTnLst>
              </p:cTn>
              <p:nextCondLst>
                <p:cond delay="0" evt="onClick">
                  <p:tgtEl>
                    <p:spTgt spid="191"/>
                  </p:tgtEl>
                </p:cond>
              </p:nextCondLst>
            </p:seq>
          </p:childTnLst>
        </p:cTn>
      </p:par>
    </p:tnLst>
  </p:timing>
</p:sld>
</file>

<file path=ppt/theme/theme1.xml><?xml version="1.0" encoding="utf-8"?>
<a:theme xmlns:a="http://schemas.openxmlformats.org/drawingml/2006/main" name="ChatGPT">
  <a:themeElements>
    <a:clrScheme name="ChatGPT">
      <a:dk1>
        <a:srgbClr val="000000"/>
      </a:dk1>
      <a:lt1>
        <a:srgbClr val="FFFFFF"/>
      </a:lt1>
      <a:dk2>
        <a:srgbClr val="A7A7A7"/>
      </a:dk2>
      <a:lt2>
        <a:srgbClr val="535353"/>
      </a:lt2>
      <a:accent1>
        <a:srgbClr val="156082"/>
      </a:accent1>
      <a:accent2>
        <a:srgbClr val="E97132"/>
      </a:accent2>
      <a:accent3>
        <a:srgbClr val="196B24"/>
      </a:accent3>
      <a:accent4>
        <a:srgbClr val="0F9ED5"/>
      </a:accent4>
      <a:accent5>
        <a:srgbClr val="A02B93"/>
      </a:accent5>
      <a:accent6>
        <a:srgbClr val="4EA72E"/>
      </a:accent6>
      <a:hlink>
        <a:srgbClr val="0000FF"/>
      </a:hlink>
      <a:folHlink>
        <a:srgbClr val="FF00FF"/>
      </a:folHlink>
    </a:clrScheme>
    <a:fontScheme name="ChatGPT">
      <a:majorFont>
        <a:latin typeface="Pretendard"/>
        <a:ea typeface="Pretendard"/>
        <a:cs typeface="Pretendard"/>
      </a:majorFont>
      <a:minorFont>
        <a:latin typeface="Pretendard"/>
        <a:ea typeface="Pretendard"/>
        <a:cs typeface="Pretendard"/>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2026-10-08T04:37:44.4760000Z</dcterms:created>
  <dcterms:modified xsi:type="dcterms:W3CDTF">2026-10-08T04:37:44.4760000Z</dcterms:modified>
</coreProperties>
</file>