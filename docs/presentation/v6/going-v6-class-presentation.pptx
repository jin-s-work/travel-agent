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media/media1.mp4" ContentType="video/unknown"/>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8"/>
          </a:solidFill>
        </a:fill>
      </a:tcStyle>
    </a:wholeTbl>
    <a:band2H>
      <a:tcTxStyle b="def" i="def"/>
      <a:tcStyle>
        <a:tcBdr/>
        <a:fill>
          <a:solidFill>
            <a:srgbClr val="E7E9EC"/>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3CB"/>
          </a:solidFill>
        </a:fill>
      </a:tcStyle>
    </a:wholeTbl>
    <a:band2H>
      <a:tcTxStyle b="def" i="def"/>
      <a:tcStyle>
        <a:tcBdr/>
        <a:fill>
          <a:solidFill>
            <a:srgbClr val="E7EAE7"/>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E1CC"/>
          </a:solidFill>
        </a:fill>
      </a:tcStyle>
    </a:wholeTbl>
    <a:band2H>
      <a:tcTxStyle b="def" i="def"/>
      <a:tcStyle>
        <a:tcBdr/>
        <a:fill>
          <a:solidFill>
            <a:srgbClr val="E8F0E7"/>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Pretendard"/>
          <a:ea typeface="Pretendard"/>
          <a:cs typeface="Pretendard"/>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Pretendard"/>
          <a:ea typeface="Pretendard"/>
          <a:cs typeface="Pretendar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Pretendard"/>
          <a:ea typeface="Pretendard"/>
          <a:cs typeface="Pretendard"/>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Pretendard"/>
          <a:ea typeface="Pretendard"/>
          <a:cs typeface="Pretendard"/>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62" name="Shape 62"/>
          <p:cNvSpPr/>
          <p:nvPr>
            <p:ph type="sldImg"/>
          </p:nvPr>
        </p:nvSpPr>
        <p:spPr>
          <a:xfrm>
            <a:off x="1143000" y="685800"/>
            <a:ext cx="4572000" cy="3429000"/>
          </a:xfrm>
          <a:prstGeom prst="rect">
            <a:avLst/>
          </a:prstGeom>
        </p:spPr>
        <p:txBody>
          <a:bodyPr/>
          <a:lstStyle/>
          <a:p>
            <a:pPr/>
          </a:p>
        </p:txBody>
      </p:sp>
      <p:sp>
        <p:nvSpPr>
          <p:cNvPr id="63" name="Shape 6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Pretendard"/>
      </a:defRPr>
    </a:lvl1pPr>
    <a:lvl2pPr indent="228600" latinLnBrk="0">
      <a:defRPr sz="1200">
        <a:latin typeface="+mn-lt"/>
        <a:ea typeface="+mn-ea"/>
        <a:cs typeface="+mn-cs"/>
        <a:sym typeface="Pretendard"/>
      </a:defRPr>
    </a:lvl2pPr>
    <a:lvl3pPr indent="457200" latinLnBrk="0">
      <a:defRPr sz="1200">
        <a:latin typeface="+mn-lt"/>
        <a:ea typeface="+mn-ea"/>
        <a:cs typeface="+mn-cs"/>
        <a:sym typeface="Pretendard"/>
      </a:defRPr>
    </a:lvl3pPr>
    <a:lvl4pPr indent="685800" latinLnBrk="0">
      <a:defRPr sz="1200">
        <a:latin typeface="+mn-lt"/>
        <a:ea typeface="+mn-ea"/>
        <a:cs typeface="+mn-cs"/>
        <a:sym typeface="Pretendard"/>
      </a:defRPr>
    </a:lvl4pPr>
    <a:lvl5pPr indent="914400" latinLnBrk="0">
      <a:defRPr sz="1200">
        <a:latin typeface="+mn-lt"/>
        <a:ea typeface="+mn-ea"/>
        <a:cs typeface="+mn-cs"/>
        <a:sym typeface="Pretendard"/>
      </a:defRPr>
    </a:lvl5pPr>
    <a:lvl6pPr indent="1143000" latinLnBrk="0">
      <a:defRPr sz="1200">
        <a:latin typeface="+mn-lt"/>
        <a:ea typeface="+mn-ea"/>
        <a:cs typeface="+mn-cs"/>
        <a:sym typeface="Pretendard"/>
      </a:defRPr>
    </a:lvl6pPr>
    <a:lvl7pPr indent="1371600" latinLnBrk="0">
      <a:defRPr sz="1200">
        <a:latin typeface="+mn-lt"/>
        <a:ea typeface="+mn-ea"/>
        <a:cs typeface="+mn-cs"/>
        <a:sym typeface="Pretendard"/>
      </a:defRPr>
    </a:lvl7pPr>
    <a:lvl8pPr indent="1600200" latinLnBrk="0">
      <a:defRPr sz="1200">
        <a:latin typeface="+mn-lt"/>
        <a:ea typeface="+mn-ea"/>
        <a:cs typeface="+mn-cs"/>
        <a:sym typeface="Pretendard"/>
      </a:defRPr>
    </a:lvl8pPr>
    <a:lvl9pPr indent="1828800" latinLnBrk="0">
      <a:defRPr sz="1200">
        <a:latin typeface="+mn-lt"/>
        <a:ea typeface="+mn-ea"/>
        <a:cs typeface="+mn-cs"/>
        <a:sym typeface="Pretendard"/>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 name="Shape 71"/>
          <p:cNvSpPr/>
          <p:nvPr>
            <p:ph type="sldImg"/>
          </p:nvPr>
        </p:nvSpPr>
        <p:spPr>
          <a:prstGeom prst="rect">
            <a:avLst/>
          </a:prstGeom>
        </p:spPr>
        <p:txBody>
          <a:bodyPr/>
          <a:lstStyle/>
          <a:p>
            <a:pPr/>
          </a:p>
        </p:txBody>
      </p:sp>
      <p:sp>
        <p:nvSpPr>
          <p:cNvPr id="72" name="Shape 72"/>
          <p:cNvSpPr/>
          <p:nvPr>
            <p:ph type="body" sz="quarter" idx="1"/>
          </p:nvPr>
        </p:nvSpPr>
        <p:spPr>
          <a:prstGeom prst="rect">
            <a:avLst/>
          </a:prstGeom>
        </p:spPr>
        <p:txBody>
          <a:bodyPr/>
          <a:lstStyle/>
          <a:p>
            <a:pPr/>
            <a:r>
              <a:t>[목표 35초]</a:t>
            </a:r>
          </a:p>
          <a:p>
            <a:pPr/>
          </a:p>
          <a:p>
            <a:pPr/>
            <a:r>
              <a:t>안녕하세요. 제가 만든 여행 서비스, 고잉을 소개하겠습니다.</a:t>
            </a:r>
          </a:p>
          <a:p>
            <a:pPr/>
          </a:p>
          <a:p>
            <a:pPr/>
            <a:r>
              <a:t>저는 여행하는 것도 좋아하고 새로운 음식점을 찾아다니는 것도 좋아합니다. 그런데 여행을 갈 때마다 식당을 검색하고, 리뷰를 읽고, 숙소에서 얼마나 먼지 비교하는 과정이 꽤 번거로웠습니다. 예약을 해 놓고도 시간을 확인하려고 메일함을 다시 찾아야 했고요.</a:t>
            </a:r>
          </a:p>
          <a:p>
            <a:pPr/>
          </a:p>
          <a:p>
            <a:pPr/>
            <a:r>
              <a:t>그래서 제가 여행을 준비할 때 직접 쓰고 싶은 서비스를 만들어 봤습니다. 오늘은 어떤 불편함에서 시작했고, 그걸 어떤 기능으로 해결하려 했는지 보여드리겠습니다.</a:t>
            </a:r>
          </a:p>
          <a:p>
            <a:pPr/>
          </a:p>
          <a:p>
            <a:pPr/>
            <a:r>
              <a:t>화면 안내: 제목을 보여주며 개인적인 계기부터 말합니다.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[목표 45초]</a:t>
            </a:r>
          </a:p>
          <a:p>
            <a:pPr/>
          </a:p>
          <a:p>
            <a:pPr/>
            <a:r>
              <a:t>예를 들어 도쿄 여행을 간다고 하면, 먼저 어디에서 밥을 먹을지 검색합니다. 한국어로 많이 소개된 곳도 좋지만, 현지어 리뷰가 많은 다른 식당도 찾아보고 싶었습니다. 그러다 마음에 드는 곳을 찾으면 이번에는 숙소와의 거리, 영업시간, 예약 방법을 따로 확인해야 했습니다.</a:t>
            </a:r>
          </a:p>
          <a:p>
            <a:pPr/>
          </a:p>
          <a:p>
            <a:pPr/>
            <a:r>
              <a:t>이미 예약한 항공권이나 호텔 정보는 메일에 있고, 가고 싶은 장소는 지도에 있고, 하루 일정은 메모에 있었습니다. 정보를 하나씩 찾는 것보다 그걸 서로 맞춰 보는 과정이 더 번거로웠습니다.</a:t>
            </a:r>
          </a:p>
          <a:p>
            <a:pPr/>
          </a:p>
          <a:p>
            <a:pPr/>
            <a:r>
              <a:t>그래서 고잉은 여행 하나 안에서 예약과 장소, 일정을 이어서 볼 수 있게 기획했습니다.</a:t>
            </a:r>
          </a:p>
          <a:p>
            <a:pPr/>
          </a:p>
          <a:p>
            <a:pPr/>
            <a:r>
              <a:t>화면 안내: 식당을 고르는 질문과 예약을 확인하는 질문을 차례로 짚습니다.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Shape 97"/>
          <p:cNvSpPr/>
          <p:nvPr>
            <p:ph type="sldImg"/>
          </p:nvPr>
        </p:nvSpPr>
        <p:spPr>
          <a:prstGeom prst="rect">
            <a:avLst/>
          </a:prstGeom>
        </p:spPr>
        <p:txBody>
          <a:bodyPr/>
          <a:lstStyle/>
          <a:p>
            <a:pPr/>
          </a:p>
        </p:txBody>
      </p:sp>
      <p:sp>
        <p:nvSpPr>
          <p:cNvPr id="98" name="Shape 98"/>
          <p:cNvSpPr/>
          <p:nvPr>
            <p:ph type="body" sz="quarter" idx="1"/>
          </p:nvPr>
        </p:nvSpPr>
        <p:spPr>
          <a:prstGeom prst="rect">
            <a:avLst/>
          </a:prstGeom>
        </p:spPr>
        <p:txBody>
          <a:bodyPr/>
          <a:lstStyle/>
          <a:p>
            <a:pPr/>
            <a:r>
              <a:t>[목표 35초]</a:t>
            </a:r>
          </a:p>
          <a:p>
            <a:pPr/>
          </a:p>
          <a:p>
            <a:pPr/>
            <a:r>
              <a:t>사용할 때는 여행부터 하나 만듭니다. 도시와 날짜를 정하면 이후에 메일을 올리거나 장소를 찾을 때 같은 정보를 다시 입력하지 않아도 됩니다.</a:t>
            </a:r>
          </a:p>
          <a:p>
            <a:pPr/>
          </a:p>
          <a:p>
            <a:pPr/>
            <a:r>
              <a:t>처음부터 숙소, 취향, 예산을 모두 쓰게 하면 오히려 여행 준비가 더 귀찮아질 수 있다고 생각했습니다. 그래서 꼭 필요한 정보로 먼저 시작하고, 숙소나 음식 취향은 필요할 때 추가하도록 했습니다.</a:t>
            </a:r>
          </a:p>
          <a:p>
            <a:pPr/>
          </a:p>
          <a:p>
            <a:pPr/>
            <a:r>
              <a:t>예약이 있는 사람은 메일부터 올리고, 아직 아무것도 정하지 않은 사람은 장소부터 찾아볼 수 있습니다. 화면은 가상 여행을 넣어 둔 예시입니다.</a:t>
            </a:r>
          </a:p>
          <a:p>
            <a:pPr/>
          </a:p>
          <a:p>
            <a:pPr/>
            <a:r>
              <a:t>화면 안내: 홈 화면에서 여행 기간과 세 가지 진입점을 가리킵니다.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r>
              <a:t>[목표 50초]</a:t>
            </a:r>
          </a:p>
          <a:p>
            <a:pPr/>
          </a:p>
          <a:p>
            <a:pPr/>
            <a:r>
              <a:t>가장 먼저 만든 기능은 예약 메일 분석이었습니다. 항공권이나 숙소 확인 메일을 올리면 날짜, 시간, 장소 같은 내용을 예약으로 정리합니다. 한 메일에 여러 예약이 있거나 왕복 항공편이 들어 있는 경우도 구분해서 보관합니다.</a:t>
            </a:r>
          </a:p>
          <a:p>
            <a:pPr/>
          </a:p>
          <a:p>
            <a:pPr/>
            <a:r>
              <a:t>이때 AI가 읽은 내용을 바로 확정된 사실로 취급하지는 않습니다. 사용자가 확인하고 잘못된 값을 수정할 수 있게 했습니다. 사용자가 고친 값은 원래 추출한 값과 따로 저장해서 다시 분석해도 사라지지 않도록 했습니다.</a:t>
            </a:r>
          </a:p>
          <a:p>
            <a:pPr/>
          </a:p>
          <a:p>
            <a:pPr/>
            <a:r>
              <a:t>실제 AI 분석에는 OpenAI gpt-5-mini를 사용합니다. 지금 화면은 발표용 가상 메일을 비용 없는 기본 분석으로 처리한 예시입니다. 분석이 실패했을 때 기존 예약을 지우지 않고, 작업 상태를 다시 확인할 수 있도록 만드는 데도 신경 썼습니다.</a:t>
            </a:r>
          </a:p>
          <a:p>
            <a:pPr/>
          </a:p>
          <a:p>
            <a:pPr/>
            <a:r>
              <a:t>화면 안내: 호텔의 체크인·체크아웃 시간과 확인 필요 상태를 짚습니다.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119"/>
          <p:cNvSpPr/>
          <p:nvPr>
            <p:ph type="sldImg"/>
          </p:nvPr>
        </p:nvSpPr>
        <p:spPr>
          <a:prstGeom prst="rect">
            <a:avLst/>
          </a:prstGeom>
        </p:spPr>
        <p:txBody>
          <a:bodyPr/>
          <a:lstStyle/>
          <a:p>
            <a:pPr/>
          </a:p>
        </p:txBody>
      </p:sp>
      <p:sp>
        <p:nvSpPr>
          <p:cNvPr id="120" name="Shape 120"/>
          <p:cNvSpPr/>
          <p:nvPr>
            <p:ph type="body" sz="quarter" idx="1"/>
          </p:nvPr>
        </p:nvSpPr>
        <p:spPr>
          <a:prstGeom prst="rect">
            <a:avLst/>
          </a:prstGeom>
        </p:spPr>
        <p:txBody>
          <a:bodyPr/>
          <a:lstStyle/>
          <a:p>
            <a:pPr/>
            <a:r>
              <a:t>[목표 40초]</a:t>
            </a:r>
          </a:p>
          <a:p>
            <a:pPr/>
          </a:p>
          <a:p>
            <a:pPr/>
            <a:r>
              <a:t>예약을 모아 두면 이렇게 날짜별로 질문할 수 있습니다. 예를 들어 2일차 예약을 전부 알려 달라고 하면, 그 날짜에 해당하는 예약을 가져옵니다. 검색 점수가 높은 몇 개만 가져오면 예약이 빠질 수 있기 때문에 날짜 질문은 저장된 예약을 날짜 범위로 조회하게 했습니다.</a:t>
            </a:r>
          </a:p>
          <a:p>
            <a:pPr/>
          </a:p>
          <a:p>
            <a:pPr/>
            <a:r>
              <a:t>환불 규정처럼 메일 본문을 읽어야 하는 질문은 관련 내용을 검색해서 답하고, 답변의 근거도 같이 보여줍니다. 오른쪽에서 어떤 메일이나 직접 입력한 예약을 참고했는지 확인할 수 있습니다.</a:t>
            </a:r>
          </a:p>
          <a:p>
            <a:pPr/>
          </a:p>
          <a:p>
            <a:pPr/>
            <a:r>
              <a:t>제가 원했던 것은 답변을 받은 뒤에도 필요하면 원문을 바로 확인할 수 있는 흐름이었습니다.</a:t>
            </a:r>
          </a:p>
          <a:p>
            <a:pPr/>
          </a:p>
          <a:p>
            <a:pPr/>
            <a:r>
              <a:t>화면 안내: 왼쪽 답변의 예약 목록과 오른쪽 원문 근거를 연결해 설명합니다.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 name="Shape 131"/>
          <p:cNvSpPr/>
          <p:nvPr>
            <p:ph type="sldImg"/>
          </p:nvPr>
        </p:nvSpPr>
        <p:spPr>
          <a:prstGeom prst="rect">
            <a:avLst/>
          </a:prstGeom>
        </p:spPr>
        <p:txBody>
          <a:bodyPr/>
          <a:lstStyle/>
          <a:p>
            <a:pPr/>
          </a:p>
        </p:txBody>
      </p:sp>
      <p:sp>
        <p:nvSpPr>
          <p:cNvPr id="132" name="Shape 132"/>
          <p:cNvSpPr/>
          <p:nvPr>
            <p:ph type="body" sz="quarter" idx="1"/>
          </p:nvPr>
        </p:nvSpPr>
        <p:spPr>
          <a:prstGeom prst="rect">
            <a:avLst/>
          </a:prstGeom>
        </p:spPr>
        <p:txBody>
          <a:bodyPr/>
          <a:lstStyle/>
          <a:p>
            <a:pPr/>
            <a:r>
              <a:t>[목표 40초]</a:t>
            </a:r>
          </a:p>
          <a:p>
            <a:pPr/>
          </a:p>
          <a:p>
            <a:pPr/>
            <a:r>
              <a:t>장소를 찾을 때는 이름과 평점만 보는 것보다 내부나 음식 사진이 같이 있으면 고르기 편했습니다. 그래서 이용 가능한 사진이 있는 장소는 최대 세 장까지 보여주고, 추천 이유와 확인할 조건도 함께 배치했습니다.</a:t>
            </a:r>
          </a:p>
          <a:p>
            <a:pPr/>
          </a:p>
          <a:p>
            <a:pPr/>
            <a:r>
              <a:t>상세에서는 영업시간, 예약 방법, 가격과 그 출처를 확인할 수 있습니다. 마음에 들면 저장하고 같은 방문일과 인원 조건으로 최대 세 곳을 비교할 수 있습니다. 숙소 위치가 확인되면 거리도 참고합니다.</a:t>
            </a:r>
          </a:p>
          <a:p>
            <a:pPr/>
          </a:p>
          <a:p>
            <a:pPr/>
            <a:r>
              <a:t>화면에 보이는 곳은 마드리드의 실제 식당입니다. 다만 미래 방문일의 영업이나 잔여석은 확인하지 못했기 때문에 방문 전 확인이 필요하다고 표시합니다. 사진이 있다고 예약할 수 있다고 말하지는 않습니다.</a:t>
            </a:r>
          </a:p>
          <a:p>
            <a:pPr/>
          </a:p>
          <a:p>
            <a:pPr/>
            <a:r>
              <a:t>화면 안내: 음식 사진과 방문 전 확인 필요 문구를 함께 짚습니다.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3" name="Shape 143"/>
          <p:cNvSpPr/>
          <p:nvPr>
            <p:ph type="sldImg"/>
          </p:nvPr>
        </p:nvSpPr>
        <p:spPr>
          <a:prstGeom prst="rect">
            <a:avLst/>
          </a:prstGeom>
        </p:spPr>
        <p:txBody>
          <a:bodyPr/>
          <a:lstStyle/>
          <a:p>
            <a:pPr/>
          </a:p>
        </p:txBody>
      </p:sp>
      <p:sp>
        <p:nvSpPr>
          <p:cNvPr id="144" name="Shape 144"/>
          <p:cNvSpPr/>
          <p:nvPr>
            <p:ph type="body" sz="quarter" idx="1"/>
          </p:nvPr>
        </p:nvSpPr>
        <p:spPr>
          <a:prstGeom prst="rect">
            <a:avLst/>
          </a:prstGeom>
        </p:spPr>
        <p:txBody>
          <a:bodyPr/>
          <a:lstStyle/>
          <a:p>
            <a:pPr/>
            <a:r>
              <a:t>[목표 50초]</a:t>
            </a:r>
          </a:p>
          <a:p>
            <a:pPr/>
          </a:p>
          <a:p>
            <a:pPr/>
            <a:r>
              <a:t>추천은 두 가지 방향으로 나눴습니다. 하나는 현지 탐색입니다. 제가 특히 해보고 싶었던 기능은 현지어 원문 리뷰가 충분하고 한국어 리뷰가 적게 관측된 곳을 찾아보는 것이었습니다. 직접 외국어 리뷰를 하나씩 살펴보는 수고를 덜고 싶었습니다.</a:t>
            </a:r>
          </a:p>
          <a:p>
            <a:pPr/>
          </a:p>
          <a:p>
            <a:pPr/>
            <a:r>
              <a:t>다른 하나는 유명한 곳입니다. 여행지에 가면 꼭 가보고 싶은 대표 명소나 잘 알려진 식당도 있으니까요. 이쪽은 공식 소개 자료나 같은 플랫폼의 평가 규모처럼 유명함을 설명할 수 있는 근거를 따로 봅니다.</a:t>
            </a:r>
          </a:p>
          <a:p>
            <a:pPr/>
          </a:p>
          <a:p>
            <a:pPr/>
            <a:r>
              <a:t>현지어로 리뷰를 썼다고 현지 주민이라고 단정할 수는 없습니다. 그래서 관측한 리뷰의 언어 구성으로 설명하고, 언어를 모르는 리뷰도 함께 계산하도록 했습니다. 엄격한 현지어 추천은 실제 데이터 이용 범위와 언어 품질 검증을 마친 뒤 켤 계획입니다. 지금은 꺼 둔 상태입니다.</a:t>
            </a:r>
          </a:p>
          <a:p>
            <a:pPr/>
          </a:p>
          <a:p>
            <a:pPr/>
            <a:r>
              <a:t>화면 안내: 현지 탐색과 유명한 곳을 비교한 뒤 하단의 개발 상태를 설명합니다.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Shape 158"/>
          <p:cNvSpPr/>
          <p:nvPr>
            <p:ph type="sldImg"/>
          </p:nvPr>
        </p:nvSpPr>
        <p:spPr>
          <a:prstGeom prst="rect">
            <a:avLst/>
          </a:prstGeom>
        </p:spPr>
        <p:txBody>
          <a:bodyPr/>
          <a:lstStyle/>
          <a:p>
            <a:pPr/>
          </a:p>
        </p:txBody>
      </p:sp>
      <p:sp>
        <p:nvSpPr>
          <p:cNvPr id="159" name="Shape 159"/>
          <p:cNvSpPr/>
          <p:nvPr>
            <p:ph type="body" sz="quarter" idx="1"/>
          </p:nvPr>
        </p:nvSpPr>
        <p:spPr>
          <a:prstGeom prst="rect">
            <a:avLst/>
          </a:prstGeom>
        </p:spPr>
        <p:txBody>
          <a:bodyPr/>
          <a:lstStyle/>
          <a:p>
            <a:pPr/>
            <a:r>
              <a:t>[목표 50초]</a:t>
            </a:r>
          </a:p>
          <a:p>
            <a:pPr/>
          </a:p>
          <a:p>
            <a:pPr/>
            <a:r>
              <a:t>고른 장소는 실제로 갈 수 있는 일정으로 이어져야 합니다. 그래서 이미 확정된 예약을 먼저 두고, 남은 시간에 다른 장소를 넣을 수 있는지 계산하게 했습니다.</a:t>
            </a:r>
          </a:p>
          <a:p>
            <a:pPr/>
          </a:p>
          <a:p>
            <a:pPr/>
            <a:r>
              <a:t>점심이 한 시에 끝나고 다음 예약이 세 시라면 빈 시간은 두 시간입니다. 여기에 90분 머무는 장소를 넣고 앞뒤 이동에 각각 30분이 걸리면 총 150분이 필요합니다. 머무는 시간만 보면 들어갈 것 같지만 실제로는 30분이 부족한 겁니다.</a:t>
            </a:r>
          </a:p>
          <a:p>
            <a:pPr/>
          </a:p>
          <a:p>
            <a:pPr/>
            <a:r>
              <a:t>일정을 편집할 때도 바로 원본을 바꾸지 않고 먼저 영향을 미리 보여줍니다. 확인한 뒤 적용하고, 다시 되돌릴 수 있습니다. 이동시간이나 영업시간을 모르면 확인이 필요하다고 남기고, 확정 예약을 임의로 옮겨서 일정을 맞추지 않도록 했습니다.</a:t>
            </a:r>
          </a:p>
          <a:p>
            <a:pPr/>
          </a:p>
          <a:p>
            <a:pPr/>
            <a:r>
              <a:t>화면 안내: 두 시간의 빈칸과 필요한 150분을 비교하고 미리보기 흐름을 설명합니다.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2" name="Shape 172"/>
          <p:cNvSpPr/>
          <p:nvPr>
            <p:ph type="sldImg"/>
          </p:nvPr>
        </p:nvSpPr>
        <p:spPr>
          <a:prstGeom prst="rect">
            <a:avLst/>
          </a:prstGeom>
        </p:spPr>
        <p:txBody>
          <a:bodyPr/>
          <a:lstStyle/>
          <a:p>
            <a:pPr/>
          </a:p>
        </p:txBody>
      </p:sp>
      <p:sp>
        <p:nvSpPr>
          <p:cNvPr id="173" name="Shape 173"/>
          <p:cNvSpPr/>
          <p:nvPr>
            <p:ph type="body" sz="quarter" idx="1"/>
          </p:nvPr>
        </p:nvSpPr>
        <p:spPr>
          <a:prstGeom prst="rect">
            <a:avLst/>
          </a:prstGeom>
        </p:spPr>
        <p:txBody>
          <a:bodyPr/>
          <a:lstStyle/>
          <a:p>
            <a:pPr/>
            <a:r>
              <a:t>[목표 55초]</a:t>
            </a:r>
          </a:p>
          <a:p>
            <a:pPr/>
          </a:p>
          <a:p>
            <a:pPr/>
            <a:r>
              <a:t>구현은 메일을 읽고 질문에 답하는 작은 기능부터 시작했습니다. 여기에 사용자별 여행 저장을 붙이고, 장소 탐색과 일정 편집을 차례로 연결했습니다.</a:t>
            </a:r>
          </a:p>
          <a:p>
            <a:pPr/>
          </a:p>
          <a:p>
            <a:pPr/>
            <a:r>
              <a:t>화면은 웹으로 만들고 Python의 FastAPI 서버가 요청을 처리합니다. 배포 서버는 Render를 쓰고, 여행 데이터와 비공개 파일은 Supabase에 보관하도록 구성했습니다. 서버가 다시 켜져도 여행을 계속 볼 수 있게 하기 위해서입니다.</a:t>
            </a:r>
          </a:p>
          <a:p>
            <a:pPr/>
          </a:p>
          <a:p>
            <a:pPr/>
            <a:r>
              <a:t>AI에는 메일에서 정보를 읽고 본문을 설명하는 역할을 맡겼습니다. 본문 검색에는 text-embedding-3-small을 사용합니다. 반면 날짜 조회나 일정 충돌처럼 정확한 계산이 필요한 부분은 코드로 처리합니다.</a:t>
            </a:r>
          </a:p>
          <a:p>
            <a:pPr/>
          </a:p>
          <a:p>
            <a:pPr/>
            <a:r>
              <a:t>추천도 모델이 아무 장소나 만들어 답하는 방식은 피했습니다. 확인한 후보 안에서 취향 태그의 유사도와 보정한 평점, 거리를 계산하는 콘텐츠 기반 모델을 만들었습니다. 현재는 사용자 행동을 학습한 모델은 아니고, 실제 추천 만족도는 앞으로 확인할 부분입니다.</a:t>
            </a:r>
          </a:p>
          <a:p>
            <a:pPr/>
          </a:p>
          <a:p>
            <a:pPr/>
            <a:r>
              <a:t>화면 안내: 각 기술 이름보다 맡긴 역할을 중심으로 설명합니다.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6" name="Shape 186"/>
          <p:cNvSpPr/>
          <p:nvPr>
            <p:ph type="sldImg"/>
          </p:nvPr>
        </p:nvSpPr>
        <p:spPr>
          <a:prstGeom prst="rect">
            <a:avLst/>
          </a:prstGeom>
        </p:spPr>
        <p:txBody>
          <a:bodyPr/>
          <a:lstStyle/>
          <a:p>
            <a:pPr/>
          </a:p>
        </p:txBody>
      </p:sp>
      <p:sp>
        <p:nvSpPr>
          <p:cNvPr id="187" name="Shape 187"/>
          <p:cNvSpPr/>
          <p:nvPr>
            <p:ph type="body" sz="quarter" idx="1"/>
          </p:nvPr>
        </p:nvSpPr>
        <p:spPr>
          <a:prstGeom prst="rect">
            <a:avLst/>
          </a:prstGeom>
        </p:spPr>
        <p:txBody>
          <a:bodyPr/>
          <a:lstStyle/>
          <a:p>
            <a:pPr/>
            <a:r>
              <a:t>[목표 40초]</a:t>
            </a:r>
          </a:p>
          <a:p>
            <a:pPr/>
          </a:p>
          <a:p>
            <a:pPr/>
            <a:r>
              <a:t>지금은 예약을 정리하고, 질문하고, 장소를 고른 뒤 일정으로 연결하는 흐름을 만들었습니다. 예약 준비 목록이나 오늘 보기, 통화별 예상 지출처럼 그다음에 필요한 기능도 추가했습니다.</a:t>
            </a:r>
          </a:p>
          <a:p>
            <a:pPr/>
          </a:p>
          <a:p>
            <a:pPr/>
            <a:r>
              <a:t>앞으로는 실제 리뷰 자료를 검증해서 현지어 탐색을 제대로 활용할 수 있게 하고 싶습니다. 추천 순위를 모르는 사람에게 후보를 평가받고, 실제 여행에서 골랐던 이유나 방문 후 느낌도 받아 보려고 합니다.</a:t>
            </a:r>
          </a:p>
          <a:p>
            <a:pPr/>
          </a:p>
          <a:p>
            <a:pPr/>
            <a:r>
              <a:t>도시 입력은 백 개 도시를 지원하지만 모든 도시의 자료가 똑같이 충분한 것은 아닙니다. 도시별 정보와 경로를 보강하면서 휴대폰에서도 직접 써 볼 계획입니다. 마지막으로 실제 화면에서 이 흐름이 어떻게 보이는지 짧은 영상으로 보여드리겠습니다.</a:t>
            </a:r>
          </a:p>
          <a:p>
            <a:pPr/>
          </a:p>
          <a:p>
            <a:pPr/>
            <a:r>
              <a:t>화면 안내: 현재 사용할 흐름과 다음 검증 과제를 구분해 설명합니다.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Shape 192"/>
          <p:cNvSpPr/>
          <p:nvPr>
            <p:ph type="sldImg"/>
          </p:nvPr>
        </p:nvSpPr>
        <p:spPr>
          <a:prstGeom prst="rect">
            <a:avLst/>
          </a:prstGeom>
        </p:spPr>
        <p:txBody>
          <a:bodyPr/>
          <a:lstStyle/>
          <a:p>
            <a:pPr/>
          </a:p>
        </p:txBody>
      </p:sp>
      <p:sp>
        <p:nvSpPr>
          <p:cNvPr id="193" name="Shape 193"/>
          <p:cNvSpPr/>
          <p:nvPr>
            <p:ph type="body" sz="quarter" idx="1"/>
          </p:nvPr>
        </p:nvSpPr>
        <p:spPr>
          <a:prstGeom prst="rect">
            <a:avLst/>
          </a:prstGeom>
        </p:spPr>
        <p:txBody>
          <a:bodyPr/>
          <a:lstStyle/>
          <a:p>
            <a:pPr/>
            <a:r>
              <a:t>[목표 70초]</a:t>
            </a:r>
          </a:p>
          <a:p>
            <a:pPr/>
          </a:p>
          <a:p>
            <a:pPr/>
            <a:r>
              <a:t>[영상 시작 전]</a:t>
            </a:r>
          </a:p>
          <a:p>
            <a:pPr/>
            <a:r>
              <a:t>기존에 가상 여행으로 촬영한 실제 화면을 편집한 영상입니다. 메일은 발표용 가상 자료이고, 장소 화면은 공개된 실제 식당 자료입니다.</a:t>
            </a:r>
          </a:p>
          <a:p>
            <a:pPr/>
          </a:p>
          <a:p>
            <a:pPr/>
            <a:r>
              <a:t>[0~16초]</a:t>
            </a:r>
          </a:p>
          <a:p>
            <a:pPr/>
            <a:r>
              <a:t>처음에는 여행 기간과 예약을 한 화면에서 확인합니다. 예약 메뉴에서 메일을 올리고 처리한 결과를 볼 수 있습니다.</a:t>
            </a:r>
          </a:p>
          <a:p>
            <a:pPr/>
          </a:p>
          <a:p>
            <a:pPr/>
            <a:r>
              <a:t>[16~34초]</a:t>
            </a:r>
          </a:p>
          <a:p>
            <a:pPr/>
            <a:r>
              <a:t>호텔 예약을 열면 날짜와 시간을 확인합니다. 날짜별로 질문하면 해당하는 예약을 모아서 보여줍니다.</a:t>
            </a:r>
          </a:p>
          <a:p>
            <a:pPr/>
          </a:p>
          <a:p>
            <a:pPr/>
            <a:r>
              <a:t>[34~54초]</a:t>
            </a:r>
          </a:p>
          <a:p>
            <a:pPr/>
            <a:r>
              <a:t>답변에 쓰인 원문 근거를 확인하고, 장소 탐색에서는 사진과 방문 전에 확인할 조건을 같이 볼 수 있습니다.</a:t>
            </a:r>
          </a:p>
          <a:p>
            <a:pPr/>
          </a:p>
          <a:p>
            <a:pPr/>
            <a:r>
              <a:t>[54~64초]</a:t>
            </a:r>
          </a:p>
          <a:p>
            <a:pPr/>
            <a:r>
              <a:t>일정에서는 이미 정한 예약을 유지하면서 이동이나 시간 충돌을 알려줍니다.</a:t>
            </a:r>
          </a:p>
          <a:p>
            <a:pPr/>
          </a:p>
          <a:p>
            <a:pPr/>
            <a:r>
              <a:t>[영상 종료 후]</a:t>
            </a:r>
          </a:p>
          <a:p>
            <a:pPr/>
            <a:r>
              <a:t>여행을 갈 때 매번 찾느라 번거로웠던 일을 조금 줄여 보려고 시작한 서비스입니다. 앞으로도 직접 쓰면서 고쳐 나가려고 합니다. 감사합니다.</a:t>
            </a:r>
          </a:p>
          <a:p>
            <a:pPr/>
          </a:p>
          <a:p>
            <a:pPr/>
            <a:r>
              <a:t>화면 안내: 영상 재생. 아래 시간별 멘트를 참고하고 화면을 읽을 시간을 남깁니다.</a:t>
            </a:r>
          </a:p>
          <a:p>
            <a:pPr/>
          </a:p>
          <a:p>
            <a:pPr/>
            <a:r>
              <a:t>[참고 자료 / 낭독하지 않음]</a:t>
            </a:r>
          </a:p>
          <a:p>
            <a:pPr/>
            <a:r>
              <a:t>구현: https://github.com/Jin-s-work/Travel-Agent</a:t>
            </a:r>
          </a:p>
          <a:p>
            <a:pPr/>
            <a:r>
              <a:t>메일·화면: docs/presentation/CREDITS.md (2026-10-07 합성 여행 화면)</a:t>
            </a:r>
          </a:p>
          <a:p>
            <a:pPr/>
            <a:r>
              <a:t>추천 모델: docs/service-v4/RECOMMENDATION_MODEL.md</a:t>
            </a:r>
          </a:p>
          <a:p>
            <a:pPr/>
            <a:r>
              <a:t>일정: docs/service-v2/ITINERARY_RUNBOOK.md</a:t>
            </a:r>
          </a:p>
          <a:p>
            <a:pPr/>
            <a:r>
              <a:t>배포 구성: docs/operations/RENDER_SUPABASE.md</a:t>
            </a:r>
          </a:p>
          <a:p>
            <a:pPr/>
            <a:r>
              <a:t>엄격 현지어 추천은 실제 이용 범위·언어 품질 검증 전 OFF. 100개 도시 입력은 자료 확보 수준을 뜻하지 않음.</a:t>
            </a:r>
          </a:p>
          <a:p>
            <a:pPr/>
            <a:r>
              <a:t>사진: Javier Lastras, Barra de Casa Lucio, CC BY 2.0 https://commons.wikimedia.org/wiki/File:Barra_de_Casa_Lucio_(4245090907).jpg</a:t>
            </a:r>
          </a:p>
          <a:p>
            <a:pPr/>
            <a:r>
              <a:t>사진: Tamorlan, Gallina en Pepitoria (Ciriaco), CC BY-SA 3.0 https://commons.wikimedia.org/wiki/File:Gallina_en_Pepitoria_(Ciriaco).JPG</a:t>
            </a:r>
          </a:p>
          <a:p>
            <a:pPr/>
            <a:r>
              <a:t>영상은 기존 실제 캡처의 편집본이며 실시간 조작이나 최신 모델 실행의 기록이 아님.</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제목 텍스트"/>
          <p:cNvSpPr txBox="1"/>
          <p:nvPr>
            <p:ph type="title"/>
          </p:nvPr>
        </p:nvSpPr>
        <p:spPr>
          <a:xfrm>
            <a:off x="1219200" y="2590800"/>
            <a:ext cx="9753600" cy="990600"/>
          </a:xfrm>
          <a:prstGeom prst="rect">
            <a:avLst/>
          </a:prstGeom>
        </p:spPr>
        <p:txBody>
          <a:bodyPr anchor="ctr"/>
          <a:lstStyle/>
          <a:p>
            <a:pPr/>
            <a:r>
              <a:t>제목 텍스트</a:t>
            </a:r>
          </a:p>
        </p:txBody>
      </p:sp>
      <p:sp>
        <p:nvSpPr>
          <p:cNvPr id="12" name="본문 첫 번째 줄…"/>
          <p:cNvSpPr txBox="1"/>
          <p:nvPr>
            <p:ph type="body" sz="quarter" idx="1"/>
          </p:nvPr>
        </p:nvSpPr>
        <p:spPr>
          <a:xfrm>
            <a:off x="1828800" y="3771900"/>
            <a:ext cx="8534400" cy="762000"/>
          </a:xfrm>
          <a:prstGeom prst="rect">
            <a:avLst/>
          </a:prstGeom>
        </p:spPr>
        <p:txBody>
          <a:bodyPr anchor="ctr"/>
          <a:lstStyle>
            <a:lvl1pPr marL="0" indent="0">
              <a:spcBef>
                <a:spcPts val="0"/>
              </a:spcBef>
              <a:buSzTx/>
              <a:buNone/>
            </a:lvl1pPr>
            <a:lvl2pPr marL="0" indent="0">
              <a:spcBef>
                <a:spcPts val="0"/>
              </a:spcBef>
              <a:buSzTx/>
              <a:buNone/>
            </a:lvl2pPr>
            <a:lvl3pPr marL="0" indent="0">
              <a:spcBef>
                <a:spcPts val="0"/>
              </a:spcBef>
              <a:buSzTx/>
              <a:buNone/>
            </a:lvl3pPr>
            <a:lvl4pPr marL="0" indent="0">
              <a:spcBef>
                <a:spcPts val="0"/>
              </a:spcBef>
              <a:buSzTx/>
              <a:buNone/>
            </a:lvl4pPr>
            <a:lvl5pPr marL="0" indent="0">
              <a:spcBef>
                <a:spcPts val="0"/>
              </a:spcBef>
              <a:buSzTx/>
              <a:buNone/>
            </a:lvl5pPr>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13"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0" name="제목 텍스트"/>
          <p:cNvSpPr txBox="1"/>
          <p:nvPr>
            <p:ph type="title"/>
          </p:nvPr>
        </p:nvSpPr>
        <p:spPr>
          <a:xfrm>
            <a:off x="1219200" y="2857500"/>
            <a:ext cx="9753600" cy="1143000"/>
          </a:xfrm>
          <a:prstGeom prst="rect">
            <a:avLst/>
          </a:prstGeom>
        </p:spPr>
        <p:txBody>
          <a:bodyPr anchor="ctr"/>
          <a:lstStyle/>
          <a:p>
            <a:pPr/>
            <a:r>
              <a:t>제목 텍스트</a:t>
            </a:r>
          </a:p>
        </p:txBody>
      </p:sp>
      <p:sp>
        <p:nvSpPr>
          <p:cNvPr id="21"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Body">
    <p:spTree>
      <p:nvGrpSpPr>
        <p:cNvPr id="1" name=""/>
        <p:cNvGrpSpPr/>
        <p:nvPr/>
      </p:nvGrpSpPr>
      <p:grpSpPr>
        <a:xfrm>
          <a:off x="0" y="0"/>
          <a:ext cx="0" cy="0"/>
          <a:chOff x="0" y="0"/>
          <a:chExt cx="0" cy="0"/>
        </a:xfrm>
      </p:grpSpPr>
      <p:sp>
        <p:nvSpPr>
          <p:cNvPr id="28" name="제목 텍스트"/>
          <p:cNvSpPr txBox="1"/>
          <p:nvPr>
            <p:ph type="title"/>
          </p:nvPr>
        </p:nvSpPr>
        <p:spPr>
          <a:prstGeom prst="rect">
            <a:avLst/>
          </a:prstGeom>
        </p:spPr>
        <p:txBody>
          <a:bodyPr/>
          <a:lstStyle/>
          <a:p>
            <a:pPr/>
            <a:r>
              <a:t>제목 텍스트</a:t>
            </a:r>
          </a:p>
        </p:txBody>
      </p:sp>
      <p:sp>
        <p:nvSpPr>
          <p:cNvPr id="29" name="본문 첫 번째 줄…"/>
          <p:cNvSpPr txBox="1"/>
          <p:nvPr>
            <p:ph type="body" idx="1"/>
          </p:nvPr>
        </p:nvSpPr>
        <p:spPr>
          <a:prstGeom prst="rect">
            <a:avLst/>
          </a:prstGeom>
        </p:spPr>
        <p:txBody>
          <a:bodyPr/>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30"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Two Column">
    <p:spTree>
      <p:nvGrpSpPr>
        <p:cNvPr id="1" name=""/>
        <p:cNvGrpSpPr/>
        <p:nvPr/>
      </p:nvGrpSpPr>
      <p:grpSpPr>
        <a:xfrm>
          <a:off x="0" y="0"/>
          <a:ext cx="0" cy="0"/>
          <a:chOff x="0" y="0"/>
          <a:chExt cx="0" cy="0"/>
        </a:xfrm>
      </p:grpSpPr>
      <p:sp>
        <p:nvSpPr>
          <p:cNvPr id="37" name="제목 텍스트"/>
          <p:cNvSpPr txBox="1"/>
          <p:nvPr>
            <p:ph type="title"/>
          </p:nvPr>
        </p:nvSpPr>
        <p:spPr>
          <a:prstGeom prst="rect">
            <a:avLst/>
          </a:prstGeom>
        </p:spPr>
        <p:txBody>
          <a:bodyPr/>
          <a:lstStyle/>
          <a:p>
            <a:pPr/>
            <a:r>
              <a:t>제목 텍스트</a:t>
            </a:r>
          </a:p>
        </p:txBody>
      </p:sp>
      <p:sp>
        <p:nvSpPr>
          <p:cNvPr id="38" name="본문 첫 번째 줄…"/>
          <p:cNvSpPr txBox="1"/>
          <p:nvPr>
            <p:ph type="body" sz="half" idx="1"/>
          </p:nvPr>
        </p:nvSpPr>
        <p:spPr>
          <a:xfrm>
            <a:off x="685800" y="1905000"/>
            <a:ext cx="5029200" cy="4267200"/>
          </a:xfrm>
          <a:prstGeom prst="rect">
            <a:avLst/>
          </a:prstGeom>
        </p:spPr>
        <p:txBody>
          <a:bodyPr/>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39" name="Right column"/>
          <p:cNvSpPr/>
          <p:nvPr>
            <p:ph type="body" sz="half" idx="21"/>
          </p:nvPr>
        </p:nvSpPr>
        <p:spPr>
          <a:xfrm>
            <a:off x="6477000" y="1905000"/>
            <a:ext cx="5029200" cy="4267200"/>
          </a:xfrm>
          <a:prstGeom prst="rect">
            <a:avLst/>
          </a:prstGeom>
        </p:spPr>
        <p:txBody>
          <a:bodyPr/>
          <a:lstStyle/>
          <a:p>
            <a:pPr/>
          </a:p>
        </p:txBody>
      </p:sp>
      <p:sp>
        <p:nvSpPr>
          <p:cNvPr id="40"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One Column">
    <p:spTree>
      <p:nvGrpSpPr>
        <p:cNvPr id="1" name=""/>
        <p:cNvGrpSpPr/>
        <p:nvPr/>
      </p:nvGrpSpPr>
      <p:grpSpPr>
        <a:xfrm>
          <a:off x="0" y="0"/>
          <a:ext cx="0" cy="0"/>
          <a:chOff x="0" y="0"/>
          <a:chExt cx="0" cy="0"/>
        </a:xfrm>
      </p:grpSpPr>
      <p:sp>
        <p:nvSpPr>
          <p:cNvPr id="47" name="제목 텍스트"/>
          <p:cNvSpPr txBox="1"/>
          <p:nvPr>
            <p:ph type="title"/>
          </p:nvPr>
        </p:nvSpPr>
        <p:spPr>
          <a:prstGeom prst="rect">
            <a:avLst/>
          </a:prstGeom>
        </p:spPr>
        <p:txBody>
          <a:bodyPr/>
          <a:lstStyle/>
          <a:p>
            <a:pPr/>
            <a:r>
              <a:t>제목 텍스트</a:t>
            </a:r>
          </a:p>
        </p:txBody>
      </p:sp>
      <p:sp>
        <p:nvSpPr>
          <p:cNvPr id="48" name="본문 첫 번째 줄…"/>
          <p:cNvSpPr txBox="1"/>
          <p:nvPr>
            <p:ph type="body" sz="half" idx="1"/>
          </p:nvPr>
        </p:nvSpPr>
        <p:spPr>
          <a:xfrm>
            <a:off x="685800" y="1905000"/>
            <a:ext cx="5029200" cy="4267200"/>
          </a:xfrm>
          <a:prstGeom prst="rect">
            <a:avLst/>
          </a:prstGeom>
        </p:spPr>
        <p:txBody>
          <a:bodyPr/>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49"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56"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제목 텍스트"/>
          <p:cNvSpPr txBox="1"/>
          <p:nvPr>
            <p:ph type="title"/>
          </p:nvPr>
        </p:nvSpPr>
        <p:spPr>
          <a:xfrm>
            <a:off x="685800" y="533400"/>
            <a:ext cx="10820400" cy="8382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제목 텍스트</a:t>
            </a:r>
          </a:p>
        </p:txBody>
      </p:sp>
      <p:sp>
        <p:nvSpPr>
          <p:cNvPr id="3" name="본문 첫 번째 줄…"/>
          <p:cNvSpPr txBox="1"/>
          <p:nvPr>
            <p:ph type="body" idx="1"/>
          </p:nvPr>
        </p:nvSpPr>
        <p:spPr>
          <a:xfrm>
            <a:off x="685800" y="1905000"/>
            <a:ext cx="10820400" cy="42672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4" name="슬라이드 번호"/>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latin typeface="+mj-lt"/>
                <a:ea typeface="+mj-ea"/>
                <a:cs typeface="+mj-cs"/>
                <a:sym typeface="Pretendard"/>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Lst>
  <p:transition xmlns:p14="http://schemas.microsoft.com/office/powerpoint/2010/main" spd="med" advClick="1"/>
  <p:txStyles>
    <p:titleStyle>
      <a:lvl1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1pPr>
      <a:lvl2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2pPr>
      <a:lvl3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3pPr>
      <a:lvl4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4pPr>
      <a:lvl5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5pPr>
      <a:lvl6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6pPr>
      <a:lvl7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7pPr>
      <a:lvl8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8pPr>
      <a:lvl9pPr marL="0" marR="0" indent="0" algn="l" defTabSz="914400" latinLnBrk="0">
        <a:lnSpc>
          <a:spcPct val="110000"/>
        </a:lnSpc>
        <a:spcBef>
          <a:spcPts val="0"/>
        </a:spcBef>
        <a:spcAft>
          <a:spcPts val="0"/>
        </a:spcAft>
        <a:buClrTx/>
        <a:buSzTx/>
        <a:buFontTx/>
        <a:buNone/>
        <a:tabLst/>
        <a:defRPr b="0" baseline="0" cap="none" i="0" spc="0" strike="noStrike" sz="4400" u="none">
          <a:solidFill>
            <a:srgbClr val="000000"/>
          </a:solidFill>
          <a:uFillTx/>
          <a:latin typeface="Pretendard"/>
          <a:ea typeface="Pretendard"/>
          <a:cs typeface="Pretendard"/>
          <a:sym typeface="Pretendard"/>
        </a:defRPr>
      </a:lvl9pPr>
    </p:titleStyle>
    <p:bodyStyle>
      <a:lvl1pPr marL="228600" marR="0" indent="-228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1pPr>
      <a:lvl2pPr marL="571500" marR="0" indent="-2667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2pPr>
      <a:lvl3pPr marL="929639" marR="0" indent="-320039"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3pPr>
      <a:lvl4pPr marL="12700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4pPr>
      <a:lvl5pPr marL="15748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5pPr>
      <a:lvl6pPr marL="18796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6pPr>
      <a:lvl7pPr marL="21844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7pPr>
      <a:lvl8pPr marL="24892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8pPr>
      <a:lvl9pPr marL="2794000" marR="0" indent="-355600" algn="l" defTabSz="914400" latinLnBrk="0">
        <a:lnSpc>
          <a:spcPct val="110000"/>
        </a:lnSpc>
        <a:spcBef>
          <a:spcPts val="1200"/>
        </a:spcBef>
        <a:spcAft>
          <a:spcPts val="0"/>
        </a:spcAft>
        <a:buClrTx/>
        <a:buSzPct val="100000"/>
        <a:buFontTx/>
        <a:buChar char="•"/>
        <a:tabLst/>
        <a:defRPr b="0" baseline="0" cap="none" i="0" spc="0" strike="noStrike" sz="2800" u="none">
          <a:solidFill>
            <a:srgbClr val="000000"/>
          </a:solidFill>
          <a:uFillTx/>
          <a:latin typeface="Pretendard"/>
          <a:ea typeface="Pretendard"/>
          <a:cs typeface="Pretendard"/>
          <a:sym typeface="Pretendard"/>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Pretendard"/>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video" Target="../media/media1.mp4"/><Relationship Id="rId5" Type="http://schemas.microsoft.com/office/2007/relationships/media" Target="../media/media1.mp4"/><Relationship Id="rId6"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25485A"/>
        </a:solidFill>
      </p:bgPr>
    </p:bg>
    <p:spTree>
      <p:nvGrpSpPr>
        <p:cNvPr id="1" name=""/>
        <p:cNvGrpSpPr/>
        <p:nvPr/>
      </p:nvGrpSpPr>
      <p:grpSpPr>
        <a:xfrm>
          <a:off x="0" y="0"/>
          <a:ext cx="0" cy="0"/>
          <a:chOff x="0" y="0"/>
          <a:chExt cx="0" cy="0"/>
        </a:xfrm>
      </p:grpSpPr>
      <p:pic>
        <p:nvPicPr>
          <p:cNvPr id="65" name="image.png" descr="image.png"/>
          <p:cNvPicPr>
            <a:picLocks noChangeAspect="1"/>
          </p:cNvPicPr>
          <p:nvPr/>
        </p:nvPicPr>
        <p:blipFill>
          <a:blip r:embed="rId3">
            <a:extLst/>
          </a:blip>
          <a:stretch>
            <a:fillRect/>
          </a:stretch>
        </p:blipFill>
        <p:spPr>
          <a:xfrm>
            <a:off x="609600" y="609600"/>
            <a:ext cx="838200" cy="838200"/>
          </a:xfrm>
          <a:prstGeom prst="rect">
            <a:avLst/>
          </a:prstGeom>
          <a:ln w="12700">
            <a:miter lim="400000"/>
          </a:ln>
        </p:spPr>
      </p:pic>
      <p:sp>
        <p:nvSpPr>
          <p:cNvPr id="66" name="여행 준비 서비스"/>
          <p:cNvSpPr txBox="1"/>
          <p:nvPr/>
        </p:nvSpPr>
        <p:spPr>
          <a:xfrm>
            <a:off x="609600" y="2066925"/>
            <a:ext cx="9906000" cy="428625"/>
          </a:xfrm>
          <a:prstGeom prst="rect">
            <a:avLst/>
          </a:prstGeom>
          <a:noFill/>
          <a:ln w="0">
            <a:noFill/>
          </a:ln>
        </p:spPr>
        <p:txBody>
          <a:bodyPr wrap="square" lIns="0" tIns="0" rIns="0" bIns="0" anchor="t">
            <a:noAutofit/>
          </a:bodyPr>
          <a:lstStyle>
            <a:defPPr algn="l">
              <a:defRPr sz="2025" b="0">
                <a:solidFill>
                  <a:srgbClr val="E2EBE9"/>
                </a:solidFill>
                <a:latin typeface="Pretendard"/>
                <a:ea typeface="Pretendard"/>
                <a:cs typeface="Pretendard"/>
              </a:defRPr>
            </a:defPPr>
          </a:lstStyle>
          <a:p>
            <a:pPr algn="l">
              <a:buNone/>
              <a:defRPr sz="2025" b="0">
                <a:solidFill>
                  <a:srgbClr val="E2EBE9"/>
                </a:solidFill>
                <a:latin typeface="Pretendard"/>
                <a:ea typeface="Pretendard"/>
                <a:cs typeface="Pretendard"/>
              </a:defRPr>
            </a:pPr>
            <a:r>
              <a:rPr sz="2025" b="0">
                <a:solidFill>
                  <a:srgbClr val="E2EBE9"/>
                </a:solidFill>
                <a:latin typeface="Pretendard"/>
                <a:ea typeface="Pretendard"/>
                <a:cs typeface="Pretendard"/>
              </a:rPr>
              <a:t>여행 준비 서비스</a:t>
            </a:r>
          </a:p>
        </p:txBody>
      </p:sp>
      <p:sp>
        <p:nvSpPr>
          <p:cNvPr id="67" name="고잉"/>
          <p:cNvSpPr txBox="1"/>
          <p:nvPr/>
        </p:nvSpPr>
        <p:spPr>
          <a:xfrm>
            <a:off x="552450" y="2638425"/>
            <a:ext cx="7620000" cy="1504950"/>
          </a:xfrm>
          <a:prstGeom prst="rect">
            <a:avLst/>
          </a:prstGeom>
          <a:noFill/>
          <a:ln w="0">
            <a:noFill/>
          </a:ln>
        </p:spPr>
        <p:txBody>
          <a:bodyPr wrap="square" lIns="0" tIns="0" rIns="0" bIns="0" anchor="t">
            <a:noAutofit/>
          </a:bodyPr>
          <a:lstStyle>
            <a:defPPr algn="l">
              <a:defRPr sz="8400" b="1">
                <a:solidFill>
                  <a:srgbClr val="FFFFFF"/>
                </a:solidFill>
                <a:latin typeface="Pretendard"/>
                <a:ea typeface="Pretendard"/>
                <a:cs typeface="Pretendard"/>
              </a:defRPr>
            </a:defPPr>
          </a:lstStyle>
          <a:p>
            <a:pPr algn="l">
              <a:buNone/>
              <a:defRPr sz="8400" b="1">
                <a:solidFill>
                  <a:srgbClr val="FFFFFF"/>
                </a:solidFill>
                <a:latin typeface="Pretendard"/>
                <a:ea typeface="Pretendard"/>
                <a:cs typeface="Pretendard"/>
              </a:defRPr>
            </a:pPr>
            <a:r>
              <a:rPr sz="8400" b="1">
                <a:solidFill>
                  <a:srgbClr val="FFFFFF"/>
                </a:solidFill>
                <a:latin typeface="Pretendard"/>
                <a:ea typeface="Pretendard"/>
                <a:cs typeface="Pretendard"/>
              </a:rPr>
              <a:t>고잉</a:t>
            </a:r>
          </a:p>
        </p:txBody>
      </p:sp>
      <p:sp>
        <p:nvSpPr>
          <p:cNvPr id="68" name="예약 메일부터 하루 일정까지"/>
          <p:cNvSpPr txBox="1"/>
          <p:nvPr/>
        </p:nvSpPr>
        <p:spPr>
          <a:xfrm>
            <a:off x="609600" y="4324350"/>
            <a:ext cx="10477500" cy="666750"/>
          </a:xfrm>
          <a:prstGeom prst="rect">
            <a:avLst/>
          </a:prstGeom>
          <a:noFill/>
          <a:ln w="0">
            <a:noFill/>
          </a:ln>
        </p:spPr>
        <p:txBody>
          <a:bodyPr wrap="square" lIns="0" tIns="0" rIns="0" bIns="0" anchor="t">
            <a:noAutofit/>
          </a:bodyPr>
          <a:lstStyle>
            <a:defPPr algn="l">
              <a:defRPr sz="3150" b="0">
                <a:solidFill>
                  <a:srgbClr val="FFFFFF"/>
                </a:solidFill>
                <a:latin typeface="Pretendard"/>
                <a:ea typeface="Pretendard"/>
                <a:cs typeface="Pretendard"/>
              </a:defRPr>
            </a:defPPr>
          </a:lstStyle>
          <a:p>
            <a:pPr algn="l">
              <a:buNone/>
              <a:defRPr sz="3150" b="0">
                <a:solidFill>
                  <a:srgbClr val="FFFFFF"/>
                </a:solidFill>
                <a:latin typeface="Pretendard"/>
                <a:ea typeface="Pretendard"/>
                <a:cs typeface="Pretendard"/>
              </a:defRPr>
            </a:pPr>
            <a:r>
              <a:rPr sz="3150" b="0">
                <a:solidFill>
                  <a:srgbClr val="FFFFFF"/>
                </a:solidFill>
                <a:latin typeface="Pretendard"/>
                <a:ea typeface="Pretendard"/>
                <a:cs typeface="Pretendard"/>
              </a:rPr>
              <a:t>예약 메일부터 하루 일정까지</a:t>
            </a:r>
          </a:p>
        </p:txBody>
      </p:sp>
      <p:sp>
        <p:nvSpPr>
          <p:cNvPr id="69" name="흩어진 예약을 모으고, 가고 싶은 곳을 일정으로 연결합니다."/>
          <p:cNvSpPr txBox="1"/>
          <p:nvPr/>
        </p:nvSpPr>
        <p:spPr>
          <a:xfrm>
            <a:off x="609600" y="5257800"/>
            <a:ext cx="10858500" cy="523875"/>
          </a:xfrm>
          <a:prstGeom prst="rect">
            <a:avLst/>
          </a:prstGeom>
          <a:noFill/>
          <a:ln w="0">
            <a:noFill/>
          </a:ln>
        </p:spPr>
        <p:txBody>
          <a:bodyPr lIns="0" tIns="0" rIns="0" bIns="0" anchor="t">
            <a:noAutofit/>
          </a:bodyPr>
          <a:lstStyle>
            <a:defPPr algn="l">
              <a:defRPr sz="1875" b="0">
                <a:solidFill>
                  <a:srgbClr val="DCE6E9"/>
                </a:solidFill>
                <a:latin typeface="Pretendard"/>
                <a:ea typeface="Pretendard"/>
                <a:cs typeface="Pretendard"/>
              </a:defRPr>
            </a:defPPr>
          </a:lstStyle>
          <a:p>
            <a:pPr algn="l">
              <a:defRPr sz="1875" b="0">
                <a:solidFill>
                  <a:srgbClr val="DCE6E9"/>
                </a:solidFill>
                <a:latin typeface="Pretendard"/>
                <a:ea typeface="Pretendard"/>
                <a:cs typeface="Pretendard"/>
              </a:defRPr>
            </a:pPr>
            <a:r>
              <a:rPr sz="1875" b="0">
                <a:solidFill>
                  <a:srgbClr val="DCE6E9"/>
                </a:solidFill>
                <a:latin typeface="Pretendard"/>
                <a:ea typeface="Pretendard"/>
                <a:cs typeface="Pretendard"/>
              </a:rPr>
              <a:t>흩어진 예약을 모으고, 가고 싶은 곳을 일정으로 연결합니다.</a:t>
            </a:r>
          </a:p>
        </p:txBody>
      </p:sp>
      <p:sp>
        <p:nvSpPr>
          <p:cNvPr id="70" name="프로젝트 발표  ·  2026.10"/>
          <p:cNvSpPr txBox="1"/>
          <p:nvPr/>
        </p:nvSpPr>
        <p:spPr>
          <a:xfrm>
            <a:off x="609600" y="6267450"/>
            <a:ext cx="9525000" cy="266700"/>
          </a:xfrm>
          <a:prstGeom prst="rect">
            <a:avLst/>
          </a:prstGeom>
          <a:noFill/>
          <a:ln w="0">
            <a:noFill/>
          </a:ln>
        </p:spPr>
        <p:txBody>
          <a:bodyPr wrap="square" lIns="0" tIns="0" rIns="0" bIns="0" anchor="t">
            <a:noAutofit/>
          </a:bodyPr>
          <a:lstStyle>
            <a:defPPr algn="l">
              <a:defRPr sz="1350" b="0">
                <a:solidFill>
                  <a:srgbClr val="E2EBE9"/>
                </a:solidFill>
                <a:latin typeface="Pretendard"/>
                <a:ea typeface="Pretendard"/>
                <a:cs typeface="Pretendard"/>
              </a:defRPr>
            </a:defPPr>
          </a:lstStyle>
          <a:p>
            <a:pPr algn="l">
              <a:buNone/>
              <a:defRPr sz="1350" b="0">
                <a:solidFill>
                  <a:srgbClr val="E2EBE9"/>
                </a:solidFill>
                <a:latin typeface="Pretendard"/>
                <a:ea typeface="Pretendard"/>
                <a:cs typeface="Pretendard"/>
              </a:defRPr>
            </a:pPr>
            <a:r>
              <a:rPr sz="1350" b="0">
                <a:solidFill>
                  <a:srgbClr val="E2EBE9"/>
                </a:solidFill>
                <a:latin typeface="Pretendard"/>
                <a:ea typeface="Pretendard"/>
                <a:cs typeface="Pretendard"/>
              </a:rPr>
              <a:t>프로젝트 발표  ·  2026.10</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74" name="고잉  /  문제"/>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문제</a:t>
            </a:r>
          </a:p>
        </p:txBody>
      </p:sp>
      <p:sp>
        <p:nvSpPr>
          <p:cNvPr id="75" name="여행할 때마다 다시 찾는 정보"/>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여행할 때마다 다시 찾는 정보</a:t>
            </a:r>
          </a:p>
        </p:txBody>
      </p:sp>
      <p:sp>
        <p:nvSpPr>
          <p:cNvPr id="76" name="장소를 고른 뒤에도 예약과 동선을 다시 확인해야 했습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장소를 고른 뒤에도 예약과 동선을 다시 확인해야 했습니다</a:t>
            </a:r>
          </a:p>
        </p:txBody>
      </p:sp>
      <p:sp>
        <p:nvSpPr>
          <p:cNvPr id="77" name="02"/>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02</a:t>
            </a:r>
          </a:p>
        </p:txBody>
      </p:sp>
      <p:sp>
        <p:nvSpPr>
          <p:cNvPr id="78" name="“현지어 리뷰가 많은 식당도 가보고 싶다”"/>
          <p:cNvSpPr txBox="1"/>
          <p:nvPr/>
        </p:nvSpPr>
        <p:spPr>
          <a:xfrm>
            <a:off x="609600" y="2352675"/>
            <a:ext cx="10668000" cy="666750"/>
          </a:xfrm>
          <a:prstGeom prst="rect">
            <a:avLst/>
          </a:prstGeom>
          <a:noFill/>
          <a:ln w="0">
            <a:noFill/>
          </a:ln>
        </p:spPr>
        <p:txBody>
          <a:bodyPr lIns="0" tIns="0" rIns="0" bIns="0" anchor="t">
            <a:noAutofit/>
          </a:bodyPr>
          <a:lstStyle>
            <a:defPPr algn="l">
              <a:defRPr sz="3150" b="1">
                <a:solidFill>
                  <a:srgbClr val="25485A"/>
                </a:solidFill>
                <a:latin typeface="Pretendard"/>
                <a:ea typeface="Pretendard"/>
                <a:cs typeface="Pretendard"/>
              </a:defRPr>
            </a:defPPr>
          </a:lstStyle>
          <a:p>
            <a:pPr algn="l">
              <a:defRPr sz="3150" b="1">
                <a:solidFill>
                  <a:srgbClr val="25485A"/>
                </a:solidFill>
                <a:latin typeface="Pretendard"/>
                <a:ea typeface="Pretendard"/>
                <a:cs typeface="Pretendard"/>
              </a:defRPr>
            </a:pPr>
            <a:r>
              <a:rPr sz="3150" b="1">
                <a:solidFill>
                  <a:srgbClr val="25485A"/>
                </a:solidFill>
                <a:latin typeface="Pretendard"/>
                <a:ea typeface="Pretendard"/>
                <a:cs typeface="Pretendard"/>
              </a:rPr>
              <a:t>“현지어 리뷰가 많은 식당도 가보고 싶다”</a:t>
            </a:r>
          </a:p>
        </p:txBody>
      </p:sp>
      <p:sp>
        <p:nvSpPr>
          <p:cNvPr id="79" name="“이 식당을 들렀다가 다음 예약에 갈 수 있을까?”"/>
          <p:cNvSpPr txBox="1"/>
          <p:nvPr/>
        </p:nvSpPr>
        <p:spPr>
          <a:xfrm>
            <a:off x="609600" y="3152775"/>
            <a:ext cx="10953750" cy="666750"/>
          </a:xfrm>
          <a:prstGeom prst="rect">
            <a:avLst/>
          </a:prstGeom>
          <a:noFill/>
          <a:ln w="0">
            <a:noFill/>
          </a:ln>
        </p:spPr>
        <p:txBody>
          <a:bodyPr lIns="0" tIns="0" rIns="0" bIns="0" anchor="t">
            <a:noAutofit/>
          </a:bodyPr>
          <a:lstStyle>
            <a:defPPr algn="l">
              <a:defRPr sz="2550" b="0">
                <a:solidFill>
                  <a:srgbClr val="252D2D"/>
                </a:solidFill>
                <a:latin typeface="Pretendard"/>
                <a:ea typeface="Pretendard"/>
                <a:cs typeface="Pretendard"/>
              </a:defRPr>
            </a:defPPr>
          </a:lstStyle>
          <a:p>
            <a:pPr algn="l">
              <a:defRPr sz="2550" b="0">
                <a:solidFill>
                  <a:srgbClr val="252D2D"/>
                </a:solidFill>
                <a:latin typeface="Pretendard"/>
                <a:ea typeface="Pretendard"/>
                <a:cs typeface="Pretendard"/>
              </a:defRPr>
            </a:pPr>
            <a:r>
              <a:rPr sz="2550" b="0">
                <a:solidFill>
                  <a:srgbClr val="252D2D"/>
                </a:solidFill>
                <a:latin typeface="Pretendard"/>
                <a:ea typeface="Pretendard"/>
                <a:cs typeface="Pretendard"/>
              </a:rPr>
              <a:t>“이 식당을 들렀다가 다음 예약에 갈 수 있을까?”</a:t>
            </a:r>
          </a:p>
        </p:txBody>
      </p:sp>
      <p:sp>
        <p:nvSpPr>
          <p:cNvPr id="80" name="메일함"/>
          <p:cNvSpPr txBox="1"/>
          <p:nvPr/>
        </p:nvSpPr>
        <p:spPr>
          <a:xfrm>
            <a:off x="609600" y="4533900"/>
            <a:ext cx="3429000" cy="457200"/>
          </a:xfrm>
          <a:prstGeom prst="rect">
            <a:avLst/>
          </a:prstGeom>
          <a:noFill/>
          <a:ln w="0">
            <a:noFill/>
          </a:ln>
        </p:spPr>
        <p:txBody>
          <a:bodyPr lIns="0" tIns="0" rIns="0" bIns="0" anchor="t">
            <a:noAutofit/>
          </a:bodyPr>
          <a:lstStyle>
            <a:defPPr algn="l">
              <a:defRPr sz="2400" b="1">
                <a:solidFill>
                  <a:srgbClr val="25485A"/>
                </a:solidFill>
                <a:latin typeface="Pretendard"/>
                <a:ea typeface="Pretendard"/>
                <a:cs typeface="Pretendard"/>
              </a:defRPr>
            </a:defPPr>
          </a:lstStyle>
          <a:p>
            <a:pPr algn="l">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메일함</a:t>
            </a:r>
          </a:p>
        </p:txBody>
      </p:sp>
      <p:sp>
        <p:nvSpPr>
          <p:cNvPr id="81" name="예약 날짜와 시간"/>
          <p:cNvSpPr txBox="1"/>
          <p:nvPr/>
        </p:nvSpPr>
        <p:spPr>
          <a:xfrm>
            <a:off x="609600" y="5114925"/>
            <a:ext cx="3429000" cy="6667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예약 날짜와 시간</a:t>
            </a:r>
          </a:p>
        </p:txBody>
      </p:sp>
      <p:sp>
        <p:nvSpPr>
          <p:cNvPr id="82" name="지도와 리뷰"/>
          <p:cNvSpPr txBox="1"/>
          <p:nvPr/>
        </p:nvSpPr>
        <p:spPr>
          <a:xfrm>
            <a:off x="4343400" y="4533900"/>
            <a:ext cx="3429000" cy="457200"/>
          </a:xfrm>
          <a:prstGeom prst="rect">
            <a:avLst/>
          </a:prstGeom>
          <a:noFill/>
          <a:ln w="0">
            <a:noFill/>
          </a:ln>
        </p:spPr>
        <p:txBody>
          <a:bodyPr lIns="0" tIns="0" rIns="0" bIns="0" anchor="t">
            <a:noAutofit/>
          </a:bodyPr>
          <a:lstStyle>
            <a:defPPr algn="l">
              <a:defRPr sz="2400" b="1">
                <a:solidFill>
                  <a:srgbClr val="25485A"/>
                </a:solidFill>
                <a:latin typeface="Pretendard"/>
                <a:ea typeface="Pretendard"/>
                <a:cs typeface="Pretendard"/>
              </a:defRPr>
            </a:defPPr>
          </a:lstStyle>
          <a:p>
            <a:pPr algn="l">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지도와 리뷰</a:t>
            </a:r>
          </a:p>
        </p:txBody>
      </p:sp>
      <p:sp>
        <p:nvSpPr>
          <p:cNvPr id="83" name="장소를 고르고 거리 비교"/>
          <p:cNvSpPr txBox="1"/>
          <p:nvPr/>
        </p:nvSpPr>
        <p:spPr>
          <a:xfrm>
            <a:off x="4343400" y="5114925"/>
            <a:ext cx="3429000" cy="6667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장소를 고르고 거리 비교</a:t>
            </a:r>
          </a:p>
        </p:txBody>
      </p:sp>
      <p:sp>
        <p:nvSpPr>
          <p:cNvPr id="84" name="여행 메모"/>
          <p:cNvSpPr txBox="1"/>
          <p:nvPr/>
        </p:nvSpPr>
        <p:spPr>
          <a:xfrm>
            <a:off x="8077200" y="4533900"/>
            <a:ext cx="3429000" cy="457200"/>
          </a:xfrm>
          <a:prstGeom prst="rect">
            <a:avLst/>
          </a:prstGeom>
          <a:noFill/>
          <a:ln w="0">
            <a:noFill/>
          </a:ln>
        </p:spPr>
        <p:txBody>
          <a:bodyPr lIns="0" tIns="0" rIns="0" bIns="0" anchor="t">
            <a:noAutofit/>
          </a:bodyPr>
          <a:lstStyle>
            <a:defPPr algn="l">
              <a:defRPr sz="2400" b="1">
                <a:solidFill>
                  <a:srgbClr val="25485A"/>
                </a:solidFill>
                <a:latin typeface="Pretendard"/>
                <a:ea typeface="Pretendard"/>
                <a:cs typeface="Pretendard"/>
              </a:defRPr>
            </a:defPPr>
          </a:lstStyle>
          <a:p>
            <a:pPr algn="l">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여행 메모</a:t>
            </a:r>
          </a:p>
        </p:txBody>
      </p:sp>
      <p:sp>
        <p:nvSpPr>
          <p:cNvPr id="85" name="예약과 동선을 다시 맞추기"/>
          <p:cNvSpPr txBox="1"/>
          <p:nvPr/>
        </p:nvSpPr>
        <p:spPr>
          <a:xfrm>
            <a:off x="8077200" y="5114925"/>
            <a:ext cx="3429000" cy="6667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예약과 동선을 다시 맞추기</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89" name="고잉  /  사용 흐름"/>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사용 흐름</a:t>
            </a:r>
          </a:p>
        </p:txBody>
      </p:sp>
      <p:sp>
        <p:nvSpPr>
          <p:cNvPr id="90" name="여행 하나를 중심으로"/>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여행 하나를 중심으로</a:t>
            </a:r>
          </a:p>
        </p:txBody>
      </p:sp>
      <p:sp>
        <p:nvSpPr>
          <p:cNvPr id="91" name="도시와 날짜를 한 번 입력하고 계속 이어서 사용합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도시와 날짜를 한 번 입력하고 계속 이어서 사용합니다</a:t>
            </a:r>
          </a:p>
        </p:txBody>
      </p:sp>
      <p:sp>
        <p:nvSpPr>
          <p:cNvPr id="92" name="03"/>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03</a:t>
            </a:r>
          </a:p>
        </p:txBody>
      </p:sp>
      <p:sp>
        <p:nvSpPr>
          <p:cNvPr id="93" name="도시와 날짜를 먼저"/>
          <p:cNvSpPr txBox="1"/>
          <p:nvPr/>
        </p:nvSpPr>
        <p:spPr>
          <a:xfrm>
            <a:off x="609600" y="2419350"/>
            <a:ext cx="3238500" cy="523875"/>
          </a:xfrm>
          <a:prstGeom prst="rect">
            <a:avLst/>
          </a:prstGeom>
          <a:noFill/>
          <a:ln w="0">
            <a:noFill/>
          </a:ln>
        </p:spPr>
        <p:txBody>
          <a:bodyPr lIns="0" tIns="0" rIns="0" bIns="0" anchor="t">
            <a:noAutofit/>
          </a:bodyPr>
          <a:lstStyle>
            <a:defPPr algn="l">
              <a:defRPr sz="2550" b="1">
                <a:solidFill>
                  <a:srgbClr val="25485A"/>
                </a:solidFill>
                <a:latin typeface="Pretendard"/>
                <a:ea typeface="Pretendard"/>
                <a:cs typeface="Pretendard"/>
              </a:defRPr>
            </a:defPPr>
          </a:lstStyle>
          <a:p>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도시와 날짜를 먼저</a:t>
            </a:r>
          </a:p>
        </p:txBody>
      </p:sp>
      <p:sp>
        <p:nvSpPr>
          <p:cNvPr id="94" name="예약과 장소, 일정에서 같은 여행 정보를 재사용"/>
          <p:cNvSpPr txBox="1"/>
          <p:nvPr/>
        </p:nvSpPr>
        <p:spPr>
          <a:xfrm>
            <a:off x="609600" y="3105150"/>
            <a:ext cx="3314700" cy="952500"/>
          </a:xfrm>
          <a:prstGeom prst="rect">
            <a:avLst/>
          </a:prstGeom>
          <a:noFill/>
          <a:ln w="0">
            <a:noFill/>
          </a:ln>
        </p:spPr>
        <p:txBody>
          <a:bodyPr lIns="0" tIns="0" rIns="0" bIns="0" anchor="t">
            <a:noAutofit/>
          </a:bodyPr>
          <a:lstStyle>
            <a:defPPr algn="l">
              <a:defRPr sz="2175" b="0">
                <a:solidFill>
                  <a:srgbClr val="252D2D"/>
                </a:solidFill>
                <a:latin typeface="Pretendard"/>
                <a:ea typeface="Pretendard"/>
                <a:cs typeface="Pretendard"/>
              </a:defRPr>
            </a:defPPr>
          </a:lstStyle>
          <a:p>
            <a:pPr algn="l">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예약과 장소, 일정에서</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같은 여행 정보를 재사용</a:t>
            </a:r>
          </a:p>
        </p:txBody>
      </p:sp>
      <p:sp>
        <p:nvSpPr>
          <p:cNvPr id="95" name="숙소 없이도 시작 필요한 조건만 나중에 추가"/>
          <p:cNvSpPr txBox="1"/>
          <p:nvPr/>
        </p:nvSpPr>
        <p:spPr>
          <a:xfrm>
            <a:off x="609600" y="4619625"/>
            <a:ext cx="3314700" cy="952500"/>
          </a:xfrm>
          <a:prstGeom prst="rect">
            <a:avLst/>
          </a:prstGeom>
          <a:noFill/>
          <a:ln w="0">
            <a:noFill/>
          </a:ln>
        </p:spPr>
        <p:txBody>
          <a:bodyPr lIns="0" tIns="0" rIns="0" bIns="0" anchor="t">
            <a:noAutofit/>
          </a:bodyPr>
          <a:lstStyle>
            <a:defPPr algn="l">
              <a:defRPr sz="2025" b="0">
                <a:solidFill>
                  <a:srgbClr val="627178"/>
                </a:solidFill>
                <a:latin typeface="Pretendard"/>
                <a:ea typeface="Pretendard"/>
                <a:cs typeface="Pretendard"/>
              </a:defRPr>
            </a:defPPr>
          </a:lstStyle>
          <a:p>
            <a:pPr algn="l">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숙소 없이도 시작</a:t>
            </a:r>
            <a:br>
              <a:rPr sz="2025" b="0">
                <a:solidFill>
                  <a:srgbClr val="627178"/>
                </a:solidFill>
                <a:latin typeface="Pretendard"/>
                <a:ea typeface="Pretendard"/>
                <a:cs typeface="Pretendard"/>
              </a:rPr>
            </a:br>
            <a:r>
              <a:rPr sz="2025" b="0">
                <a:solidFill>
                  <a:srgbClr val="627178"/>
                </a:solidFill>
                <a:latin typeface="Pretendard"/>
                <a:ea typeface="Pretendard"/>
                <a:cs typeface="Pretendard"/>
              </a:rPr>
              <a:t>필요한 조건만 나중에 추가</a:t>
            </a:r>
          </a:p>
        </p:txBody>
      </p:sp>
      <p:pic>
        <p:nvPicPr>
          <p:cNvPr id="96" name="image2.png" descr="image2.png"/>
          <p:cNvPicPr>
            <a:picLocks noChangeAspect="1"/>
          </p:cNvPicPr>
          <p:nvPr/>
        </p:nvPicPr>
        <p:blipFill>
          <a:blip r:embed="rId3">
            <a:extLst/>
          </a:blip>
          <a:stretch>
            <a:fillRect/>
          </a:stretch>
        </p:blipFill>
        <p:spPr>
          <a:xfrm>
            <a:off x="4520021" y="2105025"/>
            <a:ext cx="6866709" cy="4343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00" name="고잉  /  메일 분석"/>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메일 분석</a:t>
            </a:r>
          </a:p>
        </p:txBody>
      </p:sp>
      <p:sp>
        <p:nvSpPr>
          <p:cNvPr id="101" name="메일을 예약으로 정리하기"/>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메일을 예약으로 정리하기</a:t>
            </a:r>
          </a:p>
        </p:txBody>
      </p:sp>
      <p:sp>
        <p:nvSpPr>
          <p:cNvPr id="102" name="읽어 낸 날짜와 시간을 사용자가 확인하고 수정합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읽어 낸 날짜와 시간을 사용자가 확인하고 수정합니다</a:t>
            </a:r>
          </a:p>
        </p:txBody>
      </p:sp>
      <p:sp>
        <p:nvSpPr>
          <p:cNvPr id="103" name="04"/>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04</a:t>
            </a:r>
          </a:p>
        </p:txBody>
      </p:sp>
      <p:sp>
        <p:nvSpPr>
          <p:cNvPr id="104" name="AI가 읽고, 사용자가 확인"/>
          <p:cNvSpPr txBox="1"/>
          <p:nvPr/>
        </p:nvSpPr>
        <p:spPr>
          <a:xfrm>
            <a:off x="609600" y="2390775"/>
            <a:ext cx="5381625" cy="523875"/>
          </a:xfrm>
          <a:prstGeom prst="rect">
            <a:avLst/>
          </a:prstGeom>
          <a:noFill/>
          <a:ln w="0">
            <a:noFill/>
          </a:ln>
        </p:spPr>
        <p:txBody>
          <a:bodyPr lIns="0" tIns="0" rIns="0" bIns="0" anchor="t">
            <a:noAutofit/>
          </a:bodyPr>
          <a:lstStyle>
            <a:defPPr algn="l">
              <a:defRPr sz="2550" b="1">
                <a:solidFill>
                  <a:srgbClr val="25485A"/>
                </a:solidFill>
                <a:latin typeface="Pretendard"/>
                <a:ea typeface="Pretendard"/>
                <a:cs typeface="Pretendard"/>
              </a:defRPr>
            </a:defPPr>
          </a:lstStyle>
          <a:p>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AI가 읽고, 사용자가 확인</a:t>
            </a:r>
          </a:p>
        </p:txBody>
      </p:sp>
      <p:sp>
        <p:nvSpPr>
          <p:cNvPr id="105" name="체크인과 체크아웃을 한눈에"/>
          <p:cNvSpPr txBox="1"/>
          <p:nvPr/>
        </p:nvSpPr>
        <p:spPr>
          <a:xfrm>
            <a:off x="609600" y="3086100"/>
            <a:ext cx="5524500" cy="666750"/>
          </a:xfrm>
          <a:prstGeom prst="rect">
            <a:avLst/>
          </a:prstGeom>
          <a:noFill/>
          <a:ln w="0">
            <a:noFill/>
          </a:ln>
        </p:spPr>
        <p:txBody>
          <a:bodyPr lIns="0" tIns="0" rIns="0" bIns="0" anchor="t">
            <a:noAutofit/>
          </a:bodyPr>
          <a:lstStyle>
            <a:defPPr algn="l">
              <a:defRPr sz="2250" b="0">
                <a:solidFill>
                  <a:srgbClr val="252D2D"/>
                </a:solidFill>
                <a:latin typeface="Pretendard"/>
                <a:ea typeface="Pretendard"/>
                <a:cs typeface="Pretendard"/>
              </a:defRPr>
            </a:defPPr>
          </a:lstStyle>
          <a:p>
            <a:pPr algn="l">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체크인과 체크아웃을 한눈에</a:t>
            </a:r>
          </a:p>
        </p:txBody>
      </p:sp>
      <p:sp>
        <p:nvSpPr>
          <p:cNvPr id="106" name="왕복편과 복수 예약도 구분 직접 고친 값은 다시 분석해도 유지"/>
          <p:cNvSpPr txBox="1"/>
          <p:nvPr/>
        </p:nvSpPr>
        <p:spPr>
          <a:xfrm>
            <a:off x="609600" y="4019550"/>
            <a:ext cx="5619750" cy="1066800"/>
          </a:xfrm>
          <a:prstGeom prst="rect">
            <a:avLst/>
          </a:prstGeom>
          <a:noFill/>
          <a:ln w="0">
            <a:noFill/>
          </a:ln>
        </p:spPr>
        <p:txBody>
          <a:bodyPr lIns="0" tIns="0" rIns="0" bIns="0" anchor="t">
            <a:noAutofit/>
          </a:bodyPr>
          <a:lstStyle>
            <a:defPPr algn="l">
              <a:defRPr sz="2175" b="0">
                <a:solidFill>
                  <a:srgbClr val="252D2D"/>
                </a:solidFill>
                <a:latin typeface="Pretendard"/>
                <a:ea typeface="Pretendard"/>
                <a:cs typeface="Pretendard"/>
              </a:defRPr>
            </a:defPPr>
          </a:lstStyle>
          <a:p>
            <a:pPr algn="l">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왕복편과 복수 예약도 구분</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직접 고친 값은 다시 분석해도 유지</a:t>
            </a:r>
          </a:p>
        </p:txBody>
      </p:sp>
      <p:sp>
        <p:nvSpPr>
          <p:cNvPr id="107" name="AI 분석: gpt-5-mini 화면: 가상 메일의 기본 분석 예시"/>
          <p:cNvSpPr txBox="1"/>
          <p:nvPr/>
        </p:nvSpPr>
        <p:spPr>
          <a:xfrm>
            <a:off x="609600" y="5505450"/>
            <a:ext cx="5524500" cy="704850"/>
          </a:xfrm>
          <a:prstGeom prst="rect">
            <a:avLst/>
          </a:prstGeom>
          <a:noFill/>
          <a:ln w="0">
            <a:noFill/>
          </a:ln>
        </p:spPr>
        <p:txBody>
          <a:bodyPr lIns="0" tIns="0" rIns="0" bIns="0" anchor="t">
            <a:noAutofit/>
          </a:bodyPr>
          <a:lstStyle>
            <a:defPPr algn="l">
              <a:defRPr sz="1800" b="0">
                <a:solidFill>
                  <a:srgbClr val="627178"/>
                </a:solidFill>
                <a:latin typeface="Pretendard"/>
                <a:ea typeface="Pretendard"/>
                <a:cs typeface="Pretendard"/>
              </a:defRPr>
            </a:defPPr>
          </a:lstStyle>
          <a:p>
            <a:pPr algn="l">
              <a:defRPr sz="1800" b="0">
                <a:solidFill>
                  <a:srgbClr val="627178"/>
                </a:solidFill>
                <a:latin typeface="Pretendard"/>
                <a:ea typeface="Pretendard"/>
                <a:cs typeface="Pretendard"/>
              </a:defRPr>
            </a:pPr>
            <a:r>
              <a:rPr sz="1800" b="0">
                <a:solidFill>
                  <a:srgbClr val="627178"/>
                </a:solidFill>
                <a:latin typeface="Pretendard"/>
                <a:ea typeface="Pretendard"/>
                <a:cs typeface="Pretendard"/>
              </a:rPr>
              <a:t>AI 분석: gpt-5-mini</a:t>
            </a:r>
            <a:br>
              <a:rPr sz="1800" b="0">
                <a:solidFill>
                  <a:srgbClr val="627178"/>
                </a:solidFill>
                <a:latin typeface="Pretendard"/>
                <a:ea typeface="Pretendard"/>
                <a:cs typeface="Pretendard"/>
              </a:rPr>
            </a:br>
            <a:r>
              <a:rPr sz="1800" b="0">
                <a:solidFill>
                  <a:srgbClr val="627178"/>
                </a:solidFill>
                <a:latin typeface="Pretendard"/>
                <a:ea typeface="Pretendard"/>
                <a:cs typeface="Pretendard"/>
              </a:rPr>
              <a:t>화면: 가상 메일의 기본 분석 예시</a:t>
            </a:r>
          </a:p>
        </p:txBody>
      </p:sp>
      <p:pic>
        <p:nvPicPr>
          <p:cNvPr id="108" name="image3.png" descr="image3.png"/>
          <p:cNvPicPr>
            <a:picLocks noChangeAspect="1"/>
          </p:cNvPicPr>
          <p:nvPr/>
        </p:nvPicPr>
        <p:blipFill>
          <a:blip r:embed="rId3">
            <a:extLst/>
          </a:blip>
          <a:stretch>
            <a:fillRect/>
          </a:stretch>
        </p:blipFill>
        <p:spPr>
          <a:xfrm>
            <a:off x="6495677" y="2028825"/>
            <a:ext cx="4887071" cy="4257675"/>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12" name="고잉  /  근거 기반 답변"/>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근거 기반 답변</a:t>
            </a:r>
          </a:p>
        </p:txBody>
      </p:sp>
      <p:sp>
        <p:nvSpPr>
          <p:cNvPr id="113" name="날짜로 묻고, 원문으로 확인하기"/>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날짜로 묻고, 원문으로 확인하기</a:t>
            </a:r>
          </a:p>
        </p:txBody>
      </p:sp>
      <p:sp>
        <p:nvSpPr>
          <p:cNvPr id="114" name="“2일차 예약을 전부 알려줘”라고 물어볼 수 있습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“2일차 예약을 전부 알려줘”라고 물어볼 수 있습니다</a:t>
            </a:r>
          </a:p>
        </p:txBody>
      </p:sp>
      <p:sp>
        <p:nvSpPr>
          <p:cNvPr id="115" name="05"/>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05</a:t>
            </a:r>
          </a:p>
        </p:txBody>
      </p:sp>
      <p:pic>
        <p:nvPicPr>
          <p:cNvPr id="116" name="image4.png" descr="image4.png"/>
          <p:cNvPicPr>
            <a:picLocks noChangeAspect="1"/>
          </p:cNvPicPr>
          <p:nvPr/>
        </p:nvPicPr>
        <p:blipFill>
          <a:blip r:embed="rId3">
            <a:extLst/>
          </a:blip>
          <a:stretch>
            <a:fillRect/>
          </a:stretch>
        </p:blipFill>
        <p:spPr>
          <a:xfrm>
            <a:off x="877070" y="2295525"/>
            <a:ext cx="6018260" cy="3800475"/>
          </a:xfrm>
          <a:prstGeom prst="rect">
            <a:avLst/>
          </a:prstGeom>
          <a:ln w="12700">
            <a:miter lim="400000"/>
          </a:ln>
        </p:spPr>
      </p:pic>
      <p:pic>
        <p:nvPicPr>
          <p:cNvPr id="117" name="image5.png" descr="image5.png"/>
          <p:cNvPicPr>
            <a:picLocks noChangeAspect="1"/>
          </p:cNvPicPr>
          <p:nvPr/>
        </p:nvPicPr>
        <p:blipFill>
          <a:blip r:embed="rId4">
            <a:extLst/>
          </a:blip>
          <a:stretch>
            <a:fillRect/>
          </a:stretch>
        </p:blipFill>
        <p:spPr>
          <a:xfrm>
            <a:off x="7870452" y="2152650"/>
            <a:ext cx="3690096" cy="3952875"/>
          </a:xfrm>
          <a:prstGeom prst="rect">
            <a:avLst/>
          </a:prstGeom>
          <a:ln w="12700">
            <a:miter lim="400000"/>
          </a:ln>
        </p:spPr>
      </p:pic>
      <p:sp>
        <p:nvSpPr>
          <p:cNvPr id="118" name="날짜별 예약 전체 조회 / 답변에서 원문 근거 확인"/>
          <p:cNvSpPr txBox="1"/>
          <p:nvPr/>
        </p:nvSpPr>
        <p:spPr>
          <a:xfrm>
            <a:off x="609600" y="6134100"/>
            <a:ext cx="10477500" cy="361950"/>
          </a:xfrm>
          <a:prstGeom prst="rect">
            <a:avLst/>
          </a:prstGeom>
          <a:noFill/>
          <a:ln w="0">
            <a:noFill/>
          </a:ln>
        </p:spPr>
        <p:txBody>
          <a:bodyPr lIns="0" tIns="0" rIns="0" bIns="0" anchor="t">
            <a:noAutofit/>
          </a:bodyPr>
          <a:lstStyle>
            <a:defPPr algn="l">
              <a:defRPr sz="2025" b="1">
                <a:solidFill>
                  <a:srgbClr val="25485A"/>
                </a:solidFill>
                <a:latin typeface="Pretendard"/>
                <a:ea typeface="Pretendard"/>
                <a:cs typeface="Pretendard"/>
              </a:defRPr>
            </a:defPPr>
          </a:lstStyle>
          <a:p>
            <a:pPr algn="l">
              <a:defRPr sz="2025" b="1">
                <a:solidFill>
                  <a:srgbClr val="25485A"/>
                </a:solidFill>
                <a:latin typeface="Pretendard"/>
                <a:ea typeface="Pretendard"/>
                <a:cs typeface="Pretendard"/>
              </a:defRPr>
            </a:pPr>
            <a:r>
              <a:rPr sz="2025" b="1">
                <a:solidFill>
                  <a:srgbClr val="25485A"/>
                </a:solidFill>
                <a:latin typeface="Pretendard"/>
                <a:ea typeface="Pretendard"/>
                <a:cs typeface="Pretendard"/>
              </a:rPr>
              <a:t>날짜별 예약 전체 조회 / 답변에서 원문 근거 확인</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22" name="고잉  /  장소 탐색"/>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장소 탐색</a:t>
            </a:r>
          </a:p>
        </p:txBody>
      </p:sp>
      <p:sp>
        <p:nvSpPr>
          <p:cNvPr id="123" name="사진과 조건을 보고 장소 고르기"/>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사진과 조건을 보고 장소 고르기</a:t>
            </a:r>
          </a:p>
        </p:txBody>
      </p:sp>
      <p:sp>
        <p:nvSpPr>
          <p:cNvPr id="124" name="사진만 보고 정하기 어려운 정보를 함께 보여줍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사진만 보고 정하기 어려운 정보를 함께 보여줍니다</a:t>
            </a:r>
          </a:p>
        </p:txBody>
      </p:sp>
      <p:sp>
        <p:nvSpPr>
          <p:cNvPr id="125" name="06"/>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06</a:t>
            </a:r>
          </a:p>
        </p:txBody>
      </p:sp>
      <p:sp>
        <p:nvSpPr>
          <p:cNvPr id="126" name="사진과 추천 이유"/>
          <p:cNvSpPr txBox="1"/>
          <p:nvPr/>
        </p:nvSpPr>
        <p:spPr>
          <a:xfrm>
            <a:off x="609600" y="2362200"/>
            <a:ext cx="4857750" cy="523875"/>
          </a:xfrm>
          <a:prstGeom prst="rect">
            <a:avLst/>
          </a:prstGeom>
          <a:noFill/>
          <a:ln w="0">
            <a:noFill/>
          </a:ln>
        </p:spPr>
        <p:txBody>
          <a:bodyPr lIns="0" tIns="0" rIns="0" bIns="0" anchor="t">
            <a:noAutofit/>
          </a:bodyPr>
          <a:lstStyle>
            <a:defPPr algn="l">
              <a:defRPr sz="2550" b="1">
                <a:solidFill>
                  <a:srgbClr val="25485A"/>
                </a:solidFill>
                <a:latin typeface="Pretendard"/>
                <a:ea typeface="Pretendard"/>
                <a:cs typeface="Pretendard"/>
              </a:defRPr>
            </a:defPPr>
          </a:lstStyle>
          <a:p>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사진과 추천 이유</a:t>
            </a:r>
          </a:p>
        </p:txBody>
      </p:sp>
      <p:sp>
        <p:nvSpPr>
          <p:cNvPr id="127" name="영업시간과 예약 방법의 출처 저장하고 최대 3곳 비교"/>
          <p:cNvSpPr txBox="1"/>
          <p:nvPr/>
        </p:nvSpPr>
        <p:spPr>
          <a:xfrm>
            <a:off x="609600" y="3133725"/>
            <a:ext cx="4857750" cy="1047750"/>
          </a:xfrm>
          <a:prstGeom prst="rect">
            <a:avLst/>
          </a:prstGeom>
          <a:noFill/>
          <a:ln w="0">
            <a:noFill/>
          </a:ln>
        </p:spPr>
        <p:txBody>
          <a:bodyPr lIns="0" tIns="0" rIns="0" bIns="0" anchor="t">
            <a:noAutofit/>
          </a:bodyPr>
          <a:lstStyle>
            <a:defPPr algn="l">
              <a:defRPr sz="2175" b="0">
                <a:solidFill>
                  <a:srgbClr val="252D2D"/>
                </a:solidFill>
                <a:latin typeface="Pretendard"/>
                <a:ea typeface="Pretendard"/>
                <a:cs typeface="Pretendard"/>
              </a:defRPr>
            </a:defPPr>
          </a:lstStyle>
          <a:p>
            <a:pPr algn="l">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영업시간과 예약 방법의 출처</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저장하고 최대 3곳 비교</a:t>
            </a:r>
          </a:p>
        </p:txBody>
      </p:sp>
      <p:sp>
        <p:nvSpPr>
          <p:cNvPr id="128" name="숙소 기준 거리도 참고 모르는 조건은 확인 필요로 표시"/>
          <p:cNvSpPr txBox="1"/>
          <p:nvPr/>
        </p:nvSpPr>
        <p:spPr>
          <a:xfrm>
            <a:off x="609600" y="4648200"/>
            <a:ext cx="4857750" cy="952500"/>
          </a:xfrm>
          <a:prstGeom prst="rect">
            <a:avLst/>
          </a:prstGeom>
          <a:noFill/>
          <a:ln w="0">
            <a:noFill/>
          </a:ln>
        </p:spPr>
        <p:txBody>
          <a:bodyPr lIns="0" tIns="0" rIns="0" bIns="0" anchor="t">
            <a:noAutofit/>
          </a:bodyPr>
          <a:lstStyle>
            <a:defPPr algn="l">
              <a:defRPr sz="2100" b="0">
                <a:solidFill>
                  <a:srgbClr val="627178"/>
                </a:solidFill>
                <a:latin typeface="Pretendard"/>
                <a:ea typeface="Pretendard"/>
                <a:cs typeface="Pretendard"/>
              </a:defRPr>
            </a:defPPr>
          </a:lstStyle>
          <a:p>
            <a:pPr algn="l">
              <a:defRPr sz="2100" b="0">
                <a:solidFill>
                  <a:srgbClr val="627178"/>
                </a:solidFill>
                <a:latin typeface="Pretendard"/>
                <a:ea typeface="Pretendard"/>
                <a:cs typeface="Pretendard"/>
              </a:defRPr>
            </a:pPr>
            <a:r>
              <a:rPr sz="2100" b="0">
                <a:solidFill>
                  <a:srgbClr val="627178"/>
                </a:solidFill>
                <a:latin typeface="Pretendard"/>
                <a:ea typeface="Pretendard"/>
                <a:cs typeface="Pretendard"/>
              </a:rPr>
              <a:t>숙소 기준 거리도 참고</a:t>
            </a:r>
            <a:br>
              <a:rPr sz="2100" b="0">
                <a:solidFill>
                  <a:srgbClr val="627178"/>
                </a:solidFill>
                <a:latin typeface="Pretendard"/>
                <a:ea typeface="Pretendard"/>
                <a:cs typeface="Pretendard"/>
              </a:rPr>
            </a:br>
            <a:r>
              <a:rPr sz="2100" b="0">
                <a:solidFill>
                  <a:srgbClr val="627178"/>
                </a:solidFill>
                <a:latin typeface="Pretendard"/>
                <a:ea typeface="Pretendard"/>
                <a:cs typeface="Pretendard"/>
              </a:rPr>
              <a:t>모르는 조건은 확인 필요로 표시</a:t>
            </a:r>
          </a:p>
        </p:txBody>
      </p:sp>
      <p:sp>
        <p:nvSpPr>
          <p:cNvPr id="129" name="마드리드 실제 식당 / 방문 조건 확인 필요"/>
          <p:cNvSpPr txBox="1"/>
          <p:nvPr/>
        </p:nvSpPr>
        <p:spPr>
          <a:xfrm>
            <a:off x="609600" y="5867400"/>
            <a:ext cx="5238750" cy="361950"/>
          </a:xfrm>
          <a:prstGeom prst="rect">
            <a:avLst/>
          </a:prstGeom>
          <a:noFill/>
          <a:ln w="0">
            <a:noFill/>
          </a:ln>
        </p:spPr>
        <p:txBody>
          <a:bodyPr lIns="0" tIns="0" rIns="0" bIns="0" anchor="t">
            <a:noAutofit/>
          </a:bodyPr>
          <a:lstStyle>
            <a:defPPr algn="l">
              <a:defRPr sz="1650" b="0">
                <a:solidFill>
                  <a:srgbClr val="627178"/>
                </a:solidFill>
                <a:latin typeface="Pretendard"/>
                <a:ea typeface="Pretendard"/>
                <a:cs typeface="Pretendard"/>
              </a:defRPr>
            </a:defPPr>
          </a:lstStyle>
          <a:p>
            <a:pPr algn="l">
              <a:defRPr sz="1650" b="0">
                <a:solidFill>
                  <a:srgbClr val="627178"/>
                </a:solidFill>
                <a:latin typeface="Pretendard"/>
                <a:ea typeface="Pretendard"/>
                <a:cs typeface="Pretendard"/>
              </a:defRPr>
            </a:pPr>
            <a:r>
              <a:rPr sz="1650" b="0">
                <a:solidFill>
                  <a:srgbClr val="627178"/>
                </a:solidFill>
                <a:latin typeface="Pretendard"/>
                <a:ea typeface="Pretendard"/>
                <a:cs typeface="Pretendard"/>
              </a:rPr>
              <a:t>마드리드 실제 식당 / 방문 조건 확인 필요</a:t>
            </a:r>
          </a:p>
        </p:txBody>
      </p:sp>
      <p:pic>
        <p:nvPicPr>
          <p:cNvPr id="130" name="image6.png" descr="image6.png"/>
          <p:cNvPicPr>
            <a:picLocks noChangeAspect="1"/>
          </p:cNvPicPr>
          <p:nvPr/>
        </p:nvPicPr>
        <p:blipFill>
          <a:blip r:embed="rId3">
            <a:extLst/>
          </a:blip>
          <a:stretch>
            <a:fillRect/>
          </a:stretch>
        </p:blipFill>
        <p:spPr>
          <a:xfrm>
            <a:off x="6452489" y="2114550"/>
            <a:ext cx="4849622" cy="421005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34" name="고잉  /  추천의 기획"/>
          <p:cNvSpPr txBox="1"/>
          <p:nvPr/>
        </p:nvSpPr>
        <p:spPr>
          <a:xfrm>
            <a:off x="609600" y="285750"/>
            <a:ext cx="10287000" cy="266700"/>
          </a:xfrm>
          <a:prstGeom prst="rect">
            <a:avLst/>
          </a:prstGeom>
          <a:noFill/>
          <a:ln w="0">
            <a:noFill/>
          </a:ln>
        </p:spPr>
        <p:txBody>
          <a:bodyPr lIns="0" tIns="0" rIns="0" bIns="0" anchor="t">
            <a:noAutofit/>
          </a:bodyPr>
          <a:lstStyle>
            <a:defPPr algn="l">
              <a:defRPr sz="1350" b="0">
                <a:solidFill>
                  <a:srgbClr val="627178"/>
                </a:solidFill>
                <a:latin typeface="Pretendard"/>
                <a:ea typeface="Pretendard"/>
                <a:cs typeface="Pretendard"/>
              </a:defRPr>
            </a:defPPr>
          </a:lstStyle>
          <a:p>
            <a:pPr algn="l">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추천의 기획</a:t>
            </a:r>
          </a:p>
        </p:txBody>
      </p:sp>
      <p:sp>
        <p:nvSpPr>
          <p:cNvPr id="135" name="현지 탐색과 유명한 곳"/>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현지 탐색과 유명한 곳</a:t>
            </a:r>
          </a:p>
        </p:txBody>
      </p:sp>
      <p:sp>
        <p:nvSpPr>
          <p:cNvPr id="136" name="여행에서 원하는 경험에 맞춰 나눠 찾습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여행에서 원하는 경험에 맞춰 나눠 찾습니다</a:t>
            </a:r>
          </a:p>
        </p:txBody>
      </p:sp>
      <p:sp>
        <p:nvSpPr>
          <p:cNvPr id="137" name="07"/>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07</a:t>
            </a:r>
          </a:p>
        </p:txBody>
      </p:sp>
      <p:sp>
        <p:nvSpPr>
          <p:cNvPr id="138" name="현지 탐색"/>
          <p:cNvSpPr txBox="1"/>
          <p:nvPr/>
        </p:nvSpPr>
        <p:spPr>
          <a:xfrm>
            <a:off x="609600" y="2466975"/>
            <a:ext cx="5143500" cy="571500"/>
          </a:xfrm>
          <a:prstGeom prst="rect">
            <a:avLst/>
          </a:prstGeom>
          <a:noFill/>
          <a:ln w="0">
            <a:noFill/>
          </a:ln>
        </p:spPr>
        <p:txBody>
          <a:bodyPr lIns="0" tIns="0" rIns="0" bIns="0" anchor="t">
            <a:noAutofit/>
          </a:bodyPr>
          <a:lstStyle>
            <a:defPPr algn="l">
              <a:defRPr sz="2850" b="1">
                <a:solidFill>
                  <a:srgbClr val="25485A"/>
                </a:solidFill>
                <a:latin typeface="Pretendard"/>
                <a:ea typeface="Pretendard"/>
                <a:cs typeface="Pretendard"/>
              </a:defRPr>
            </a:defPPr>
          </a:lstStyle>
          <a:p>
            <a:pPr algn="l">
              <a:defRPr sz="2850" b="1">
                <a:solidFill>
                  <a:srgbClr val="25485A"/>
                </a:solidFill>
                <a:latin typeface="Pretendard"/>
                <a:ea typeface="Pretendard"/>
                <a:cs typeface="Pretendard"/>
              </a:defRPr>
            </a:pPr>
            <a:r>
              <a:rPr sz="2850" b="1">
                <a:solidFill>
                  <a:srgbClr val="25485A"/>
                </a:solidFill>
                <a:latin typeface="Pretendard"/>
                <a:ea typeface="Pretendard"/>
                <a:cs typeface="Pretendard"/>
              </a:rPr>
              <a:t>현지 탐색</a:t>
            </a:r>
          </a:p>
        </p:txBody>
      </p:sp>
      <p:sp>
        <p:nvSpPr>
          <p:cNvPr id="139" name="현지어 원문 리뷰가 많고 한국어가 적게 관측된 장소  미판별 리뷰와 관측 기간도 확인"/>
          <p:cNvSpPr txBox="1"/>
          <p:nvPr/>
        </p:nvSpPr>
        <p:spPr>
          <a:xfrm>
            <a:off x="609600" y="3267075"/>
            <a:ext cx="5162550" cy="1838325"/>
          </a:xfrm>
          <a:prstGeom prst="rect">
            <a:avLst/>
          </a:prstGeom>
          <a:noFill/>
          <a:ln w="0">
            <a:noFill/>
          </a:ln>
        </p:spPr>
        <p:txBody>
          <a:bodyPr lIns="0" tIns="0" rIns="0" bIns="0" anchor="t">
            <a:noAutofit/>
          </a:bodyPr>
          <a:lstStyle>
            <a:defPPr algn="l">
              <a:defRPr sz="2250" b="0">
                <a:solidFill>
                  <a:srgbClr val="252D2D"/>
                </a:solidFill>
                <a:latin typeface="Pretendard"/>
                <a:ea typeface="Pretendard"/>
                <a:cs typeface="Pretendard"/>
              </a:defRPr>
            </a:defPPr>
          </a:lstStyle>
          <a:p>
            <a:pPr algn="l">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현지어 원문 리뷰가 많고</a:t>
            </a: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한국어가 적게 관측된 장소</a:t>
            </a:r>
            <a:br>
              <a:rPr sz="2250" b="0">
                <a:solidFill>
                  <a:srgbClr val="252D2D"/>
                </a:solidFill>
                <a:latin typeface="Pretendard"/>
                <a:ea typeface="Pretendard"/>
                <a:cs typeface="Pretendard"/>
              </a:rPr>
            </a:b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미판별 리뷰와 관측 기간도 확인</a:t>
            </a:r>
          </a:p>
        </p:txBody>
      </p:sp>
      <p:sp>
        <p:nvSpPr>
          <p:cNvPr id="140" name="유명한 곳"/>
          <p:cNvSpPr txBox="1"/>
          <p:nvPr/>
        </p:nvSpPr>
        <p:spPr>
          <a:xfrm>
            <a:off x="6591300" y="2466975"/>
            <a:ext cx="4914900" cy="571500"/>
          </a:xfrm>
          <a:prstGeom prst="rect">
            <a:avLst/>
          </a:prstGeom>
          <a:noFill/>
          <a:ln w="0">
            <a:noFill/>
          </a:ln>
        </p:spPr>
        <p:txBody>
          <a:bodyPr lIns="0" tIns="0" rIns="0" bIns="0" anchor="t">
            <a:noAutofit/>
          </a:bodyPr>
          <a:lstStyle>
            <a:defPPr algn="l">
              <a:defRPr sz="2850" b="1">
                <a:solidFill>
                  <a:srgbClr val="25485A"/>
                </a:solidFill>
                <a:latin typeface="Pretendard"/>
                <a:ea typeface="Pretendard"/>
                <a:cs typeface="Pretendard"/>
              </a:defRPr>
            </a:defPPr>
          </a:lstStyle>
          <a:p>
            <a:pPr algn="l">
              <a:defRPr sz="2850" b="1">
                <a:solidFill>
                  <a:srgbClr val="25485A"/>
                </a:solidFill>
                <a:latin typeface="Pretendard"/>
                <a:ea typeface="Pretendard"/>
                <a:cs typeface="Pretendard"/>
              </a:defRPr>
            </a:pPr>
            <a:r>
              <a:rPr sz="2850" b="1">
                <a:solidFill>
                  <a:srgbClr val="25485A"/>
                </a:solidFill>
                <a:latin typeface="Pretendard"/>
                <a:ea typeface="Pretendard"/>
                <a:cs typeface="Pretendard"/>
              </a:rPr>
              <a:t>유명한 곳</a:t>
            </a:r>
          </a:p>
        </p:txBody>
      </p:sp>
      <p:sp>
        <p:nvSpPr>
          <p:cNvPr id="141" name="대표 명소와 알려진 식당 공식 소개와 플랫폼의 평가 규모  같은 날짜와 인원 조건으로 비교"/>
          <p:cNvSpPr txBox="1"/>
          <p:nvPr/>
        </p:nvSpPr>
        <p:spPr>
          <a:xfrm>
            <a:off x="6591300" y="3267075"/>
            <a:ext cx="4972050" cy="1838325"/>
          </a:xfrm>
          <a:prstGeom prst="rect">
            <a:avLst/>
          </a:prstGeom>
          <a:noFill/>
          <a:ln w="0">
            <a:noFill/>
          </a:ln>
        </p:spPr>
        <p:txBody>
          <a:bodyPr lIns="0" tIns="0" rIns="0" bIns="0" anchor="t">
            <a:noAutofit/>
          </a:bodyPr>
          <a:lstStyle>
            <a:defPPr algn="l">
              <a:defRPr sz="2250" b="0">
                <a:solidFill>
                  <a:srgbClr val="252D2D"/>
                </a:solidFill>
                <a:latin typeface="Pretendard"/>
                <a:ea typeface="Pretendard"/>
                <a:cs typeface="Pretendard"/>
              </a:defRPr>
            </a:defPPr>
          </a:lstStyle>
          <a:p>
            <a:pPr algn="l">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대표 명소와 알려진 식당</a:t>
            </a: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공식 소개와 플랫폼의 평가 규모</a:t>
            </a:r>
            <a:br>
              <a:rPr sz="2250" b="0">
                <a:solidFill>
                  <a:srgbClr val="252D2D"/>
                </a:solidFill>
                <a:latin typeface="Pretendard"/>
                <a:ea typeface="Pretendard"/>
                <a:cs typeface="Pretendard"/>
              </a:rPr>
            </a:b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같은 날짜와 인원 조건으로 비교</a:t>
            </a:r>
          </a:p>
        </p:txBody>
      </p:sp>
      <p:sp>
        <p:nvSpPr>
          <p:cNvPr id="142" name="리뷰 언어는 주민 비율과 다릅니다. 엄격 현지어 추천은 실제 검증 전 OFF."/>
          <p:cNvSpPr txBox="1"/>
          <p:nvPr/>
        </p:nvSpPr>
        <p:spPr>
          <a:xfrm>
            <a:off x="609600" y="5753100"/>
            <a:ext cx="10953750" cy="514350"/>
          </a:xfrm>
          <a:prstGeom prst="rect">
            <a:avLst/>
          </a:prstGeom>
          <a:noFill/>
          <a:ln w="0">
            <a:noFill/>
          </a:ln>
        </p:spPr>
        <p:txBody>
          <a:bodyPr lIns="0" tIns="0" rIns="0" bIns="0" anchor="t">
            <a:noAutofit/>
          </a:bodyPr>
          <a:lstStyle>
            <a:defPPr algn="l">
              <a:defRPr sz="1800" b="0">
                <a:solidFill>
                  <a:srgbClr val="8E682B"/>
                </a:solidFill>
                <a:latin typeface="Pretendard"/>
                <a:ea typeface="Pretendard"/>
                <a:cs typeface="Pretendard"/>
              </a:defRPr>
            </a:defPPr>
          </a:lstStyle>
          <a:p>
            <a:pPr algn="l">
              <a:defRPr sz="1800" b="0">
                <a:solidFill>
                  <a:srgbClr val="8E682B"/>
                </a:solidFill>
                <a:latin typeface="Pretendard"/>
                <a:ea typeface="Pretendard"/>
                <a:cs typeface="Pretendard"/>
              </a:defRPr>
            </a:pPr>
            <a:r>
              <a:rPr sz="1800" b="0">
                <a:solidFill>
                  <a:srgbClr val="8E682B"/>
                </a:solidFill>
                <a:latin typeface="Pretendard"/>
                <a:ea typeface="Pretendard"/>
                <a:cs typeface="Pretendard"/>
              </a:rPr>
              <a:t>리뷰 언어는 주민 비율과 다릅니다. 엄격 현지어 추천은 실제 검증 전 OFF.</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46" name="고잉  /  일정 편집"/>
          <p:cNvSpPr txBox="1"/>
          <p:nvPr/>
        </p:nvSpPr>
        <p:spPr>
          <a:xfrm>
            <a:off x="609600" y="285750"/>
            <a:ext cx="10287000" cy="266700"/>
          </a:xfrm>
          <a:prstGeom prst="rect">
            <a:avLst/>
          </a:prstGeom>
          <a:noFill/>
          <a:ln w="0">
            <a:noFill/>
          </a:ln>
        </p:spPr>
        <p:txBody>
          <a:bodyPr wrap="square" lIns="0" tIns="0" rIns="0" bIns="0" anchor="t">
            <a:noAutofit/>
          </a:bodyPr>
          <a:lstStyle>
            <a:defPPr algn="l">
              <a:defRPr sz="1350" b="0">
                <a:solidFill>
                  <a:srgbClr val="606C70"/>
                </a:solidFill>
                <a:latin typeface="Pretendard"/>
                <a:ea typeface="Pretendard"/>
                <a:cs typeface="Pretendard"/>
              </a:defRPr>
            </a:defPPr>
          </a:lstStyle>
          <a:p>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일정 편집</a:t>
            </a:r>
          </a:p>
        </p:txBody>
      </p:sp>
      <p:sp>
        <p:nvSpPr>
          <p:cNvPr id="147" name="예약 사이에 들어가는 일정"/>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예약 사이에 들어가는 일정</a:t>
            </a:r>
          </a:p>
        </p:txBody>
      </p:sp>
      <p:sp>
        <p:nvSpPr>
          <p:cNvPr id="148" name="머무는 시간에 앞뒤 이동시간까지 더해 확인합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머무는 시간에 앞뒤 이동시간까지 더해 확인합니다</a:t>
            </a:r>
          </a:p>
        </p:txBody>
      </p:sp>
      <p:sp>
        <p:nvSpPr>
          <p:cNvPr id="149" name="08"/>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08</a:t>
            </a:r>
          </a:p>
        </p:txBody>
      </p:sp>
      <p:sp>
        <p:nvSpPr>
          <p:cNvPr id="150" name="13:00 – 15:00"/>
          <p:cNvSpPr txBox="1"/>
          <p:nvPr/>
        </p:nvSpPr>
        <p:spPr>
          <a:xfrm>
            <a:off x="609600" y="2276475"/>
            <a:ext cx="5238750" cy="619125"/>
          </a:xfrm>
          <a:prstGeom prst="rect">
            <a:avLst/>
          </a:prstGeom>
          <a:noFill/>
          <a:ln w="0">
            <a:noFill/>
          </a:ln>
        </p:spPr>
        <p:txBody>
          <a:bodyPr lIns="0" tIns="0" rIns="0" bIns="0" anchor="t">
            <a:noAutofit/>
          </a:bodyPr>
          <a:lstStyle>
            <a:defPPr algn="l">
              <a:defRPr sz="3375" b="1">
                <a:solidFill>
                  <a:srgbClr val="25485A"/>
                </a:solidFill>
                <a:latin typeface="Pretendard"/>
                <a:ea typeface="Pretendard"/>
                <a:cs typeface="Pretendard"/>
              </a:defRPr>
            </a:defPPr>
          </a:lstStyle>
          <a:p>
            <a:pPr algn="l">
              <a:defRPr sz="3375" b="1">
                <a:solidFill>
                  <a:srgbClr val="25485A"/>
                </a:solidFill>
                <a:latin typeface="Pretendard"/>
                <a:ea typeface="Pretendard"/>
                <a:cs typeface="Pretendard"/>
              </a:defRPr>
            </a:pPr>
            <a:r>
              <a:rPr sz="3375" b="1">
                <a:solidFill>
                  <a:srgbClr val="25485A"/>
                </a:solidFill>
                <a:latin typeface="Pretendard"/>
                <a:ea typeface="Pretendard"/>
                <a:cs typeface="Pretendard"/>
              </a:rPr>
              <a:t>13:00 – 15:00</a:t>
            </a:r>
          </a:p>
        </p:txBody>
      </p:sp>
      <p:sp>
        <p:nvSpPr>
          <p:cNvPr id="151" name="점심 종료부터 다음 예약까지 120분"/>
          <p:cNvSpPr txBox="1"/>
          <p:nvPr/>
        </p:nvSpPr>
        <p:spPr>
          <a:xfrm>
            <a:off x="609600" y="3000375"/>
            <a:ext cx="5381625" cy="428625"/>
          </a:xfrm>
          <a:prstGeom prst="rect">
            <a:avLst/>
          </a:prstGeom>
          <a:noFill/>
          <a:ln w="0">
            <a:noFill/>
          </a:ln>
        </p:spPr>
        <p:txBody>
          <a:bodyPr lIns="0" tIns="0" rIns="0" bIns="0" anchor="t">
            <a:noAutofit/>
          </a:bodyPr>
          <a:lstStyle>
            <a:defPPr algn="l">
              <a:defRPr sz="2025" b="0">
                <a:solidFill>
                  <a:srgbClr val="627178"/>
                </a:solidFill>
                <a:latin typeface="Pretendard"/>
                <a:ea typeface="Pretendard"/>
                <a:cs typeface="Pretendard"/>
              </a:defRPr>
            </a:defPPr>
          </a:lstStyle>
          <a:p>
            <a:pPr algn="l">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점심 종료부터 다음 예약까지 120분</a:t>
            </a:r>
          </a:p>
        </p:txBody>
      </p:sp>
      <p:pic>
        <p:nvPicPr>
          <p:cNvPr id="152" name="image7.png" descr="image7.png"/>
          <p:cNvPicPr>
            <a:picLocks noChangeAspect="1"/>
          </p:cNvPicPr>
          <p:nvPr/>
        </p:nvPicPr>
        <p:blipFill>
          <a:blip r:embed="rId3">
            <a:extLst/>
          </a:blip>
          <a:stretch>
            <a:fillRect/>
          </a:stretch>
        </p:blipFill>
        <p:spPr>
          <a:xfrm>
            <a:off x="6391275" y="2647950"/>
            <a:ext cx="5095875" cy="2695575"/>
          </a:xfrm>
          <a:prstGeom prst="rect">
            <a:avLst/>
          </a:prstGeom>
          <a:ln w="12700">
            <a:miter lim="400000"/>
          </a:ln>
        </p:spPr>
      </p:pic>
      <p:sp>
        <p:nvSpPr>
          <p:cNvPr id="153" name="30 + 90 + 30 = 150분"/>
          <p:cNvSpPr txBox="1"/>
          <p:nvPr/>
        </p:nvSpPr>
        <p:spPr>
          <a:xfrm>
            <a:off x="609600" y="3762375"/>
            <a:ext cx="5476875" cy="647700"/>
          </a:xfrm>
          <a:prstGeom prst="rect">
            <a:avLst/>
          </a:prstGeom>
          <a:noFill/>
          <a:ln w="0">
            <a:noFill/>
          </a:ln>
        </p:spPr>
        <p:txBody>
          <a:bodyPr lIns="0" tIns="0" rIns="0" bIns="0" anchor="t">
            <a:noAutofit/>
          </a:bodyPr>
          <a:lstStyle>
            <a:defPPr algn="l">
              <a:defRPr sz="3000" b="1">
                <a:solidFill>
                  <a:srgbClr val="252D2D"/>
                </a:solidFill>
                <a:latin typeface="Pretendard"/>
                <a:ea typeface="Pretendard"/>
                <a:cs typeface="Pretendard"/>
              </a:defRPr>
            </a:defPPr>
          </a:lstStyle>
          <a:p>
            <a:pPr algn="l">
              <a:defRPr sz="3000" b="1">
                <a:solidFill>
                  <a:srgbClr val="252D2D"/>
                </a:solidFill>
                <a:latin typeface="Pretendard"/>
                <a:ea typeface="Pretendard"/>
                <a:cs typeface="Pretendard"/>
              </a:defRPr>
            </a:pPr>
            <a:r>
              <a:rPr sz="3000" b="1">
                <a:solidFill>
                  <a:srgbClr val="252D2D"/>
                </a:solidFill>
                <a:latin typeface="Pretendard"/>
                <a:ea typeface="Pretendard"/>
                <a:cs typeface="Pretendard"/>
              </a:rPr>
              <a:t>30 + 90 + 30 = 150분</a:t>
            </a:r>
          </a:p>
        </p:txBody>
      </p:sp>
      <p:sp>
        <p:nvSpPr>
          <p:cNvPr id="154" name="이동과 체류를 더하면 30분 부족 확정 예약은 그대로 유지합니다"/>
          <p:cNvSpPr txBox="1"/>
          <p:nvPr/>
        </p:nvSpPr>
        <p:spPr>
          <a:xfrm>
            <a:off x="609600" y="4562475"/>
            <a:ext cx="5476875" cy="857250"/>
          </a:xfrm>
          <a:prstGeom prst="rect">
            <a:avLst/>
          </a:prstGeom>
          <a:noFill/>
          <a:ln w="0">
            <a:noFill/>
          </a:ln>
        </p:spPr>
        <p:txBody>
          <a:bodyPr lIns="0" tIns="0" rIns="0" bIns="0" anchor="t">
            <a:noAutofit/>
          </a:bodyPr>
          <a:lstStyle>
            <a:defPPr algn="l">
              <a:defRPr sz="2025" b="0">
                <a:solidFill>
                  <a:srgbClr val="252D2D"/>
                </a:solidFill>
                <a:latin typeface="Pretendard"/>
                <a:ea typeface="Pretendard"/>
                <a:cs typeface="Pretendard"/>
              </a:defRPr>
            </a:defPPr>
          </a:lstStyle>
          <a:p>
            <a:pPr algn="l">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이동과 체류를 더하면 30분 부족</a:t>
            </a:r>
            <a:br>
              <a:rPr sz="2025" b="0">
                <a:solidFill>
                  <a:srgbClr val="252D2D"/>
                </a:solidFill>
                <a:latin typeface="Pretendard"/>
                <a:ea typeface="Pretendard"/>
                <a:cs typeface="Pretendard"/>
              </a:rPr>
            </a:br>
            <a:r>
              <a:rPr sz="2025" b="0">
                <a:solidFill>
                  <a:srgbClr val="252D2D"/>
                </a:solidFill>
                <a:latin typeface="Pretendard"/>
                <a:ea typeface="Pretendard"/>
                <a:cs typeface="Pretendard"/>
              </a:rPr>
              <a:t>확정 예약은 그대로 유지합니다</a:t>
            </a:r>
          </a:p>
        </p:txBody>
      </p:sp>
      <p:sp>
        <p:nvSpPr>
          <p:cNvPr id="155" name="일정 제약을 설명하는 합성 예시"/>
          <p:cNvSpPr txBox="1"/>
          <p:nvPr/>
        </p:nvSpPr>
        <p:spPr>
          <a:xfrm>
            <a:off x="609600" y="5591175"/>
            <a:ext cx="4953000" cy="295275"/>
          </a:xfrm>
          <a:prstGeom prst="rect">
            <a:avLst/>
          </a:prstGeom>
          <a:noFill/>
          <a:ln w="0">
            <a:noFill/>
          </a:ln>
        </p:spPr>
        <p:txBody>
          <a:bodyPr lIns="0" tIns="0" rIns="0" bIns="0" anchor="t">
            <a:noAutofit/>
          </a:bodyPr>
          <a:lstStyle>
            <a:defPPr algn="l">
              <a:defRPr sz="1575" b="0">
                <a:solidFill>
                  <a:srgbClr val="627178"/>
                </a:solidFill>
                <a:latin typeface="Pretendard"/>
                <a:ea typeface="Pretendard"/>
                <a:cs typeface="Pretendard"/>
              </a:defRPr>
            </a:defPPr>
          </a:lstStyle>
          <a:p>
            <a:pPr algn="l">
              <a:defRPr sz="1575" b="0">
                <a:solidFill>
                  <a:srgbClr val="627178"/>
                </a:solidFill>
                <a:latin typeface="Pretendard"/>
                <a:ea typeface="Pretendard"/>
                <a:cs typeface="Pretendard"/>
              </a:defRPr>
            </a:pPr>
            <a:r>
              <a:rPr sz="1575" b="0">
                <a:solidFill>
                  <a:srgbClr val="627178"/>
                </a:solidFill>
                <a:latin typeface="Pretendard"/>
                <a:ea typeface="Pretendard"/>
                <a:cs typeface="Pretendard"/>
              </a:rPr>
              <a:t>일정 제약을 설명하는 합성 예시</a:t>
            </a:r>
          </a:p>
        </p:txBody>
      </p:sp>
      <p:sp>
        <p:nvSpPr>
          <p:cNvPr id="156" name="실제 화면: 고정 예약과 충돌 안내"/>
          <p:cNvSpPr txBox="1"/>
          <p:nvPr/>
        </p:nvSpPr>
        <p:spPr>
          <a:xfrm>
            <a:off x="6515100" y="2276475"/>
            <a:ext cx="5000625" cy="361950"/>
          </a:xfrm>
          <a:prstGeom prst="rect">
            <a:avLst/>
          </a:prstGeom>
          <a:noFill/>
          <a:ln w="0">
            <a:noFill/>
          </a:ln>
        </p:spPr>
        <p:txBody>
          <a:bodyPr lIns="0" tIns="0" rIns="0" bIns="0" anchor="t">
            <a:noAutofit/>
          </a:bodyPr>
          <a:lstStyle>
            <a:defPPr algn="l">
              <a:defRPr sz="1800" b="0">
                <a:solidFill>
                  <a:srgbClr val="627178"/>
                </a:solidFill>
                <a:latin typeface="Pretendard"/>
                <a:ea typeface="Pretendard"/>
                <a:cs typeface="Pretendard"/>
              </a:defRPr>
            </a:defPPr>
          </a:lstStyle>
          <a:p>
            <a:pPr algn="l">
              <a:defRPr sz="1800" b="0">
                <a:solidFill>
                  <a:srgbClr val="627178"/>
                </a:solidFill>
                <a:latin typeface="Pretendard"/>
                <a:ea typeface="Pretendard"/>
                <a:cs typeface="Pretendard"/>
              </a:defRPr>
            </a:pPr>
            <a:r>
              <a:rPr sz="1800" b="0">
                <a:solidFill>
                  <a:srgbClr val="627178"/>
                </a:solidFill>
                <a:latin typeface="Pretendard"/>
                <a:ea typeface="Pretendard"/>
                <a:cs typeface="Pretendard"/>
              </a:rPr>
              <a:t>실제 화면: 고정 예약과 충돌 안내</a:t>
            </a:r>
          </a:p>
        </p:txBody>
      </p:sp>
      <p:sp>
        <p:nvSpPr>
          <p:cNvPr id="157" name="미리 확인하고 적용, 필요하면 되돌리기"/>
          <p:cNvSpPr txBox="1"/>
          <p:nvPr/>
        </p:nvSpPr>
        <p:spPr>
          <a:xfrm>
            <a:off x="6486525" y="5600700"/>
            <a:ext cx="5048250" cy="428625"/>
          </a:xfrm>
          <a:prstGeom prst="rect">
            <a:avLst/>
          </a:prstGeom>
          <a:noFill/>
          <a:ln w="0">
            <a:noFill/>
          </a:ln>
        </p:spPr>
        <p:txBody>
          <a:bodyPr lIns="0" tIns="0" rIns="0" bIns="0" anchor="t">
            <a:noAutofit/>
          </a:bodyPr>
          <a:lstStyle>
            <a:defPPr algn="l">
              <a:defRPr sz="2025" b="1">
                <a:solidFill>
                  <a:srgbClr val="25485A"/>
                </a:solidFill>
                <a:latin typeface="Pretendard"/>
                <a:ea typeface="Pretendard"/>
                <a:cs typeface="Pretendard"/>
              </a:defRPr>
            </a:defPPr>
          </a:lstStyle>
          <a:p>
            <a:pPr algn="l">
              <a:defRPr sz="2025" b="1">
                <a:solidFill>
                  <a:srgbClr val="25485A"/>
                </a:solidFill>
                <a:latin typeface="Pretendard"/>
                <a:ea typeface="Pretendard"/>
                <a:cs typeface="Pretendard"/>
              </a:defRPr>
            </a:pPr>
            <a:r>
              <a:rPr sz="2025" b="1">
                <a:solidFill>
                  <a:srgbClr val="25485A"/>
                </a:solidFill>
                <a:latin typeface="Pretendard"/>
                <a:ea typeface="Pretendard"/>
                <a:cs typeface="Pretendard"/>
              </a:rPr>
              <a:t>미리 확인하고 적용, 필요하면 되돌리기</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61" name="고잉  /  구현 방법"/>
          <p:cNvSpPr txBox="1"/>
          <p:nvPr/>
        </p:nvSpPr>
        <p:spPr>
          <a:xfrm>
            <a:off x="609600" y="285750"/>
            <a:ext cx="10287000" cy="266700"/>
          </a:xfrm>
          <a:prstGeom prst="rect">
            <a:avLst/>
          </a:prstGeom>
          <a:noFill/>
          <a:ln w="0">
            <a:noFill/>
          </a:ln>
        </p:spPr>
        <p:txBody>
          <a:bodyPr lIns="0" tIns="0" rIns="0" bIns="0" anchor="t">
            <a:noAutofit/>
          </a:bodyPr>
          <a:lstStyle>
            <a:defPPr algn="l">
              <a:defRPr sz="1350" b="0">
                <a:solidFill>
                  <a:srgbClr val="627178"/>
                </a:solidFill>
                <a:latin typeface="Pretendard"/>
                <a:ea typeface="Pretendard"/>
                <a:cs typeface="Pretendard"/>
              </a:defRPr>
            </a:defPPr>
          </a:lstStyle>
          <a:p>
            <a:pPr algn="l">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구현 방법</a:t>
            </a:r>
          </a:p>
        </p:txBody>
      </p:sp>
      <p:sp>
        <p:nvSpPr>
          <p:cNvPr id="162" name="어떻게 만들었는지"/>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어떻게 만들었는지</a:t>
            </a:r>
          </a:p>
        </p:txBody>
      </p:sp>
      <p:sp>
        <p:nvSpPr>
          <p:cNvPr id="163" name="메일 분석에서 시작해 여행 정보와 일정 계산을 연결했습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메일 분석에서 시작해 여행 정보와 일정 계산을 연결했습니다</a:t>
            </a:r>
          </a:p>
        </p:txBody>
      </p:sp>
      <p:sp>
        <p:nvSpPr>
          <p:cNvPr id="164" name="09"/>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09</a:t>
            </a:r>
          </a:p>
        </p:txBody>
      </p:sp>
      <p:sp>
        <p:nvSpPr>
          <p:cNvPr id="165" name="웹 화면과 여행 데이터"/>
          <p:cNvSpPr txBox="1"/>
          <p:nvPr/>
        </p:nvSpPr>
        <p:spPr>
          <a:xfrm>
            <a:off x="609600" y="2295525"/>
            <a:ext cx="10620375" cy="457200"/>
          </a:xfrm>
          <a:prstGeom prst="rect">
            <a:avLst/>
          </a:prstGeom>
          <a:noFill/>
          <a:ln w="0">
            <a:noFill/>
          </a:ln>
        </p:spPr>
        <p:txBody>
          <a:bodyPr lIns="0" tIns="0" rIns="0" bIns="0" anchor="t">
            <a:noAutofit/>
          </a:bodyPr>
          <a:lstStyle>
            <a:defPPr algn="l">
              <a:defRPr sz="2475" b="1">
                <a:solidFill>
                  <a:srgbClr val="25485A"/>
                </a:solidFill>
                <a:latin typeface="Pretendard"/>
                <a:ea typeface="Pretendard"/>
                <a:cs typeface="Pretendard"/>
              </a:defRPr>
            </a:defPPr>
          </a:lstStyle>
          <a:p>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웹 화면과 여행 데이터</a:t>
            </a:r>
          </a:p>
        </p:txBody>
      </p:sp>
      <p:sp>
        <p:nvSpPr>
          <p:cNvPr id="166" name="웹 UI와 FastAPI / Render 서버 / Supabase에 여행과 파일 보관"/>
          <p:cNvSpPr txBox="1"/>
          <p:nvPr/>
        </p:nvSpPr>
        <p:spPr>
          <a:xfrm>
            <a:off x="609600" y="2771775"/>
            <a:ext cx="10620375" cy="409575"/>
          </a:xfrm>
          <a:prstGeom prst="rect">
            <a:avLst/>
          </a:prstGeom>
          <a:noFill/>
          <a:ln w="0">
            <a:noFill/>
          </a:ln>
        </p:spPr>
        <p:txBody>
          <a:bodyPr lIns="0" tIns="0" rIns="0" bIns="0" anchor="t">
            <a:noAutofit/>
          </a:bodyPr>
          <a:lstStyle>
            <a:defPPr algn="l">
              <a:defRPr sz="2025" b="0">
                <a:solidFill>
                  <a:srgbClr val="252D2D"/>
                </a:solidFill>
                <a:latin typeface="Pretendard"/>
                <a:ea typeface="Pretendard"/>
                <a:cs typeface="Pretendard"/>
              </a:defRPr>
            </a:defPPr>
          </a:lstStyle>
          <a:p>
            <a:pPr algn="l">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웹 UI와 FastAPI / Render 서버 / Supabase에 여행과 파일 보관</a:t>
            </a:r>
          </a:p>
        </p:txBody>
      </p:sp>
      <p:sp>
        <p:nvSpPr>
          <p:cNvPr id="167" name="메일을 읽고 근거 찾기"/>
          <p:cNvSpPr txBox="1"/>
          <p:nvPr/>
        </p:nvSpPr>
        <p:spPr>
          <a:xfrm>
            <a:off x="609600" y="3429000"/>
            <a:ext cx="10620375" cy="457200"/>
          </a:xfrm>
          <a:prstGeom prst="rect">
            <a:avLst/>
          </a:prstGeom>
          <a:noFill/>
          <a:ln w="0">
            <a:noFill/>
          </a:ln>
        </p:spPr>
        <p:txBody>
          <a:bodyPr lIns="0" tIns="0" rIns="0" bIns="0" anchor="t">
            <a:noAutofit/>
          </a:bodyPr>
          <a:lstStyle>
            <a:defPPr algn="l">
              <a:defRPr sz="2475" b="1">
                <a:solidFill>
                  <a:srgbClr val="25485A"/>
                </a:solidFill>
                <a:latin typeface="Pretendard"/>
                <a:ea typeface="Pretendard"/>
                <a:cs typeface="Pretendard"/>
              </a:defRPr>
            </a:defPPr>
          </a:lstStyle>
          <a:p>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메일을 읽고 근거 찾기</a:t>
            </a:r>
          </a:p>
        </p:txBody>
      </p:sp>
      <p:sp>
        <p:nvSpPr>
          <p:cNvPr id="168" name="gpt-5-mini로 정보 추출 / text-embedding-3-small로 본문 검색"/>
          <p:cNvSpPr txBox="1"/>
          <p:nvPr/>
        </p:nvSpPr>
        <p:spPr>
          <a:xfrm>
            <a:off x="609600" y="3905250"/>
            <a:ext cx="10620375" cy="409575"/>
          </a:xfrm>
          <a:prstGeom prst="rect">
            <a:avLst/>
          </a:prstGeom>
          <a:noFill/>
          <a:ln w="0">
            <a:noFill/>
          </a:ln>
        </p:spPr>
        <p:txBody>
          <a:bodyPr lIns="0" tIns="0" rIns="0" bIns="0" anchor="t">
            <a:noAutofit/>
          </a:bodyPr>
          <a:lstStyle>
            <a:defPPr algn="l">
              <a:defRPr sz="2025" b="0">
                <a:solidFill>
                  <a:srgbClr val="252D2D"/>
                </a:solidFill>
                <a:latin typeface="Pretendard"/>
                <a:ea typeface="Pretendard"/>
                <a:cs typeface="Pretendard"/>
              </a:defRPr>
            </a:defPPr>
          </a:lstStyle>
          <a:p>
            <a:pPr algn="l">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gpt-5-mini로 정보 추출 / text-embedding-3-small로 본문 검색</a:t>
            </a:r>
          </a:p>
        </p:txBody>
      </p:sp>
      <p:sp>
        <p:nvSpPr>
          <p:cNvPr id="169" name="추천과 일정은 확인한 데이터로 계산"/>
          <p:cNvSpPr txBox="1"/>
          <p:nvPr/>
        </p:nvSpPr>
        <p:spPr>
          <a:xfrm>
            <a:off x="609600" y="4562475"/>
            <a:ext cx="10620375" cy="457200"/>
          </a:xfrm>
          <a:prstGeom prst="rect">
            <a:avLst/>
          </a:prstGeom>
          <a:noFill/>
          <a:ln w="0">
            <a:noFill/>
          </a:ln>
        </p:spPr>
        <p:txBody>
          <a:bodyPr lIns="0" tIns="0" rIns="0" bIns="0" anchor="t">
            <a:noAutofit/>
          </a:bodyPr>
          <a:lstStyle>
            <a:defPPr algn="l">
              <a:defRPr sz="2475" b="1">
                <a:solidFill>
                  <a:srgbClr val="25485A"/>
                </a:solidFill>
                <a:latin typeface="Pretendard"/>
                <a:ea typeface="Pretendard"/>
                <a:cs typeface="Pretendard"/>
              </a:defRPr>
            </a:defPPr>
          </a:lstStyle>
          <a:p>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추천과 일정은 확인한 데이터로 계산</a:t>
            </a:r>
          </a:p>
        </p:txBody>
      </p:sp>
      <p:sp>
        <p:nvSpPr>
          <p:cNvPr id="170" name="취향 태그·보정 평점·거리로 추천 / 코드로 시간과 조건 검사"/>
          <p:cNvSpPr txBox="1"/>
          <p:nvPr/>
        </p:nvSpPr>
        <p:spPr>
          <a:xfrm>
            <a:off x="609600" y="5038725"/>
            <a:ext cx="10620375" cy="409575"/>
          </a:xfrm>
          <a:prstGeom prst="rect">
            <a:avLst/>
          </a:prstGeom>
          <a:noFill/>
          <a:ln w="0">
            <a:noFill/>
          </a:ln>
        </p:spPr>
        <p:txBody>
          <a:bodyPr lIns="0" tIns="0" rIns="0" bIns="0" anchor="t">
            <a:noAutofit/>
          </a:bodyPr>
          <a:lstStyle>
            <a:defPPr algn="l">
              <a:defRPr sz="2025" b="0">
                <a:solidFill>
                  <a:srgbClr val="252D2D"/>
                </a:solidFill>
                <a:latin typeface="Pretendard"/>
                <a:ea typeface="Pretendard"/>
                <a:cs typeface="Pretendard"/>
              </a:defRPr>
            </a:defPPr>
          </a:lstStyle>
          <a:p>
            <a:pPr algn="l">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취향 태그·보정 평점·거리로 추천 / 코드로 시간과 조건 검사</a:t>
            </a:r>
          </a:p>
        </p:txBody>
      </p:sp>
      <p:sp>
        <p:nvSpPr>
          <p:cNvPr id="171" name="사용자 행동 학습은 아직 없음 / 실제 추천 만족도는 앞으로 확인"/>
          <p:cNvSpPr txBox="1"/>
          <p:nvPr/>
        </p:nvSpPr>
        <p:spPr>
          <a:xfrm>
            <a:off x="609600" y="5895975"/>
            <a:ext cx="10934700" cy="409575"/>
          </a:xfrm>
          <a:prstGeom prst="rect">
            <a:avLst/>
          </a:prstGeom>
          <a:noFill/>
          <a:ln w="0">
            <a:noFill/>
          </a:ln>
        </p:spPr>
        <p:txBody>
          <a:bodyPr lIns="0" tIns="0" rIns="0" bIns="0" anchor="t">
            <a:noAutofit/>
          </a:bodyPr>
          <a:lstStyle>
            <a:defPPr algn="l">
              <a:defRPr sz="1725" b="0">
                <a:solidFill>
                  <a:srgbClr val="627178"/>
                </a:solidFill>
                <a:latin typeface="Pretendard"/>
                <a:ea typeface="Pretendard"/>
                <a:cs typeface="Pretendard"/>
              </a:defRPr>
            </a:defPPr>
          </a:lstStyle>
          <a:p>
            <a:pPr algn="l">
              <a:defRPr sz="1725" b="0">
                <a:solidFill>
                  <a:srgbClr val="627178"/>
                </a:solidFill>
                <a:latin typeface="Pretendard"/>
                <a:ea typeface="Pretendard"/>
                <a:cs typeface="Pretendard"/>
              </a:defRPr>
            </a:pPr>
            <a:r>
              <a:rPr sz="1725" b="0">
                <a:solidFill>
                  <a:srgbClr val="627178"/>
                </a:solidFill>
                <a:latin typeface="Pretendard"/>
                <a:ea typeface="Pretendard"/>
                <a:cs typeface="Pretendard"/>
              </a:rPr>
              <a:t>사용자 행동 학습은 아직 없음 / 실제 추천 만족도는 앞으로 확인</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75" name="고잉  /  다음 개발"/>
          <p:cNvSpPr txBox="1"/>
          <p:nvPr/>
        </p:nvSpPr>
        <p:spPr>
          <a:xfrm>
            <a:off x="609600" y="285750"/>
            <a:ext cx="10287000" cy="266700"/>
          </a:xfrm>
          <a:prstGeom prst="rect">
            <a:avLst/>
          </a:prstGeom>
          <a:noFill/>
          <a:ln w="0">
            <a:noFill/>
          </a:ln>
        </p:spPr>
        <p:txBody>
          <a:bodyPr lIns="0" tIns="0" rIns="0" bIns="0" anchor="t">
            <a:noAutofit/>
          </a:bodyPr>
          <a:lstStyle>
            <a:defPPr algn="l">
              <a:defRPr sz="1350" b="0">
                <a:solidFill>
                  <a:srgbClr val="627178"/>
                </a:solidFill>
                <a:latin typeface="Pretendard"/>
                <a:ea typeface="Pretendard"/>
                <a:cs typeface="Pretendard"/>
              </a:defRPr>
            </a:defPPr>
          </a:lstStyle>
          <a:p>
            <a:pPr algn="l">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다음 개발</a:t>
            </a:r>
          </a:p>
        </p:txBody>
      </p:sp>
      <p:sp>
        <p:nvSpPr>
          <p:cNvPr id="176" name="직접 써 보며 이어갈 개발"/>
          <p:cNvSpPr txBox="1"/>
          <p:nvPr/>
        </p:nvSpPr>
        <p:spPr>
          <a:xfrm>
            <a:off x="609600" y="809625"/>
            <a:ext cx="11049000" cy="619125"/>
          </a:xfrm>
          <a:prstGeom prst="rect">
            <a:avLst/>
          </a:prstGeom>
          <a:noFill/>
          <a:ln w="0">
            <a:noFill/>
          </a:ln>
        </p:spPr>
        <p:txBody>
          <a:bodyPr lIns="0" tIns="0" rIns="0" bIns="0" anchor="t">
            <a:noAutofit/>
          </a:bodyPr>
          <a:lstStyle>
            <a:defPPr algn="l">
              <a:defRPr sz="3600" b="1">
                <a:solidFill>
                  <a:srgbClr val="252D2D"/>
                </a:solidFill>
                <a:latin typeface="Pretendard"/>
                <a:ea typeface="Pretendard"/>
                <a:cs typeface="Pretendard"/>
              </a:defRPr>
            </a:defPPr>
          </a:lstStyle>
          <a:p>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직접 써 보며 이어갈 개발</a:t>
            </a:r>
          </a:p>
        </p:txBody>
      </p:sp>
      <p:sp>
        <p:nvSpPr>
          <p:cNvPr id="177" name="연결한 사용 흐름을 실제 여행에서 더 확인하려고 합니다"/>
          <p:cNvSpPr txBox="1"/>
          <p:nvPr/>
        </p:nvSpPr>
        <p:spPr>
          <a:xfrm>
            <a:off x="609600" y="1476375"/>
            <a:ext cx="11049000" cy="438150"/>
          </a:xfrm>
          <a:prstGeom prst="rect">
            <a:avLst/>
          </a:prstGeom>
          <a:noFill/>
          <a:ln w="0">
            <a:noFill/>
          </a:ln>
        </p:spPr>
        <p:txBody>
          <a:bodyPr lIns="0" tIns="0" rIns="0" bIns="0" anchor="t">
            <a:noAutofit/>
          </a:bodyPr>
          <a:lstStyle>
            <a:defPPr algn="l">
              <a:defRPr sz="1950" b="0">
                <a:solidFill>
                  <a:srgbClr val="627178"/>
                </a:solidFill>
                <a:latin typeface="Pretendard"/>
                <a:ea typeface="Pretendard"/>
                <a:cs typeface="Pretendard"/>
              </a:defRPr>
            </a:defPPr>
          </a:lstStyle>
          <a:p>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연결한 사용 흐름을 실제 여행에서 더 확인하려고 합니다</a:t>
            </a:r>
          </a:p>
        </p:txBody>
      </p:sp>
      <p:sp>
        <p:nvSpPr>
          <p:cNvPr id="178" name="10"/>
          <p:cNvSpPr txBox="1"/>
          <p:nvPr/>
        </p:nvSpPr>
        <p:spPr>
          <a:xfrm>
            <a:off x="11049000" y="6429375"/>
            <a:ext cx="523875" cy="238125"/>
          </a:xfrm>
          <a:prstGeom prst="rect">
            <a:avLst/>
          </a:prstGeom>
          <a:noFill/>
          <a:ln w="0">
            <a:noFill/>
          </a:ln>
        </p:spPr>
        <p:txBody>
          <a:bodyPr wrap="square" lIns="0" tIns="0" rIns="0" bIns="0" anchor="t">
            <a:noAutofit/>
          </a:bodyPr>
          <a:lstStyle>
            <a:defPPr algn="l">
              <a:defRPr sz="1275" b="0">
                <a:solidFill>
                  <a:srgbClr val="606C70"/>
                </a:solidFill>
                <a:latin typeface="Pretendard"/>
                <a:ea typeface="Pretendard"/>
                <a:cs typeface="Pretendard"/>
              </a:defRPr>
            </a:defPPr>
          </a:lstStyle>
          <a:p>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10</a:t>
            </a:r>
          </a:p>
        </p:txBody>
      </p:sp>
      <p:sp>
        <p:nvSpPr>
          <p:cNvPr id="179" name="지금 연결한 흐름"/>
          <p:cNvSpPr txBox="1"/>
          <p:nvPr/>
        </p:nvSpPr>
        <p:spPr>
          <a:xfrm>
            <a:off x="609600" y="2324100"/>
            <a:ext cx="5143500" cy="523875"/>
          </a:xfrm>
          <a:prstGeom prst="rect">
            <a:avLst/>
          </a:prstGeom>
          <a:noFill/>
          <a:ln w="0">
            <a:noFill/>
          </a:ln>
        </p:spPr>
        <p:txBody>
          <a:bodyPr lIns="0" tIns="0" rIns="0" bIns="0" anchor="t">
            <a:noAutofit/>
          </a:bodyPr>
          <a:lstStyle>
            <a:defPPr algn="l">
              <a:defRPr sz="2550" b="1">
                <a:solidFill>
                  <a:srgbClr val="25485A"/>
                </a:solidFill>
                <a:latin typeface="Pretendard"/>
                <a:ea typeface="Pretendard"/>
                <a:cs typeface="Pretendard"/>
              </a:defRPr>
            </a:defPPr>
          </a:lstStyle>
          <a:p>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지금 연결한 흐름</a:t>
            </a:r>
          </a:p>
        </p:txBody>
      </p:sp>
      <p:sp>
        <p:nvSpPr>
          <p:cNvPr id="180" name="예약 정리와 근거 질문 장소 선택과 일정 편집"/>
          <p:cNvSpPr txBox="1"/>
          <p:nvPr/>
        </p:nvSpPr>
        <p:spPr>
          <a:xfrm>
            <a:off x="609600" y="3000375"/>
            <a:ext cx="5191125" cy="971550"/>
          </a:xfrm>
          <a:prstGeom prst="rect">
            <a:avLst/>
          </a:prstGeom>
          <a:noFill/>
          <a:ln w="0">
            <a:noFill/>
          </a:ln>
        </p:spPr>
        <p:txBody>
          <a:bodyPr lIns="0" tIns="0" rIns="0" bIns="0" anchor="t">
            <a:noAutofit/>
          </a:bodyPr>
          <a:lstStyle>
            <a:defPPr algn="l">
              <a:defRPr sz="2325" b="0">
                <a:solidFill>
                  <a:srgbClr val="252D2D"/>
                </a:solidFill>
                <a:latin typeface="Pretendard"/>
                <a:ea typeface="Pretendard"/>
                <a:cs typeface="Pretendard"/>
              </a:defRPr>
            </a:defPPr>
          </a:lstStyle>
          <a:p>
            <a:pPr algn="l">
              <a:defRPr sz="2325" b="0">
                <a:solidFill>
                  <a:srgbClr val="252D2D"/>
                </a:solidFill>
                <a:latin typeface="Pretendard"/>
                <a:ea typeface="Pretendard"/>
                <a:cs typeface="Pretendard"/>
              </a:defRPr>
            </a:pPr>
            <a:r>
              <a:rPr sz="2325" b="0">
                <a:solidFill>
                  <a:srgbClr val="252D2D"/>
                </a:solidFill>
                <a:latin typeface="Pretendard"/>
                <a:ea typeface="Pretendard"/>
                <a:cs typeface="Pretendard"/>
              </a:rPr>
              <a:t>예약 정리와 근거 질문</a:t>
            </a:r>
            <a:br>
              <a:rPr sz="2325" b="0">
                <a:solidFill>
                  <a:srgbClr val="252D2D"/>
                </a:solidFill>
                <a:latin typeface="Pretendard"/>
                <a:ea typeface="Pretendard"/>
                <a:cs typeface="Pretendard"/>
              </a:rPr>
            </a:br>
            <a:r>
              <a:rPr sz="2325" b="0">
                <a:solidFill>
                  <a:srgbClr val="252D2D"/>
                </a:solidFill>
                <a:latin typeface="Pretendard"/>
                <a:ea typeface="Pretendard"/>
                <a:cs typeface="Pretendard"/>
              </a:rPr>
              <a:t>장소 선택과 일정 편집</a:t>
            </a:r>
          </a:p>
        </p:txBody>
      </p:sp>
      <p:sp>
        <p:nvSpPr>
          <p:cNvPr id="181" name="다음에 확인할 것"/>
          <p:cNvSpPr txBox="1"/>
          <p:nvPr/>
        </p:nvSpPr>
        <p:spPr>
          <a:xfrm>
            <a:off x="6619875" y="2324100"/>
            <a:ext cx="4857750" cy="523875"/>
          </a:xfrm>
          <a:prstGeom prst="rect">
            <a:avLst/>
          </a:prstGeom>
          <a:noFill/>
          <a:ln w="0">
            <a:noFill/>
          </a:ln>
        </p:spPr>
        <p:txBody>
          <a:bodyPr lIns="0" tIns="0" rIns="0" bIns="0" anchor="t">
            <a:noAutofit/>
          </a:bodyPr>
          <a:lstStyle>
            <a:defPPr algn="l">
              <a:defRPr sz="2550" b="1">
                <a:solidFill>
                  <a:srgbClr val="25485A"/>
                </a:solidFill>
                <a:latin typeface="Pretendard"/>
                <a:ea typeface="Pretendard"/>
                <a:cs typeface="Pretendard"/>
              </a:defRPr>
            </a:defPPr>
          </a:lstStyle>
          <a:p>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다음에 확인할 것</a:t>
            </a:r>
          </a:p>
        </p:txBody>
      </p:sp>
      <p:sp>
        <p:nvSpPr>
          <p:cNvPr id="182" name="실제 리뷰의 이용 범위와 언어 품질 다른 사람의 선택과 방문 경험"/>
          <p:cNvSpPr txBox="1"/>
          <p:nvPr/>
        </p:nvSpPr>
        <p:spPr>
          <a:xfrm>
            <a:off x="6619875" y="3000375"/>
            <a:ext cx="4857750" cy="971550"/>
          </a:xfrm>
          <a:prstGeom prst="rect">
            <a:avLst/>
          </a:prstGeom>
          <a:noFill/>
          <a:ln w="0">
            <a:noFill/>
          </a:ln>
        </p:spPr>
        <p:txBody>
          <a:bodyPr lIns="0" tIns="0" rIns="0" bIns="0" anchor="t">
            <a:noAutofit/>
          </a:bodyPr>
          <a:lstStyle>
            <a:defPPr algn="l">
              <a:defRPr sz="2175" b="0">
                <a:solidFill>
                  <a:srgbClr val="252D2D"/>
                </a:solidFill>
                <a:latin typeface="Pretendard"/>
                <a:ea typeface="Pretendard"/>
                <a:cs typeface="Pretendard"/>
              </a:defRPr>
            </a:defPPr>
          </a:lstStyle>
          <a:p>
            <a:pPr algn="l">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실제 리뷰의 이용 범위와 언어 품질</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다른 사람의 선택과 방문 경험</a:t>
            </a:r>
          </a:p>
        </p:txBody>
      </p:sp>
      <p:sp>
        <p:nvSpPr>
          <p:cNvPr id="183" name="도시별 자료와 이동 경로 보강"/>
          <p:cNvSpPr txBox="1"/>
          <p:nvPr/>
        </p:nvSpPr>
        <p:spPr>
          <a:xfrm>
            <a:off x="609600" y="4495800"/>
            <a:ext cx="10953750" cy="590550"/>
          </a:xfrm>
          <a:prstGeom prst="rect">
            <a:avLst/>
          </a:prstGeom>
          <a:noFill/>
          <a:ln w="0">
            <a:noFill/>
          </a:ln>
        </p:spPr>
        <p:txBody>
          <a:bodyPr lIns="0" tIns="0" rIns="0" bIns="0" anchor="t">
            <a:noAutofit/>
          </a:bodyPr>
          <a:lstStyle>
            <a:defPPr algn="l">
              <a:defRPr sz="2625" b="1">
                <a:solidFill>
                  <a:srgbClr val="252D2D"/>
                </a:solidFill>
                <a:latin typeface="Pretendard"/>
                <a:ea typeface="Pretendard"/>
                <a:cs typeface="Pretendard"/>
              </a:defRPr>
            </a:defPPr>
          </a:lstStyle>
          <a:p>
            <a:pPr algn="l">
              <a:defRPr sz="2625" b="1">
                <a:solidFill>
                  <a:srgbClr val="252D2D"/>
                </a:solidFill>
                <a:latin typeface="Pretendard"/>
                <a:ea typeface="Pretendard"/>
                <a:cs typeface="Pretendard"/>
              </a:defRPr>
            </a:pPr>
            <a:r>
              <a:rPr sz="2625" b="1">
                <a:solidFill>
                  <a:srgbClr val="252D2D"/>
                </a:solidFill>
                <a:latin typeface="Pretendard"/>
                <a:ea typeface="Pretendard"/>
                <a:cs typeface="Pretendard"/>
              </a:rPr>
              <a:t>도시별 자료와 이동 경로 보강</a:t>
            </a:r>
          </a:p>
        </p:txBody>
      </p:sp>
      <p:sp>
        <p:nvSpPr>
          <p:cNvPr id="184" name="100개 도시 입력 지원 / 도시별 추천 자료는 확보 수준이 다릅니다"/>
          <p:cNvSpPr txBox="1"/>
          <p:nvPr/>
        </p:nvSpPr>
        <p:spPr>
          <a:xfrm>
            <a:off x="609600" y="5229225"/>
            <a:ext cx="10953750" cy="495300"/>
          </a:xfrm>
          <a:prstGeom prst="rect">
            <a:avLst/>
          </a:prstGeom>
          <a:noFill/>
          <a:ln w="0">
            <a:noFill/>
          </a:ln>
        </p:spPr>
        <p:txBody>
          <a:bodyPr lIns="0" tIns="0" rIns="0" bIns="0" anchor="t">
            <a:noAutofit/>
          </a:bodyPr>
          <a:lstStyle>
            <a:defPPr algn="l">
              <a:defRPr sz="2025" b="0">
                <a:solidFill>
                  <a:srgbClr val="627178"/>
                </a:solidFill>
                <a:latin typeface="Pretendard"/>
                <a:ea typeface="Pretendard"/>
                <a:cs typeface="Pretendard"/>
              </a:defRPr>
            </a:defPPr>
          </a:lstStyle>
          <a:p>
            <a:pPr algn="l">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100개 도시 입력 지원 / 도시별 추천 자료는 확보 수준이 다릅니다</a:t>
            </a:r>
          </a:p>
        </p:txBody>
      </p:sp>
      <p:sp>
        <p:nvSpPr>
          <p:cNvPr id="185" name="마지막으로, 실제 사용 화면을 보여드리겠습니다."/>
          <p:cNvSpPr txBox="1"/>
          <p:nvPr/>
        </p:nvSpPr>
        <p:spPr>
          <a:xfrm>
            <a:off x="609600" y="6057900"/>
            <a:ext cx="10715625" cy="304800"/>
          </a:xfrm>
          <a:prstGeom prst="rect">
            <a:avLst/>
          </a:prstGeom>
          <a:noFill/>
          <a:ln w="0">
            <a:noFill/>
          </a:ln>
        </p:spPr>
        <p:txBody>
          <a:bodyPr lIns="0" tIns="0" rIns="0" bIns="0" anchor="t">
            <a:noAutofit/>
          </a:bodyPr>
          <a:lstStyle>
            <a:defPPr algn="l">
              <a:defRPr sz="1800" b="0">
                <a:solidFill>
                  <a:srgbClr val="25485A"/>
                </a:solidFill>
                <a:latin typeface="Pretendard"/>
                <a:ea typeface="Pretendard"/>
                <a:cs typeface="Pretendard"/>
              </a:defRPr>
            </a:defPPr>
          </a:lstStyle>
          <a:p>
            <a:pPr algn="l">
              <a:defRPr sz="1800" b="0">
                <a:solidFill>
                  <a:srgbClr val="25485A"/>
                </a:solidFill>
                <a:latin typeface="Pretendard"/>
                <a:ea typeface="Pretendard"/>
                <a:cs typeface="Pretendard"/>
              </a:defRPr>
            </a:pPr>
            <a:r>
              <a:rPr sz="1800" b="0">
                <a:solidFill>
                  <a:srgbClr val="25485A"/>
                </a:solidFill>
                <a:latin typeface="Pretendard"/>
                <a:ea typeface="Pretendard"/>
                <a:cs typeface="Pretendard"/>
              </a:rPr>
              <a:t>마지막으로, 실제 사용 화면을 보여드리겠습니다.</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89" name="고잉 사용 화면"/>
          <p:cNvSpPr txBox="1"/>
          <p:nvPr/>
        </p:nvSpPr>
        <p:spPr>
          <a:xfrm>
            <a:off x="609600" y="276225"/>
            <a:ext cx="10972800" cy="561975"/>
          </a:xfrm>
          <a:prstGeom prst="rect">
            <a:avLst/>
          </a:prstGeom>
          <a:noFill/>
          <a:ln w="0">
            <a:noFill/>
          </a:ln>
        </p:spPr>
        <p:txBody>
          <a:bodyPr lIns="0" tIns="0" rIns="0" bIns="0" anchor="t"/>
          <a:lstStyle>
            <a:defPPr algn="l">
              <a:defRPr sz="3150" b="1">
                <a:solidFill>
                  <a:srgbClr val="25485A"/>
                </a:solidFill>
              </a:defRPr>
            </a:defPPr>
          </a:lstStyle>
          <a:p>
            <a:pPr algn="l">
              <a:defRPr sz="3150" b="1">
                <a:solidFill>
                  <a:srgbClr val="25485A"/>
                </a:solidFill>
              </a:defRPr>
            </a:pPr>
            <a:r>
              <a:rPr sz="3150" b="1">
                <a:solidFill>
                  <a:srgbClr val="25485A"/>
                </a:solidFill>
                <a:latin typeface="Pretendard"/>
                <a:ea typeface="Pretendard"/>
                <a:cs typeface="Pretendard"/>
              </a:rPr>
              <a:t>고잉 사용 화면</a:t>
            </a:r>
          </a:p>
        </p:txBody>
      </p:sp>
      <p:pic>
        <p:nvPicPr>
          <p:cNvPr id="190" name="image8.png" descr="image8.png"/>
          <p:cNvPicPr>
            <a:picLocks noChangeAspect="1"/>
          </p:cNvPicPr>
          <p:nvPr/>
        </p:nvPicPr>
        <p:blipFill>
          <a:blip r:embed="rId3">
            <a:extLst/>
          </a:blip>
          <a:stretch>
            <a:fillRect/>
          </a:stretch>
        </p:blipFill>
        <p:spPr>
          <a:xfrm>
            <a:off x="1143000" y="1085850"/>
            <a:ext cx="9906000" cy="5572125"/>
          </a:xfrm>
          <a:prstGeom prst="rect">
            <a:avLst/>
          </a:prstGeom>
          <a:ln w="12700">
            <a:miter lim="400000"/>
          </a:ln>
        </p:spPr>
      </p:pic>
      <p:pic>
        <p:nvPicPr>
          <p:cNvPr id="191" name="70초 고잉 사용 화면. 합성 여행의 실제 화면 캡처를 자막과 함께 편집한 영상입니다." descr="70초 고잉 사용 화면. 합성 여행의 실제 화면 캡처를 자막과 함께 편집한 영상입니다."/>
          <p:cNvPicPr>
            <a:picLocks noChangeAspect="0"/>
          </p:cNvPicPr>
          <p:nvPr>
            <a:videoFile r:link="rId4"/>
            <p:extLst>
              <p:ext uri="{DAA4B4D4-6D71-4841-9C94-3DE7FCFB9230}">
                <p14:media xmlns:p14="http://schemas.microsoft.com/office/powerpoint/2010/main" r:embed="rId5"/>
              </p:ext>
            </p:extLst>
          </p:nvPr>
        </p:nvPicPr>
        <p:blipFill>
          <a:blip r:embed="rId6">
            <a:extLst/>
          </a:blip>
          <a:stretch>
            <a:fillRect/>
          </a:stretch>
        </p:blipFill>
        <p:spPr>
          <a:xfrm>
            <a:off x="0" y="0"/>
            <a:ext cx="12192000"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mediacall" nodeType="clickEffect" presetSubtype="0" presetID="1" grpId="1" fill="hold">
                                  <p:stCondLst>
                                    <p:cond delay="0"/>
                                  </p:stCondLst>
                                  <p:childTnLst>
                                    <p:cmd type="call" cmd="playFrom(0.0)">
                                      <p:cBhvr>
                                        <p:cTn id="6" dur="70000" fill="hold"/>
                                        <p:tgtEl>
                                          <p:spTgt spid="191"/>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100000">
                <p:cTn id="7" fill="hold" display="0">
                  <p:stCondLst>
                    <p:cond delay="indefinite"/>
                  </p:stCondLst>
                </p:cTn>
                <p:tgtEl>
                  <p:spTgt spid="191"/>
                </p:tgtEl>
              </p:cMediaNode>
            </p:video>
            <p:seq concurrent="1" prevAc="none" nextAc="seek">
              <p:cTn id="8" evtFilter="cancelBubble" nodeType="interactiveSeq" restart="whenNotActive" fill="hold">
                <p:stCondLst>
                  <p:cond delay="0" evt="onClick">
                    <p:tgtEl>
                      <p:spTgt spid="191"/>
                    </p:tgtEl>
                  </p:cond>
                </p:stCondLst>
                <p:endSync delay="0" evt="end">
                  <p:rtn val="all"/>
                </p:endSync>
                <p:childTnLst>
                  <p:par>
                    <p:cTn id="9" fill="hold">
                      <p:stCondLst>
                        <p:cond delay="0"/>
                      </p:stCondLst>
                      <p:childTnLst>
                        <p:par>
                          <p:cTn id="10" fill="hold">
                            <p:stCondLst>
                              <p:cond delay="0"/>
                            </p:stCondLst>
                            <p:childTnLst>
                              <p:par>
                                <p:cTn id="11" presetClass="mediacall" nodeType="clickEffect" presetSubtype="0" presetID="2" fill="hold">
                                  <p:stCondLst>
                                    <p:cond delay="0"/>
                                  </p:stCondLst>
                                  <p:childTnLst>
                                    <p:cmd type="call" cmd="togglePause">
                                      <p:cBhvr>
                                        <p:cTn id="12" dur="1" fill="hold"/>
                                        <p:tgtEl>
                                          <p:spTgt spid="191"/>
                                        </p:tgtEl>
                                      </p:cBhvr>
                                    </p:cmd>
                                  </p:childTnLst>
                                </p:cTn>
                              </p:par>
                            </p:childTnLst>
                          </p:cTn>
                        </p:par>
                      </p:childTnLst>
                    </p:cTn>
                  </p:par>
                </p:childTnLst>
              </p:cTn>
              <p:nextCondLst>
                <p:cond delay="0" evt="onClick">
                  <p:tgtEl>
                    <p:spTgt spid="191"/>
                  </p:tgtEl>
                </p:cond>
              </p:nextCondLst>
            </p:seq>
          </p:childTnLst>
        </p:cTn>
      </p:par>
    </p:tnLst>
  </p:timing>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Pretendard"/>
        <a:ea typeface="Pretendard"/>
        <a:cs typeface="Pretendard"/>
      </a:majorFont>
      <a:minorFont>
        <a:latin typeface="Pretendard"/>
        <a:ea typeface="Pretendard"/>
        <a:cs typeface="Pretendard"/>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905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Pretendard"/>
        <a:ea typeface="Pretendard"/>
        <a:cs typeface="Pretendard"/>
      </a:majorFont>
      <a:minorFont>
        <a:latin typeface="Pretendard"/>
        <a:ea typeface="Pretendard"/>
        <a:cs typeface="Pretendard"/>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905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Pretendard"/>
            <a:ea typeface="Pretendard"/>
            <a:cs typeface="Pretendard"/>
            <a:sym typeface="Pretendard"/>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