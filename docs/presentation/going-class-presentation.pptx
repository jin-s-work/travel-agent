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d41952b01ec4827" /><Relationship Type="http://schemas.openxmlformats.org/officeDocument/2006/relationships/extended-properties" Target="/docProps/app.xml" Id="Rf5d9d6c7d6d44c02" /><Relationship Type="http://schemas.openxmlformats.org/officeDocument/2006/relationships/officeDocument" Target="/ppt/presentation.xml" Id="Rc961fda277014af8" /></Relationships>
</file>

<file path=ppt/presentation.xml><?xml version="1.0" encoding="utf-8"?>
<p:presentation xmlns:p="http://schemas.openxmlformats.org/presentationml/2006/main">
  <p:sldMasterIdLst>
    <p:sldMasterId xmlns:r="http://schemas.openxmlformats.org/officeDocument/2006/relationships" id="2147483648" r:id="Rf714e164d70c4b38"/>
  </p:sldMasterIdLst>
  <p:notesMasterIdLst>
    <p:notesMasterId xmlns:r="http://schemas.openxmlformats.org/officeDocument/2006/relationships" r:id="R30505cfb5f034e75"/>
  </p:notesMasterIdLst>
  <p:sldIdLst>
    <p:sldId xmlns:r="http://schemas.openxmlformats.org/officeDocument/2006/relationships" id="256" r:id="R1b17437b5efa427a"/>
    <p:sldId xmlns:r="http://schemas.openxmlformats.org/officeDocument/2006/relationships" id="257" r:id="Re28a40272b254ce3"/>
    <p:sldId xmlns:r="http://schemas.openxmlformats.org/officeDocument/2006/relationships" id="258" r:id="R52b25ebeca8343d8"/>
    <p:sldId xmlns:r="http://schemas.openxmlformats.org/officeDocument/2006/relationships" id="259" r:id="R3d41daf9852f42c2"/>
    <p:sldId xmlns:r="http://schemas.openxmlformats.org/officeDocument/2006/relationships" id="260" r:id="Rbc1e3d891c094bb6"/>
    <p:sldId xmlns:r="http://schemas.openxmlformats.org/officeDocument/2006/relationships" id="261" r:id="Rd88514760bd74f60"/>
    <p:sldId xmlns:r="http://schemas.openxmlformats.org/officeDocument/2006/relationships" id="262" r:id="Rf670e793d0194774"/>
    <p:sldId xmlns:r="http://schemas.openxmlformats.org/officeDocument/2006/relationships" id="263" r:id="Rac5418f7ac2a49ee"/>
    <p:sldId xmlns:r="http://schemas.openxmlformats.org/officeDocument/2006/relationships" id="264" r:id="Ra97fa64a64a046b6"/>
    <p:sldId xmlns:r="http://schemas.openxmlformats.org/officeDocument/2006/relationships" id="265" r:id="R5f41b9857390433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f0a127633074242" /><Relationship Type="http://schemas.openxmlformats.org/officeDocument/2006/relationships/slideMaster" Target="/ppt/slideMasters/slideMaster1.xml" Id="Rf714e164d70c4b38" /><Relationship Type="http://schemas.openxmlformats.org/officeDocument/2006/relationships/notesMaster" Target="/ppt/notesMasters/notesMaster1.xml" Id="R30505cfb5f034e75" /><Relationship Type="http://schemas.openxmlformats.org/officeDocument/2006/relationships/presProps" Target="/ppt/presProps.xml" Id="R88cbdfa227684b92" /><Relationship Type="http://schemas.openxmlformats.org/officeDocument/2006/relationships/tableStyles" Target="/ppt/tableStyles.xml" Id="Ref1cd442b746400a" /><Relationship Type="http://schemas.openxmlformats.org/officeDocument/2006/relationships/slide" Target="/ppt/slides/slide1.xml" Id="R1b17437b5efa427a" /><Relationship Type="http://schemas.openxmlformats.org/officeDocument/2006/relationships/slide" Target="/ppt/slides/slide2.xml" Id="Re28a40272b254ce3" /><Relationship Type="http://schemas.openxmlformats.org/officeDocument/2006/relationships/slide" Target="/ppt/slides/slide3.xml" Id="R52b25ebeca8343d8" /><Relationship Type="http://schemas.openxmlformats.org/officeDocument/2006/relationships/slide" Target="/ppt/slides/slide4.xml" Id="R3d41daf9852f42c2" /><Relationship Type="http://schemas.openxmlformats.org/officeDocument/2006/relationships/slide" Target="/ppt/slides/slide5.xml" Id="Rbc1e3d891c094bb6" /><Relationship Type="http://schemas.openxmlformats.org/officeDocument/2006/relationships/slide" Target="/ppt/slides/slide6.xml" Id="Rd88514760bd74f60" /><Relationship Type="http://schemas.openxmlformats.org/officeDocument/2006/relationships/slide" Target="/ppt/slides/slide7.xml" Id="Rf670e793d0194774" /><Relationship Type="http://schemas.openxmlformats.org/officeDocument/2006/relationships/slide" Target="/ppt/slides/slide8.xml" Id="Rac5418f7ac2a49ee" /><Relationship Type="http://schemas.openxmlformats.org/officeDocument/2006/relationships/slide" Target="/ppt/slides/slide9.xml" Id="Ra97fa64a64a046b6" /><Relationship Type="http://schemas.openxmlformats.org/officeDocument/2006/relationships/slide" Target="/ppt/slides/slide10.xml" Id="R5f41b9857390433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0bd008112c74dc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Pretendard"/>
        <a:ea typeface=""/>
        <a:cs typeface=""/>
      </a:majorFont>
      <a:minorFont>
        <a:latin typeface="Pretendar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1aa01036c3f4f34" /><Relationship Type="http://schemas.openxmlformats.org/officeDocument/2006/relationships/notesMaster" Target="/ppt/notesMasters/notesMaster1.xml" Id="R50f09a62dfab4372" /></Relationships>
</file>

<file path=ppt/notesSlides/_rels/notesSlide2.xml.rels>&#65279;<?xml version="1.0" encoding="utf-8"?><Relationships xmlns="http://schemas.openxmlformats.org/package/2006/relationships"><Relationship Type="http://schemas.openxmlformats.org/officeDocument/2006/relationships/slide" Target="/ppt/slides/slide2.xml" Id="R1913061c5ddd4f17" /><Relationship Type="http://schemas.openxmlformats.org/officeDocument/2006/relationships/notesMaster" Target="/ppt/notesMasters/notesMaster1.xml" Id="Rcb9f948416434484" /></Relationships>
</file>

<file path=ppt/notesSlides/_rels/notesSlide3.xml.rels>&#65279;<?xml version="1.0" encoding="utf-8"?><Relationships xmlns="http://schemas.openxmlformats.org/package/2006/relationships"><Relationship Type="http://schemas.openxmlformats.org/officeDocument/2006/relationships/slide" Target="/ppt/slides/slide3.xml" Id="R8994ace880554bac" /><Relationship Type="http://schemas.openxmlformats.org/officeDocument/2006/relationships/notesMaster" Target="/ppt/notesMasters/notesMaster1.xml" Id="Rfbd4e06015e44954" /></Relationships>
</file>

<file path=ppt/notesSlides/_rels/notesSlide4.xml.rels>&#65279;<?xml version="1.0" encoding="utf-8"?><Relationships xmlns="http://schemas.openxmlformats.org/package/2006/relationships"><Relationship Type="http://schemas.openxmlformats.org/officeDocument/2006/relationships/slide" Target="/ppt/slides/slide4.xml" Id="Rdd97da2968ee44f7" /><Relationship Type="http://schemas.openxmlformats.org/officeDocument/2006/relationships/notesMaster" Target="/ppt/notesMasters/notesMaster1.xml" Id="Rd997e46209ca4a43" /></Relationships>
</file>

<file path=ppt/notesSlides/_rels/notesSlide5.xml.rels>&#65279;<?xml version="1.0" encoding="utf-8"?><Relationships xmlns="http://schemas.openxmlformats.org/package/2006/relationships"><Relationship Type="http://schemas.openxmlformats.org/officeDocument/2006/relationships/slide" Target="/ppt/slides/slide5.xml" Id="R0bdad908d36d41d7" /><Relationship Type="http://schemas.openxmlformats.org/officeDocument/2006/relationships/notesMaster" Target="/ppt/notesMasters/notesMaster1.xml" Id="Rec51753e1b684032" /></Relationships>
</file>

<file path=ppt/notesSlides/_rels/notesSlide6.xml.rels>&#65279;<?xml version="1.0" encoding="utf-8"?><Relationships xmlns="http://schemas.openxmlformats.org/package/2006/relationships"><Relationship Type="http://schemas.openxmlformats.org/officeDocument/2006/relationships/slide" Target="/ppt/slides/slide6.xml" Id="R32186b38cfa54e6e" /><Relationship Type="http://schemas.openxmlformats.org/officeDocument/2006/relationships/notesMaster" Target="/ppt/notesMasters/notesMaster1.xml" Id="R658f606fcfec4038" /></Relationships>
</file>

<file path=ppt/notesSlides/_rels/notesSlide7.xml.rels>&#65279;<?xml version="1.0" encoding="utf-8"?><Relationships xmlns="http://schemas.openxmlformats.org/package/2006/relationships"><Relationship Type="http://schemas.openxmlformats.org/officeDocument/2006/relationships/slide" Target="/ppt/slides/slide7.xml" Id="Rf6d76ec14645403c" /><Relationship Type="http://schemas.openxmlformats.org/officeDocument/2006/relationships/notesMaster" Target="/ppt/notesMasters/notesMaster1.xml" Id="Rf800b63ca53d4182" /></Relationships>
</file>

<file path=ppt/notesSlides/_rels/notesSlide8.xml.rels>&#65279;<?xml version="1.0" encoding="utf-8"?><Relationships xmlns="http://schemas.openxmlformats.org/package/2006/relationships"><Relationship Type="http://schemas.openxmlformats.org/officeDocument/2006/relationships/slide" Target="/ppt/slides/slide8.xml" Id="Raadf271c580b42b7" /><Relationship Type="http://schemas.openxmlformats.org/officeDocument/2006/relationships/notesMaster" Target="/ppt/notesMasters/notesMaster1.xml" Id="Rb0adca20eda742aa" /></Relationships>
</file>

<file path=ppt/notesSlides/_rels/notesSlide9.xml.rels>&#65279;<?xml version="1.0" encoding="utf-8"?><Relationships xmlns="http://schemas.openxmlformats.org/package/2006/relationships"><Relationship Type="http://schemas.openxmlformats.org/officeDocument/2006/relationships/slide" Target="/ppt/slides/slide9.xml" Id="R3c1a49b8f49b43a5" /><Relationship Type="http://schemas.openxmlformats.org/officeDocument/2006/relationships/notesMaster" Target="/ppt/notesMasters/notesMaster1.xml" Id="R2ff7f09b82b84c5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dccfa9cddf541d2" /><Relationship Type="http://schemas.openxmlformats.org/officeDocument/2006/relationships/notesMaster" Target="/ppt/notesMasters/notesMaster1.xml" Id="Rd6e6070f5459403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시간 30초]</a:t>
            </a:r>
          </a:p>
          <a:p xmlns:a="http://schemas.openxmlformats.org/drawingml/2006/main">
            <a:r>
              <a:t>안녕하세요. 이번에 만든 여행 준비 서비스, 고잉을 소개하겠습니다. 여행을 준비하다 보면 항공권이나 숙소는 이미 예약했는데, 막상 필요한 정보를 찾으려고 하면 메일함과 지도, 메모를 다시 오가게 됩니다. 고잉은 이렇게 흩어진 정보를 한 여행 안에 모으고, 가고 싶은 장소를 실제 일정으로 연결해 보자는 생각에서 시작했습니다. 오늘은 어떤 문제를 해결하려고 했는지, 실제 화면은 어떻게 동작하는지, 그리고 만들면서 어떤 부분을 고쳤는지 순서대로 말씀드리겠습니다.</a:t>
            </a:r>
          </a:p>
          <a:p xmlns:a="http://schemas.openxmlformats.org/drawingml/2006/main">
            <a:r>
              <a:t/>
            </a:r>
          </a:p>
          <a:p xmlns:a="http://schemas.openxmlformats.org/drawingml/2006/main">
            <a:r>
              <a:t>[근거·검증 범위 / 낭독하지 않음]</a:t>
            </a:r>
          </a:p>
          <a:p xmlns:a="http://schemas.openxmlformats.org/drawingml/2006/main">
            <a:r>
              <a:t>https://github.com/Jin-s-work/Travel-Agent/blob/main/README.md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시간 45초]</a:t>
            </a:r>
          </a:p>
          <a:p xmlns:a="http://schemas.openxmlformats.org/drawingml/2006/main">
            <a:r>
              <a:t>예를 들어 체크아웃 시간이 궁금하면 숙소 확인 메일을 다시 찾아야 합니다. 식당을 고를 때는 지도에서 위치를 보고, 예약이 필요한지 다른 사이트를 확인하고, 정해 둔 일정과 겹치지는 않는지 또 비교해야 합니다. 하나씩 보면 어려운 일은 아닌데, 여행을 준비하는 동안 계속 반복됩니다. 그래서 처음에는 예약 메일을 읽고 질문에 답해 주는 기능부터 만들었습니다. 이후에 실제로 써 보면서, 예약을 정리하는 것만으로는 여행 준비가 끝나지 않는다는 생각이 들었습니다. 그래서 장소 탐색과 일정 편집까지 같은 여행 안에서 이어지도록 기능을 확장했습니다.</a:t>
            </a:r>
          </a:p>
          <a:p xmlns:a="http://schemas.openxmlformats.org/drawingml/2006/main">
            <a:r>
              <a:t/>
            </a:r>
          </a:p>
          <a:p xmlns:a="http://schemas.openxmlformats.org/drawingml/2006/main">
            <a:r>
              <a:t>[근거·검증 범위 / 낭독하지 않음]</a:t>
            </a:r>
          </a:p>
          <a:p xmlns:a="http://schemas.openxmlformats.org/drawingml/2006/main">
            <a:r>
              <a:t>https://github.com/Jin-s-work/Travel-Agent/blob/main/docs/service-v3/PRD.md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시간 45초]</a:t>
            </a:r>
          </a:p>
          <a:p xmlns:a="http://schemas.openxmlformats.org/drawingml/2006/main">
            <a:r>
              <a:t>이 화면이 지금의 홈입니다. 여행을 만들 때는 우선 도시와 날짜를 입력합니다. 그다음에는 예약 메일을 올리거나, 가고 싶은 곳을 찾거나, 하루 일정을 만들 수 있습니다. 상단에는 선택한 여행과 기간을 계속 보여 줍니다. 기능이 늘면서 입력해야 할 항목도 많아졌는데, 같은 도시와 날짜를 화면마다 반복해서 입력하는 게 가장 번거로웠습니다. 그래서 여행에 이미 있는 정보는 다음 화면에서 그대로 이어받게 바꿨습니다. 숙소가 아직 정해지지 않았어도 여행과 장소 탐색을 시작할 수 있고, 필요한 조건만 나중에 추가할 수 있습니다.</a:t>
            </a:r>
          </a:p>
          <a:p xmlns:a="http://schemas.openxmlformats.org/drawingml/2006/main">
            <a:r>
              <a:t/>
            </a:r>
          </a:p>
          <a:p xmlns:a="http://schemas.openxmlformats.org/drawingml/2006/main">
            <a:r>
              <a:t>[근거·검증 범위 / 낭독하지 않음]</a:t>
            </a:r>
          </a:p>
          <a:p xmlns:a="http://schemas.openxmlformats.org/drawingml/2006/main">
            <a:r>
              <a:t>https://github.com/Jin-s-work/Travel-Agent/blob/main/web/index.html</a:t>
            </a:r>
          </a:p>
          <a:p xmlns:a="http://schemas.openxmlformats.org/drawingml/2006/main">
            <a:r>
              <a:t>https://github.com/Jin-s-work/Travel-Agent/blob/main/web/js/foundation.js</a:t>
            </a:r>
          </a:p>
          <a:p xmlns:a="http://schemas.openxmlformats.org/drawingml/2006/main">
            <a:r>
              <a:t>화면은 현재 코드와 합성 계정·메일·예약으로 촬영. 실제 운영 개인 자료를 공개하지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시간 60초]</a:t>
            </a:r>
          </a:p>
          <a:p xmlns:a="http://schemas.openxmlformats.org/drawingml/2006/main">
            <a:r>
              <a:t>메일은 텍스트나 eml 파일로 올릴 수 있습니다. 운영에서는 OpenAI의 gpt-5-mini로 예약 정보를 구조화하고, text-embedding-3-small로 검색에 필요한 벡터를 만듭니다. 중요한 건 AI가 뽑은 값을 바로 정답으로 취급하지 않는다는 점입니다. 한 메일에 예약이 여러 개 있으면 각각 저장하고, 왕복 항공편은 출발과 귀국 구간을 나눕니다. 사용자가 시간을 고치면 원문에서 추출한 값과 교정한 값을 따로 보관합니다. 그래서 나중에 다시 분석하더라도 사용자가 수정한 내용이 조용히 사라지지 않습니다. 화면의 메일과 예약은 발표를 위해 만든 예시 데이터입니다. 이 촬영에서는 비용 없는 기본 분석을 사용했고, 운영 AI 분석의 실행 여부는 별도 검증 기록으로 구분했습니다.</a:t>
            </a:r>
          </a:p>
          <a:p xmlns:a="http://schemas.openxmlformats.org/drawingml/2006/main">
            <a:r>
              <a:t/>
            </a:r>
          </a:p>
          <a:p xmlns:a="http://schemas.openxmlformats.org/drawingml/2006/main">
            <a:r>
              <a:t>[근거·검증 범위 / 낭독하지 않음]</a:t>
            </a:r>
          </a:p>
          <a:p xmlns:a="http://schemas.openxmlformats.org/drawingml/2006/main">
            <a:r>
              <a:t>https://github.com/Jin-s-work/Travel-Agent/blob/main/src/foundation/documents.py</a:t>
            </a:r>
          </a:p>
          <a:p xmlns:a="http://schemas.openxmlformats.org/drawingml/2006/main">
            <a:r>
              <a:t>https://github.com/Jin-s-work/Travel-Agent/blob/main/docs/service-v3/reports/journey-layout-openai-validation.md</a:t>
            </a:r>
          </a:p>
          <a:p xmlns:a="http://schemas.openxmlformats.org/drawingml/2006/main">
            <a:r>
              <a:t>화면은 현재 코드와 합성 계정·메일·예약으로 촬영. 실제 운영 개인 자료를 공개하지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시간 60초]</a:t>
            </a:r>
          </a:p>
          <a:p xmlns:a="http://schemas.openxmlformats.org/drawingml/2006/main">
            <a:r>
              <a:t>예약을 모았으면 자연어로 질문할 수 있습니다. 예를 들어 둘째 날에 어떤 예약이 있는지 물으면, 해당 날짜를 계산하고 저장된 예약을 조회해서 답합니다. 여기서 실제로 문제가 한 번 있었습니다. 처음에는 날짜 질문도 의미가 비슷한 문서를 몇 개 찾는 방식으로 처리했는데, 그러면 하루 예약이 여덟 개 있어도 일부가 검색 결과 밖으로 빠질 수 있습니다. 그래서 하루 전체를 묻는 질문은 SQL 날짜 범위 조회로 바꿨습니다. 사용자가 직접 넣은 예약도 같이 포함합니다. 환불 규정처럼 원문의 설명이 필요한 질문은 검색한 근거를 사용하고, 답변 아래에서 어느 메일을 참고했는지 확인할 수 있게 했습니다. 근거가 없는 내용은 추측해서 채우지 않는 것이 기본 원칙입니다.</a:t>
            </a:r>
          </a:p>
          <a:p xmlns:a="http://schemas.openxmlformats.org/drawingml/2006/main">
            <a:r>
              <a:t/>
            </a:r>
          </a:p>
          <a:p xmlns:a="http://schemas.openxmlformats.org/drawingml/2006/main">
            <a:r>
              <a:t>[근거·검증 범위 / 낭독하지 않음]</a:t>
            </a:r>
          </a:p>
          <a:p xmlns:a="http://schemas.openxmlformats.org/drawingml/2006/main">
            <a:r>
              <a:t>https://github.com/Jin-s-work/Travel-Agent/blob/main/src/foundation/search.py</a:t>
            </a:r>
          </a:p>
          <a:p xmlns:a="http://schemas.openxmlformats.org/drawingml/2006/main">
            <a:r>
              <a:t>https://github.com/Jin-s-work/Travel-Agent/blob/main/docs/service-v2/FOUNDATION_RUNBOOK.md</a:t>
            </a:r>
          </a:p>
          <a:p xmlns:a="http://schemas.openxmlformats.org/drawingml/2006/main">
            <a:r>
              <a:t>화면은 현재 코드와 합성 계정·메일·예약으로 촬영. 실제 운영 개인 자료를 공개하지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시간 55초]</a:t>
            </a:r>
          </a:p>
          <a:p xmlns:a="http://schemas.openxmlformats.org/drawingml/2006/main">
            <a:r>
              <a:t>장소 탐색은 현지 분위기의 식당을 찾는 경우와, 그 도시의 대표 명소를 가고 싶은 경우를 나눴습니다. 음식점이나 카페 같은 장소 종류는 별도로 고를 수 있습니다. 카드에서는 사진과 추천 이유, 확인해야 할 정보를 보고, 상세 화면에서 주소와 출처를 확인합니다. 사진은 권한과 지점을 확인한 자료가 있는 곳에만 표시합니다. 숙소가 등록되고 위치까지 확인되면 숙소를 기준으로 거리 조건을 적용할 수 있습니다. 다만 직선거리와 실제 도보시간은 다른 값으로 다룹니다. 현재 운영에서는 무료 공개지도 검색과 저장된 자료를 함께 사용하고, 정확한 도보 경로처럼 별도 공급자가 필요한 기능은 아직 제한이 있습니다.</a:t>
            </a:r>
          </a:p>
          <a:p xmlns:a="http://schemas.openxmlformats.org/drawingml/2006/main">
            <a:r>
              <a:t/>
            </a:r>
          </a:p>
          <a:p xmlns:a="http://schemas.openxmlformats.org/drawingml/2006/main">
            <a:r>
              <a:t>[근거·검증 범위 / 낭독하지 않음]</a:t>
            </a:r>
          </a:p>
          <a:p xmlns:a="http://schemas.openxmlformats.org/drawingml/2006/main">
            <a:r>
              <a:t>https://github.com/Jin-s-work/Travel-Agent/blob/main/docs/service-v3/reports/going-design-search-validation.md</a:t>
            </a:r>
          </a:p>
          <a:p xmlns:a="http://schemas.openxmlformats.org/drawingml/2006/main">
            <a:r>
              <a:t>https://github.com/Jin-s-work/Travel-Agent/blob/main/src/discovery/restaurant_photos.json</a:t>
            </a:r>
          </a:p>
          <a:p xmlns:a="http://schemas.openxmlformats.org/drawingml/2006/main">
            <a:r>
              <a:t>화면은 현재 코드와 합성 계정·메일·예약으로 촬영. 실제 운영 개인 자료를 공개하지 않음.</a:t>
            </a:r>
          </a:p>
          <a:p xmlns:a="http://schemas.openxmlformats.org/drawingml/2006/main">
            <a:r>
              <a:t>사진: Javier Lastras, Barra de Casa Lucio, CC BY 2.0 https://commons.wikimedia.org/wiki/File:Barra_de_Casa_Lucio_(4245090907).jpg https://creativecommons.org/licenses/by/2.0/</a:t>
            </a:r>
          </a:p>
          <a:p xmlns:a="http://schemas.openxmlformats.org/drawingml/2006/main">
            <a:r>
              <a:t>사진: Tamorlan, Gallina en Pepitoria (Ciriaco), CC BY-SA 3.0 https://commons.wikimedia.org/wiki/File:Gallina_en_Pepitoria_(Ciriaco).JPG https://creativecommons.org/licenses/by-sa/3.0/</a:t>
            </a:r>
          </a:p>
          <a:p xmlns:a="http://schemas.openxmlformats.org/drawingml/2006/main">
            <a:r>
              <a:t>사진은 앱 화면 내 크기 조정·크롭. 사진에 대한 원 라이선스를 유지. 상세 CREDITS.md 참조.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시간 50초]</a:t>
            </a:r>
          </a:p>
          <a:p xmlns:a="http://schemas.openxmlformats.org/drawingml/2006/main">
            <a:r>
              <a:t>처음 구상한 차별점은 현지 언어 리뷰가 많고 한국어 리뷰는 적은 장소를 찾는 것이었습니다. 그런데 여기에는 조심해야 할 부분이 있습니다. 일본어 리뷰가 많다고 해서 작성자가 모두 일본에 사는 주민이라고 말할 수는 없습니다. 수집한 일부 리뷰를 전체 리뷰의 비율처럼 보여 줘도 안 됩니다. 그래서 원문을 확보했는지, 언어를 판별할 수 있었는지, 언제까지 몇 건을 관측했는지를 따로 관리하도록 만들었습니다. 언어를 모르겠는 리뷰도 분모에서 숨기지 않습니다. 이 분석 도구와 계산 로직은 구현했지만, 실제 수집과 이용 범위, 언어 품질 검증을 통과하기 전까지 엄격한 리뷰 기반 추천은 꺼 두었습니다. 지금 화면에 없는 근거를 만들어 보여 주지는 않습니다.</a:t>
            </a:r>
          </a:p>
          <a:p xmlns:a="http://schemas.openxmlformats.org/drawingml/2006/main">
            <a:r>
              <a:t/>
            </a:r>
          </a:p>
          <a:p xmlns:a="http://schemas.openxmlformats.org/drawingml/2006/main">
            <a:r>
              <a:t>[근거·검증 범위 / 낭독하지 않음]</a:t>
            </a:r>
          </a:p>
          <a:p xmlns:a="http://schemas.openxmlformats.org/drawingml/2006/main">
            <a:r>
              <a:t>https://github.com/Jin-s-work/Travel-Agent/blob/main/docs/service-v2/REVIEW_DATA_SPEC.md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시간 60초]</a:t>
            </a:r>
          </a:p>
          <a:p xmlns:a="http://schemas.openxmlformats.org/drawingml/2006/main">
            <a:r>
              <a:t>일정을 만들 때는 이미 확정한 예약부터 배치합니다. 그 사이의 빈 시간에 선택한 장소를 넣을 수 있는지 확인합니다. 머무르는 시간만 맞으면 되는 게 아니라, 이전 장소에서 오는 시간과 다음 예약으로 가는 시간까지 함께 봐야 합니다. 이동시간이나 영업 여부를 모르면 기본적으로는 배치를 보류하고, 사용자가 잠정 초안을 허용했을 때만 미확인 표시와 함께 넣습니다. 편집도 먼저 미리보기를 보여 줍니다. 뒤 일정이나 예약에 어떤 영향을 주는지 확인한 뒤 적용하고, 마음에 들지 않으면 되돌릴 수 있습니다. 되돌리기도 과거 상태를 무조건 복구하는 게 아니라 현재 조건을 다시 검사합니다. 그리고 일정에서 항목을 지워도 실제 외부 예약이 취소되는 것은 아닙니다.</a:t>
            </a:r>
          </a:p>
          <a:p xmlns:a="http://schemas.openxmlformats.org/drawingml/2006/main">
            <a:r>
              <a:t/>
            </a:r>
          </a:p>
          <a:p xmlns:a="http://schemas.openxmlformats.org/drawingml/2006/main">
            <a:r>
              <a:t>[근거·검증 범위 / 낭독하지 않음]</a:t>
            </a:r>
          </a:p>
          <a:p xmlns:a="http://schemas.openxmlformats.org/drawingml/2006/main">
            <a:r>
              <a:t>https://github.com/Jin-s-work/Travel-Agent/blob/main/docs/service-v2/ITINERARY_RUNBOOK.md</a:t>
            </a:r>
          </a:p>
          <a:p xmlns:a="http://schemas.openxmlformats.org/drawingml/2006/main">
            <a:r>
              <a:t>화면은 현재 코드와 합성 계정·메일·예약으로 촬영. 실제 운영 개인 자료를 공개하지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시간 55초]</a:t>
            </a:r>
          </a:p>
          <a:p xmlns:a="http://schemas.openxmlformats.org/drawingml/2006/main">
            <a:r>
              <a:t>기능을 늘리는 것만큼, 중간에 실패해도 다시 사용할 수 있게 만드는 데 시간이 들었습니다. 오래 걸리는 분석은 작업 번호와 상태를 DB에 저장해서 새로고침해도 이어서 확인할 수 있게 했습니다. 무료 서버의 로컬 디스크에만 저장하면 재시작 때 자료가 사라질 수 있어서, 운영 데이터는 Supabase에 보관하도록 바꿨습니다. 장소 검색이 계속 실패했던 문제도 있었는데, 단순히 한도가 소진됐다는 안내를 반복하는 대신 실제 오류를 조사했습니다. 운영 서버에서 기존 지도 서버로 연결이 거절되는 것을 확인했고, 무료 Photon 검색으로 바꾼 뒤 런던 지점 50곳을 받아 음식점 12곳을 화면에 표시했습니다. 다시 찾을 때는 유효한 자료를 재사용해서 불필요한 외부 호출을 줄였습니다.</a:t>
            </a:r>
          </a:p>
          <a:p xmlns:a="http://schemas.openxmlformats.org/drawingml/2006/main">
            <a:r>
              <a:t/>
            </a:r>
          </a:p>
          <a:p xmlns:a="http://schemas.openxmlformats.org/drawingml/2006/main">
            <a:r>
              <a:t>[근거·검증 범위 / 낭독하지 않음]</a:t>
            </a:r>
          </a:p>
          <a:p xmlns:a="http://schemas.openxmlformats.org/drawingml/2006/main">
            <a:r>
              <a:t>https://github.com/Jin-s-work/Travel-Agent/blob/main/docs/operations/RENDER_SUPABASE.md</a:t>
            </a:r>
          </a:p>
          <a:p xmlns:a="http://schemas.openxmlformats.org/drawingml/2006/main">
            <a:r>
              <a:t>https://github.com/Jin-s-work/Travel-Agent/blob/main/docs/service-v3/reports/going-design-search-validation.md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[목표 시간 50초]</a:t>
            </a:r>
          </a:p>
          <a:p xmlns:a="http://schemas.openxmlformats.org/drawingml/2006/main">
            <a:r>
              <a:t>현재는 초대한 소수 사용자가 접속하는 비공개 베타로 배포했습니다. 여행과 예약 관리, 장소 탐색, 일정 생성과 편집까지 한 흐름으로 연결했습니다. 최근 전체 회귀 시험은 Python 1,039개와 JavaScript 124개가 통과했고, 외부 환경이 필요한 시험 15개는 건너뛴 상태로 따로 기록했습니다. 그렇다고 추천 품질까지 검증됐다는 뜻은 아닙니다. 100개 도시를 선택할 수 있지만 도시마다 확보한 장소 자료는 다르고, 실제 사용자의 만족도는 아직 측정하지 않았습니다. 무료 환경에서는 검색과 화면을 불러오는 데 시간이 걸리는 점도 남아 있습니다. 앞으로는 기능을 더 늘리기보다 반복 입력과 대기 시간을 줄이고, 친구들이 실제로 어디서 막히는지 확인하려고 합니다. 이상으로 발표를 마치겠습니다. 감사합니다.</a:t>
            </a:r>
          </a:p>
          <a:p xmlns:a="http://schemas.openxmlformats.org/drawingml/2006/main">
            <a:r>
              <a:t/>
            </a:r>
          </a:p>
          <a:p xmlns:a="http://schemas.openxmlformats.org/drawingml/2006/main">
            <a:r>
              <a:t>[근거·검증 범위 / 낭독하지 않음]</a:t>
            </a:r>
          </a:p>
          <a:p xmlns:a="http://schemas.openxmlformats.org/drawingml/2006/main">
            <a:r>
              <a:t>https://github.com/Jin-s-work/Travel-Agent/blob/main/docs/service-v3/reports/going-design-search-validation.md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377c3aa1f74487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bda9de6b604444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2b6d8697220442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6a3c20c9ac24c7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dc311798d57422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a529a28e8ea4fb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58EA933-A7D0-4962-B47F-468F02BC969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2617B55-1F91-4B04-8F53-17BA4A2F1FD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F0B2E03-F9F8-4581-B50A-48EE1346D88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7A29431-6679-49CD-807C-9306F93E060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257D86C-3F84-4D92-A0A4-945016C72F4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F878EB9-98C9-4EEF-86E0-7AC7F0781E2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1DC7656-9FCD-4D59-9F02-F858A25E79F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34D87F3-2A69-47BF-8C38-C5E52EFEFBA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19FC2F1-8FB9-4867-A27F-1FABAFBD6B0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A9F917D-E860-4D3D-B0A4-D247720609A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8b533e5fd4243e5" /><Relationship Type="http://schemas.openxmlformats.org/officeDocument/2006/relationships/slideLayout" Target="/ppt/slideLayouts/slideLayout1.xml" Id="R3cba8072f76f4bb0" /><Relationship Type="http://schemas.openxmlformats.org/officeDocument/2006/relationships/slideLayout" Target="/ppt/slideLayouts/slideLayout2.xml" Id="R5d3b355cd7a34532" /><Relationship Type="http://schemas.openxmlformats.org/officeDocument/2006/relationships/slideLayout" Target="/ppt/slideLayouts/slideLayout3.xml" Id="R76dfd948e59746e3" /><Relationship Type="http://schemas.openxmlformats.org/officeDocument/2006/relationships/slideLayout" Target="/ppt/slideLayouts/slideLayout4.xml" Id="Rc87986c73f2c4c1b" /><Relationship Type="http://schemas.openxmlformats.org/officeDocument/2006/relationships/slideLayout" Target="/ppt/slideLayouts/slideLayout5.xml" Id="R5abe5141f1b347dd" /><Relationship Type="http://schemas.openxmlformats.org/officeDocument/2006/relationships/slideLayout" Target="/ppt/slideLayouts/slideLayout6.xml" Id="R89dbc5d3a5db4ab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cba8072f76f4bb0"/>
    <p:sldLayoutId xmlns:r="http://schemas.openxmlformats.org/officeDocument/2006/relationships" id="2147483650" r:id="R5d3b355cd7a34532"/>
    <p:sldLayoutId xmlns:r="http://schemas.openxmlformats.org/officeDocument/2006/relationships" id="2147483651" r:id="R76dfd948e59746e3"/>
    <p:sldLayoutId xmlns:r="http://schemas.openxmlformats.org/officeDocument/2006/relationships" id="2147483652" r:id="Rc87986c73f2c4c1b"/>
    <p:sldLayoutId xmlns:r="http://schemas.openxmlformats.org/officeDocument/2006/relationships" id="2147483653" r:id="R5abe5141f1b347dd"/>
    <p:sldLayoutId xmlns:r="http://schemas.openxmlformats.org/officeDocument/2006/relationships" id="2147483654" r:id="R89dbc5d3a5db4ab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Pretendard"/>
        <a:ea typeface=""/>
        <a:cs typeface=""/>
      </a:majorFont>
      <a:minorFont>
        <a:latin typeface="Pretendar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084bac46bfd424c" /><Relationship Type="http://schemas.openxmlformats.org/officeDocument/2006/relationships/image" Target="/ppt/media/image.png" Id="R85dbd165d84042b2" /><Relationship Type="http://schemas.openxmlformats.org/officeDocument/2006/relationships/notesSlide" Target="/ppt/notesSlides/notesSlide1.xml" Id="R1709998c977d446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5f21e99cfd345a3" /><Relationship Type="http://schemas.openxmlformats.org/officeDocument/2006/relationships/notesSlide" Target="/ppt/notesSlides/notesSlide2.xml" Id="R126517a01fd744a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50556978e84426a" /><Relationship Type="http://schemas.openxmlformats.org/officeDocument/2006/relationships/image" Target="/ppt/media/image2.png" Id="R196a2ce353b24f81" /><Relationship Type="http://schemas.openxmlformats.org/officeDocument/2006/relationships/notesSlide" Target="/ppt/notesSlides/notesSlide3.xml" Id="R3672466045ee445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d2c990767be4dae" /><Relationship Type="http://schemas.openxmlformats.org/officeDocument/2006/relationships/image" Target="/ppt/media/image3.png" Id="Rc0ef4e2b741a44b3" /><Relationship Type="http://schemas.openxmlformats.org/officeDocument/2006/relationships/notesSlide" Target="/ppt/notesSlides/notesSlide4.xml" Id="R465c077f5c2f4dd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87af95cfc6f4f3f" /><Relationship Type="http://schemas.openxmlformats.org/officeDocument/2006/relationships/image" Target="/ppt/media/image4.png" Id="Rdb0d7a634fe34853" /><Relationship Type="http://schemas.openxmlformats.org/officeDocument/2006/relationships/image" Target="/ppt/media/image5.png" Id="R1f6a2b97aefa4adc" /><Relationship Type="http://schemas.openxmlformats.org/officeDocument/2006/relationships/notesSlide" Target="/ppt/notesSlides/notesSlide5.xml" Id="R171dab630b7d429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a52e822d9964c18" /><Relationship Type="http://schemas.openxmlformats.org/officeDocument/2006/relationships/image" Target="/ppt/media/image6.png" Id="R369d28d0acf84891" /><Relationship Type="http://schemas.openxmlformats.org/officeDocument/2006/relationships/notesSlide" Target="/ppt/notesSlides/notesSlide6.xml" Id="R55d6c1d4134f465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df0b44d42d84ae3" /><Relationship Type="http://schemas.openxmlformats.org/officeDocument/2006/relationships/notesSlide" Target="/ppt/notesSlides/notesSlide7.xml" Id="R45a93a5fa65849f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bb9421babe6440f" /><Relationship Type="http://schemas.openxmlformats.org/officeDocument/2006/relationships/image" Target="/ppt/media/image7.png" Id="R6cf7b62460ac41b0" /><Relationship Type="http://schemas.openxmlformats.org/officeDocument/2006/relationships/notesSlide" Target="/ppt/notesSlides/notesSlide8.xml" Id="R8a773aca808c428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13ab39ff3564b65" /><Relationship Type="http://schemas.openxmlformats.org/officeDocument/2006/relationships/notesSlide" Target="/ppt/notesSlides/notesSlide9.xml" Id="R13724214205b409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4a8bd6d07894b97" /><Relationship Type="http://schemas.openxmlformats.org/officeDocument/2006/relationships/notesSlide" Target="/ppt/notesSlides/notesSlide10.xml" Id="R364685a95de546ff" /></Relationships>
</file>

<file path=ppt/slides/slide1.xml><?xml version="1.0" encoding="utf-8"?>
<p:sld xmlns:p="http://schemas.openxmlformats.org/presentationml/2006/main">
  <p:cSld>
    <p:bg>
      <p:bgPr>
        <a:solidFill xmlns:a="http://schemas.openxmlformats.org/drawingml/2006/main">
          <a:srgbClr val="25485A"/>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9A50D768-B5BC-443A-A5F2-CD321A669559}"/>
              </a:ext>
            </a:extLst>
          </p:cNvPr>
          <p:cNvPicPr>
            <a:picLocks xmlns:a="http://schemas.openxmlformats.org/drawingml/2006/main" noChangeAspect="1"/>
          </p:cNvPicPr>
          <p:nvPr/>
        </p:nvPicPr>
        <p:blipFill>
          <a:blip xmlns:r="http://schemas.openxmlformats.org/officeDocument/2006/relationships" xmlns:a="http://schemas.openxmlformats.org/drawingml/2006/main" r:embed="R85dbd165d84042b2"/>
          <a:stretch xmlns:a="http://schemas.openxmlformats.org/drawingml/2006/main"/>
        </p:blipFill>
        <p:spPr>
          <a:xfrm xmlns:a="http://schemas.openxmlformats.org/drawingml/2006/main">
            <a:off x="609600" y="609600"/>
            <a:ext cx="838200" cy="8382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1A11499-D22D-4580-8279-061604D03DC4}"/>
              </a:ext>
            </a:extLst>
          </p:cNvPr>
          <p:cNvSpPr>
            <a:spLocks xmlns:a="http://schemas.openxmlformats.org/drawingml/2006/main" noGrp="1"/>
          </p:cNvSpPr>
          <p:nvPr/>
        </p:nvSpPr>
        <p:spPr>
          <a:xfrm xmlns:a="http://schemas.openxmlformats.org/drawingml/2006/main">
            <a:off x="609600" y="2066925"/>
            <a:ext cx="990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E2EBE9"/>
                </a:solidFill>
                <a:latin typeface="Pretendard"/>
                <a:ea typeface="Pretendard"/>
                <a:cs typeface="Pretendard"/>
              </a:defRPr>
            </a:defPPr>
          </a:lstStyle>
          <a:p xmlns:a="http://schemas.openxmlformats.org/drawingml/2006/main">
            <a:pPr>
              <a:defRPr sz="2025" b="0">
                <a:solidFill>
                  <a:srgbClr val="E2EBE9"/>
                </a:solidFill>
                <a:latin typeface="Pretendard"/>
                <a:ea typeface="Pretendard"/>
                <a:cs typeface="Pretendard"/>
              </a:defRPr>
            </a:pPr>
            <a:r>
              <a:rPr sz="2025" b="0">
                <a:solidFill>
                  <a:srgbClr val="E2EBE9"/>
                </a:solidFill>
                <a:latin typeface="Pretendard"/>
                <a:ea typeface="Pretendard"/>
                <a:cs typeface="Pretendard"/>
              </a:rPr>
              <a:t>여행 준비 서비스</a:t>
            </a:r>
          </a:p>
        </p:txBody>
      </p:sp>
      <p:sp>
        <p:nvSpPr>
          <p:cNvPr id="3" name="">
            <a:extLst xmlns:a="http://schemas.openxmlformats.org/drawingml/2006/main">
              <a:ext uri="{FF2B5EF4-FFF2-40B4-BE49-F238E27FC236}">
                <a16:creationId xmlns:a16="http://schemas.microsoft.com/office/drawing/2014/main" id="{8C1A1483-07AA-4EB9-A368-5C500906201A}"/>
              </a:ext>
            </a:extLst>
          </p:cNvPr>
          <p:cNvSpPr>
            <a:spLocks xmlns:a="http://schemas.openxmlformats.org/drawingml/2006/main" noGrp="1"/>
          </p:cNvSpPr>
          <p:nvPr/>
        </p:nvSpPr>
        <p:spPr>
          <a:xfrm xmlns:a="http://schemas.openxmlformats.org/drawingml/2006/main">
            <a:off x="552450" y="2638425"/>
            <a:ext cx="76200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8400" b="1">
                <a:solidFill>
                  <a:srgbClr val="FFFFFF"/>
                </a:solidFill>
                <a:latin typeface="Pretendard"/>
                <a:ea typeface="Pretendard"/>
                <a:cs typeface="Pretendard"/>
              </a:defRPr>
            </a:defPPr>
          </a:lstStyle>
          <a:p xmlns:a="http://schemas.openxmlformats.org/drawingml/2006/main">
            <a:pPr>
              <a:defRPr sz="8400" b="1">
                <a:solidFill>
                  <a:srgbClr val="FFFFFF"/>
                </a:solidFill>
                <a:latin typeface="Pretendard"/>
                <a:ea typeface="Pretendard"/>
                <a:cs typeface="Pretendard"/>
              </a:defRPr>
            </a:pPr>
            <a:r>
              <a:rPr sz="8400" b="1">
                <a:solidFill>
                  <a:srgbClr val="FFFFFF"/>
                </a:solidFill>
                <a:latin typeface="Pretendard"/>
                <a:ea typeface="Pretendard"/>
                <a:cs typeface="Pretendard"/>
              </a:rPr>
              <a:t>고잉</a:t>
            </a:r>
          </a:p>
        </p:txBody>
      </p:sp>
      <p:sp>
        <p:nvSpPr>
          <p:cNvPr id="4" name="">
            <a:extLst xmlns:a="http://schemas.openxmlformats.org/drawingml/2006/main">
              <a:ext uri="{FF2B5EF4-FFF2-40B4-BE49-F238E27FC236}">
                <a16:creationId xmlns:a16="http://schemas.microsoft.com/office/drawing/2014/main" id="{3467EE9A-9E1D-4177-9A81-B891882C74A7}"/>
              </a:ext>
            </a:extLst>
          </p:cNvPr>
          <p:cNvSpPr>
            <a:spLocks xmlns:a="http://schemas.openxmlformats.org/drawingml/2006/main" noGrp="1"/>
          </p:cNvSpPr>
          <p:nvPr/>
        </p:nvSpPr>
        <p:spPr>
          <a:xfrm xmlns:a="http://schemas.openxmlformats.org/drawingml/2006/main">
            <a:off x="609600" y="4324350"/>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0">
                <a:solidFill>
                  <a:srgbClr val="FFFFFF"/>
                </a:solidFill>
                <a:latin typeface="Pretendard"/>
                <a:ea typeface="Pretendard"/>
                <a:cs typeface="Pretendard"/>
              </a:defRPr>
            </a:defPPr>
          </a:lstStyle>
          <a:p xmlns:a="http://schemas.openxmlformats.org/drawingml/2006/main">
            <a:pPr>
              <a:defRPr sz="3150" b="0">
                <a:solidFill>
                  <a:srgbClr val="FFFFFF"/>
                </a:solidFill>
                <a:latin typeface="Pretendard"/>
                <a:ea typeface="Pretendard"/>
                <a:cs typeface="Pretendard"/>
              </a:defRPr>
            </a:pPr>
            <a:r>
              <a:rPr sz="3150" b="0">
                <a:solidFill>
                  <a:srgbClr val="FFFFFF"/>
                </a:solidFill>
                <a:latin typeface="Pretendard"/>
                <a:ea typeface="Pretendard"/>
                <a:cs typeface="Pretendard"/>
              </a:rPr>
              <a:t>예약 메일부터 하루 일정까지</a:t>
            </a:r>
          </a:p>
        </p:txBody>
      </p:sp>
      <p:sp>
        <p:nvSpPr>
          <p:cNvPr id="5" name="">
            <a:extLst xmlns:a="http://schemas.openxmlformats.org/drawingml/2006/main">
              <a:ext uri="{FF2B5EF4-FFF2-40B4-BE49-F238E27FC236}">
                <a16:creationId xmlns:a16="http://schemas.microsoft.com/office/drawing/2014/main" id="{7BF7A5FF-A22B-498C-A9F4-6278199AA7A4}"/>
              </a:ext>
            </a:extLst>
          </p:cNvPr>
          <p:cNvSpPr>
            <a:spLocks xmlns:a="http://schemas.openxmlformats.org/drawingml/2006/main" noGrp="1"/>
          </p:cNvSpPr>
          <p:nvPr/>
        </p:nvSpPr>
        <p:spPr>
          <a:xfrm xmlns:a="http://schemas.openxmlformats.org/drawingml/2006/main">
            <a:off x="609600" y="52578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E2EBE9"/>
                </a:solidFill>
                <a:latin typeface="Pretendard"/>
                <a:ea typeface="Pretendard"/>
                <a:cs typeface="Pretendard"/>
              </a:defRPr>
            </a:defPPr>
          </a:lstStyle>
          <a:p xmlns:a="http://schemas.openxmlformats.org/drawingml/2006/main">
            <a:pPr>
              <a:defRPr sz="1875" b="0">
                <a:solidFill>
                  <a:srgbClr val="E2EBE9"/>
                </a:solidFill>
                <a:latin typeface="Pretendard"/>
                <a:ea typeface="Pretendard"/>
                <a:cs typeface="Pretendard"/>
              </a:defRPr>
            </a:pPr>
            <a:r>
              <a:rPr sz="1875" b="0">
                <a:solidFill>
                  <a:srgbClr val="E2EBE9"/>
                </a:solidFill>
                <a:latin typeface="Pretendard"/>
                <a:ea typeface="Pretendard"/>
                <a:cs typeface="Pretendard"/>
              </a:rPr>
              <a:t>흩어진 예약을 모으고, 가고 싶은 곳을 일정으로 연결합니다.</a:t>
            </a:r>
          </a:p>
        </p:txBody>
      </p:sp>
      <p:sp>
        <p:nvSpPr>
          <p:cNvPr id="6" name="">
            <a:extLst xmlns:a="http://schemas.openxmlformats.org/drawingml/2006/main">
              <a:ext uri="{FF2B5EF4-FFF2-40B4-BE49-F238E27FC236}">
                <a16:creationId xmlns:a16="http://schemas.microsoft.com/office/drawing/2014/main" id="{04F8B69D-8371-4D5F-8842-510E5C114FD5}"/>
              </a:ext>
            </a:extLst>
          </p:cNvPr>
          <p:cNvSpPr>
            <a:spLocks xmlns:a="http://schemas.openxmlformats.org/drawingml/2006/main" noGrp="1"/>
          </p:cNvSpPr>
          <p:nvPr/>
        </p:nvSpPr>
        <p:spPr>
          <a:xfrm xmlns:a="http://schemas.openxmlformats.org/drawingml/2006/main">
            <a:off x="609600" y="626745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E2EBE9"/>
                </a:solidFill>
                <a:latin typeface="Pretendard"/>
                <a:ea typeface="Pretendard"/>
                <a:cs typeface="Pretendard"/>
              </a:defRPr>
            </a:defPPr>
          </a:lstStyle>
          <a:p xmlns:a="http://schemas.openxmlformats.org/drawingml/2006/main">
            <a:pPr>
              <a:defRPr sz="1350" b="0">
                <a:solidFill>
                  <a:srgbClr val="E2EBE9"/>
                </a:solidFill>
                <a:latin typeface="Pretendard"/>
                <a:ea typeface="Pretendard"/>
                <a:cs typeface="Pretendard"/>
              </a:defRPr>
            </a:pPr>
            <a:r>
              <a:rPr sz="1350" b="0">
                <a:solidFill>
                  <a:srgbClr val="E2EBE9"/>
                </a:solidFill>
                <a:latin typeface="Pretendard"/>
                <a:ea typeface="Pretendard"/>
                <a:cs typeface="Pretendard"/>
              </a:rPr>
              <a:t>프로젝트 발표  ·  2026.10</a:t>
            </a:r>
          </a:p>
        </p:txBody>
      </p:sp>
    </p:spTree>
    <p:extLst>
      <p:ext uri="{BB962C8B-B14F-4D97-AF65-F5344CB8AC3E}">
        <p14:creationId xmlns:p14="http://schemas.microsoft.com/office/powerpoint/2010/main" val="194647071"/>
      </p:ext>
    </p:extLst>
  </p:cSld>
</p:sld>
</file>

<file path=ppt/slides/slide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B58F571-C699-464A-B45D-6B658958E8C8}"/>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06C70"/>
                </a:solidFill>
                <a:latin typeface="Pretendard"/>
                <a:ea typeface="Pretendard"/>
                <a:cs typeface="Pretendard"/>
              </a:defRPr>
            </a:defPPr>
          </a:lstStyle>
          <a:p xmlns:a="http://schemas.openxmlformats.org/drawingml/2006/main">
            <a:pPr>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문제</a:t>
            </a:r>
          </a:p>
        </p:txBody>
      </p:sp>
      <p:sp>
        <p:nvSpPr>
          <p:cNvPr id="2" name="">
            <a:extLst xmlns:a="http://schemas.openxmlformats.org/drawingml/2006/main">
              <a:ext uri="{FF2B5EF4-FFF2-40B4-BE49-F238E27FC236}">
                <a16:creationId xmlns:a16="http://schemas.microsoft.com/office/drawing/2014/main" id="{714DB288-31E0-43E1-9B02-224B54937C7D}"/>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252B2C"/>
                </a:solidFill>
                <a:latin typeface="Pretendard"/>
                <a:ea typeface="Pretendard"/>
                <a:cs typeface="Pretendard"/>
              </a:defRPr>
            </a:defPPr>
          </a:lstStyle>
          <a:p xmlns:a="http://schemas.openxmlformats.org/drawingml/2006/main">
            <a:pPr>
              <a:defRPr sz="3450" b="1">
                <a:solidFill>
                  <a:srgbClr val="252B2C"/>
                </a:solidFill>
                <a:latin typeface="Pretendard"/>
                <a:ea typeface="Pretendard"/>
                <a:cs typeface="Pretendard"/>
              </a:defRPr>
            </a:pPr>
            <a:r>
              <a:rPr sz="3450" b="1">
                <a:solidFill>
                  <a:srgbClr val="252B2C"/>
                </a:solidFill>
                <a:latin typeface="Pretendard"/>
                <a:ea typeface="Pretendard"/>
                <a:cs typeface="Pretendard"/>
              </a:rPr>
              <a:t>여행 준비에서 반복되는 일</a:t>
            </a:r>
          </a:p>
        </p:txBody>
      </p:sp>
      <p:sp>
        <p:nvSpPr>
          <p:cNvPr id="3" name="">
            <a:extLst xmlns:a="http://schemas.openxmlformats.org/drawingml/2006/main">
              <a:ext uri="{FF2B5EF4-FFF2-40B4-BE49-F238E27FC236}">
                <a16:creationId xmlns:a16="http://schemas.microsoft.com/office/drawing/2014/main" id="{52F80272-83A0-4919-B691-9A6053C15E79}"/>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예약은 끝났는데, 정보를 다시 찾아야 합니다</a:t>
            </a:r>
          </a:p>
        </p:txBody>
      </p:sp>
      <p:sp>
        <p:nvSpPr>
          <p:cNvPr id="4" name="">
            <a:extLst xmlns:a="http://schemas.openxmlformats.org/drawingml/2006/main">
              <a:ext uri="{FF2B5EF4-FFF2-40B4-BE49-F238E27FC236}">
                <a16:creationId xmlns:a16="http://schemas.microsoft.com/office/drawing/2014/main" id="{94DCF512-8D16-441E-9DCC-FE1EBB952424}"/>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06C70"/>
                </a:solidFill>
                <a:latin typeface="Pretendard"/>
                <a:ea typeface="Pretendard"/>
                <a:cs typeface="Pretendard"/>
              </a:defRPr>
            </a:defPPr>
          </a:lstStyle>
          <a:p xmlns:a="http://schemas.openxmlformats.org/drawingml/2006/main">
            <a:pPr>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02</a:t>
            </a:r>
          </a:p>
        </p:txBody>
      </p:sp>
      <p:sp>
        <p:nvSpPr>
          <p:cNvPr id="5" name="">
            <a:extLst xmlns:a="http://schemas.openxmlformats.org/drawingml/2006/main">
              <a:ext uri="{FF2B5EF4-FFF2-40B4-BE49-F238E27FC236}">
                <a16:creationId xmlns:a16="http://schemas.microsoft.com/office/drawing/2014/main" id="{04572BDD-5AF3-4D5E-8213-77FD90FF4EAD}"/>
              </a:ext>
            </a:extLst>
          </p:cNvPr>
          <p:cNvSpPr>
            <a:spLocks xmlns:a="http://schemas.openxmlformats.org/drawingml/2006/main" noGrp="1"/>
          </p:cNvSpPr>
          <p:nvPr/>
        </p:nvSpPr>
        <p:spPr>
          <a:xfrm xmlns:a="http://schemas.openxmlformats.org/drawingml/2006/main">
            <a:off x="609600" y="64389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06C70"/>
                </a:solidFill>
                <a:latin typeface="Pretendard"/>
                <a:ea typeface="Pretendard"/>
                <a:cs typeface="Pretendard"/>
              </a:defRPr>
            </a:defPPr>
          </a:lstStyle>
          <a:p xmlns:a="http://schemas.openxmlformats.org/drawingml/2006/main">
            <a:pPr>
              <a:defRPr sz="1200" b="0">
                <a:solidFill>
                  <a:srgbClr val="606C70"/>
                </a:solidFill>
                <a:latin typeface="Pretendard"/>
                <a:ea typeface="Pretendard"/>
                <a:cs typeface="Pretendard"/>
              </a:defRPr>
            </a:pPr>
            <a:r>
              <a:rPr sz="1200" b="0">
                <a:solidFill>
                  <a:srgbClr val="606C70"/>
                </a:solidFill>
                <a:latin typeface="Pretendard"/>
                <a:ea typeface="Pretendard"/>
                <a:cs typeface="Pretendard"/>
              </a:rPr>
              <a:t>고잉 · Travel Agent  |  2026.10</a:t>
            </a:r>
          </a:p>
        </p:txBody>
      </p:sp>
      <p:sp>
        <p:nvSpPr>
          <p:cNvPr id="6" name="">
            <a:extLst xmlns:a="http://schemas.openxmlformats.org/drawingml/2006/main">
              <a:ext uri="{FF2B5EF4-FFF2-40B4-BE49-F238E27FC236}">
                <a16:creationId xmlns:a16="http://schemas.microsoft.com/office/drawing/2014/main" id="{BDB56724-79D1-4B12-8A45-76B0D59A2644}"/>
              </a:ext>
            </a:extLst>
          </p:cNvPr>
          <p:cNvSpPr>
            <a:spLocks xmlns:a="http://schemas.openxmlformats.org/drawingml/2006/main" noGrp="1"/>
          </p:cNvSpPr>
          <p:nvPr/>
        </p:nvSpPr>
        <p:spPr>
          <a:xfrm xmlns:a="http://schemas.openxmlformats.org/drawingml/2006/main">
            <a:off x="609600" y="23526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75" b="1">
                <a:solidFill>
                  <a:srgbClr val="25485A"/>
                </a:solidFill>
                <a:latin typeface="Pretendard"/>
                <a:ea typeface="Pretendard"/>
                <a:cs typeface="Pretendard"/>
              </a:defRPr>
            </a:defPPr>
          </a:lstStyle>
          <a:p xmlns:a="http://schemas.openxmlformats.org/drawingml/2006/main">
            <a:pPr>
              <a:defRPr sz="3375" b="1">
                <a:solidFill>
                  <a:srgbClr val="25485A"/>
                </a:solidFill>
                <a:latin typeface="Pretendard"/>
                <a:ea typeface="Pretendard"/>
                <a:cs typeface="Pretendard"/>
              </a:defRPr>
            </a:pPr>
            <a:r>
              <a:rPr sz="3375" b="1">
                <a:solidFill>
                  <a:srgbClr val="25485A"/>
                </a:solidFill>
                <a:latin typeface="Pretendard"/>
                <a:ea typeface="Pretendard"/>
                <a:cs typeface="Pretendard"/>
              </a:rPr>
              <a:t>“체크아웃이 몇 시였지?”</a:t>
            </a:r>
          </a:p>
        </p:txBody>
      </p:sp>
      <p:sp>
        <p:nvSpPr>
          <p:cNvPr id="7" name="">
            <a:extLst xmlns:a="http://schemas.openxmlformats.org/drawingml/2006/main">
              <a:ext uri="{FF2B5EF4-FFF2-40B4-BE49-F238E27FC236}">
                <a16:creationId xmlns:a16="http://schemas.microsoft.com/office/drawing/2014/main" id="{6A800D86-C5A4-4285-BAE3-D7830069AD4A}"/>
              </a:ext>
            </a:extLst>
          </p:cNvPr>
          <p:cNvSpPr>
            <a:spLocks xmlns:a="http://schemas.openxmlformats.org/drawingml/2006/main" noGrp="1"/>
          </p:cNvSpPr>
          <p:nvPr/>
        </p:nvSpPr>
        <p:spPr>
          <a:xfrm xmlns:a="http://schemas.openxmlformats.org/drawingml/2006/main">
            <a:off x="609600" y="3152775"/>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0">
                <a:solidFill>
                  <a:srgbClr val="252B2C"/>
                </a:solidFill>
                <a:latin typeface="Pretendard"/>
                <a:ea typeface="Pretendard"/>
                <a:cs typeface="Pretendard"/>
              </a:defRPr>
            </a:defPPr>
          </a:lstStyle>
          <a:p xmlns:a="http://schemas.openxmlformats.org/drawingml/2006/main">
            <a:pPr>
              <a:defRPr sz="2700" b="0">
                <a:solidFill>
                  <a:srgbClr val="252B2C"/>
                </a:solidFill>
                <a:latin typeface="Pretendard"/>
                <a:ea typeface="Pretendard"/>
                <a:cs typeface="Pretendard"/>
              </a:defRPr>
            </a:pPr>
            <a:r>
              <a:rPr sz="2700" b="0">
                <a:solidFill>
                  <a:srgbClr val="252B2C"/>
                </a:solidFill>
                <a:latin typeface="Pretendard"/>
                <a:ea typeface="Pretendard"/>
                <a:cs typeface="Pretendard"/>
              </a:rPr>
              <a:t>“이 식당을 들렀다가 다음 예약에 갈 수 있을까?”</a:t>
            </a:r>
          </a:p>
        </p:txBody>
      </p:sp>
      <p:sp>
        <p:nvSpPr>
          <p:cNvPr id="8" name="">
            <a:extLst xmlns:a="http://schemas.openxmlformats.org/drawingml/2006/main">
              <a:ext uri="{FF2B5EF4-FFF2-40B4-BE49-F238E27FC236}">
                <a16:creationId xmlns:a16="http://schemas.microsoft.com/office/drawing/2014/main" id="{3428312B-6007-4E78-916F-89CA39470F5E}"/>
              </a:ext>
            </a:extLst>
          </p:cNvPr>
          <p:cNvSpPr>
            <a:spLocks xmlns:a="http://schemas.openxmlformats.org/drawingml/2006/main" noGrp="1"/>
          </p:cNvSpPr>
          <p:nvPr/>
        </p:nvSpPr>
        <p:spPr>
          <a:xfrm xmlns:a="http://schemas.openxmlformats.org/drawingml/2006/main">
            <a:off x="609600" y="45339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5485A"/>
                </a:solidFill>
                <a:latin typeface="Pretendard"/>
                <a:ea typeface="Pretendard"/>
                <a:cs typeface="Pretendard"/>
              </a:defRPr>
            </a:defPPr>
          </a:lstStyle>
          <a:p xmlns:a="http://schemas.openxmlformats.org/drawingml/2006/main">
            <a:pPr>
              <a:defRPr sz="2175" b="1">
                <a:solidFill>
                  <a:srgbClr val="25485A"/>
                </a:solidFill>
                <a:latin typeface="Pretendard"/>
                <a:ea typeface="Pretendard"/>
                <a:cs typeface="Pretendard"/>
              </a:defRPr>
            </a:pPr>
            <a:r>
              <a:rPr sz="2175" b="1">
                <a:solidFill>
                  <a:srgbClr val="25485A"/>
                </a:solidFill>
                <a:latin typeface="Pretendard"/>
                <a:ea typeface="Pretendard"/>
                <a:cs typeface="Pretendard"/>
              </a:rPr>
              <a:t>메일함</a:t>
            </a:r>
          </a:p>
        </p:txBody>
      </p:sp>
      <p:sp>
        <p:nvSpPr>
          <p:cNvPr id="9" name="">
            <a:extLst xmlns:a="http://schemas.openxmlformats.org/drawingml/2006/main">
              <a:ext uri="{FF2B5EF4-FFF2-40B4-BE49-F238E27FC236}">
                <a16:creationId xmlns:a16="http://schemas.microsoft.com/office/drawing/2014/main" id="{A44FA84C-A2F7-4823-B18D-412A384C89A5}"/>
              </a:ext>
            </a:extLst>
          </p:cNvPr>
          <p:cNvSpPr>
            <a:spLocks xmlns:a="http://schemas.openxmlformats.org/drawingml/2006/main" noGrp="1"/>
          </p:cNvSpPr>
          <p:nvPr/>
        </p:nvSpPr>
        <p:spPr>
          <a:xfrm xmlns:a="http://schemas.openxmlformats.org/drawingml/2006/main">
            <a:off x="609600" y="5114925"/>
            <a:ext cx="342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606C70"/>
                </a:solidFill>
                <a:latin typeface="Pretendard"/>
                <a:ea typeface="Pretendard"/>
                <a:cs typeface="Pretendard"/>
              </a:defRPr>
            </a:defPPr>
          </a:lstStyle>
          <a:p xmlns:a="http://schemas.openxmlformats.org/drawingml/2006/main">
            <a:pPr>
              <a:defRPr sz="1800" b="0">
                <a:solidFill>
                  <a:srgbClr val="606C70"/>
                </a:solidFill>
                <a:latin typeface="Pretendard"/>
                <a:ea typeface="Pretendard"/>
                <a:cs typeface="Pretendard"/>
              </a:defRPr>
            </a:pPr>
            <a:r>
              <a:rPr sz="1800" b="0">
                <a:solidFill>
                  <a:srgbClr val="606C70"/>
                </a:solidFill>
                <a:latin typeface="Pretendard"/>
                <a:ea typeface="Pretendard"/>
                <a:cs typeface="Pretendard"/>
              </a:rPr>
              <a:t>예약 시간·환불 규정</a:t>
            </a:r>
          </a:p>
        </p:txBody>
      </p:sp>
      <p:sp>
        <p:nvSpPr>
          <p:cNvPr id="10" name="">
            <a:extLst xmlns:a="http://schemas.openxmlformats.org/drawingml/2006/main">
              <a:ext uri="{FF2B5EF4-FFF2-40B4-BE49-F238E27FC236}">
                <a16:creationId xmlns:a16="http://schemas.microsoft.com/office/drawing/2014/main" id="{540D5831-F94C-4E5F-A21D-1B070D3816E4}"/>
              </a:ext>
            </a:extLst>
          </p:cNvPr>
          <p:cNvSpPr>
            <a:spLocks xmlns:a="http://schemas.openxmlformats.org/drawingml/2006/main" noGrp="1"/>
          </p:cNvSpPr>
          <p:nvPr/>
        </p:nvSpPr>
        <p:spPr>
          <a:xfrm xmlns:a="http://schemas.openxmlformats.org/drawingml/2006/main">
            <a:off x="4343400" y="45339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5485A"/>
                </a:solidFill>
                <a:latin typeface="Pretendard"/>
                <a:ea typeface="Pretendard"/>
                <a:cs typeface="Pretendard"/>
              </a:defRPr>
            </a:defPPr>
          </a:lstStyle>
          <a:p xmlns:a="http://schemas.openxmlformats.org/drawingml/2006/main">
            <a:pPr>
              <a:defRPr sz="2175" b="1">
                <a:solidFill>
                  <a:srgbClr val="25485A"/>
                </a:solidFill>
                <a:latin typeface="Pretendard"/>
                <a:ea typeface="Pretendard"/>
                <a:cs typeface="Pretendard"/>
              </a:defRPr>
            </a:pPr>
            <a:r>
              <a:rPr sz="2175" b="1">
                <a:solidFill>
                  <a:srgbClr val="25485A"/>
                </a:solidFill>
                <a:latin typeface="Pretendard"/>
                <a:ea typeface="Pretendard"/>
                <a:cs typeface="Pretendard"/>
              </a:rPr>
              <a:t>지도</a:t>
            </a:r>
          </a:p>
        </p:txBody>
      </p:sp>
      <p:sp>
        <p:nvSpPr>
          <p:cNvPr id="11" name="">
            <a:extLst xmlns:a="http://schemas.openxmlformats.org/drawingml/2006/main">
              <a:ext uri="{FF2B5EF4-FFF2-40B4-BE49-F238E27FC236}">
                <a16:creationId xmlns:a16="http://schemas.microsoft.com/office/drawing/2014/main" id="{873EDE4E-A635-40E9-B4F7-F408B85A2A67}"/>
              </a:ext>
            </a:extLst>
          </p:cNvPr>
          <p:cNvSpPr>
            <a:spLocks xmlns:a="http://schemas.openxmlformats.org/drawingml/2006/main" noGrp="1"/>
          </p:cNvSpPr>
          <p:nvPr/>
        </p:nvSpPr>
        <p:spPr>
          <a:xfrm xmlns:a="http://schemas.openxmlformats.org/drawingml/2006/main">
            <a:off x="4343400" y="5114925"/>
            <a:ext cx="342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606C70"/>
                </a:solidFill>
                <a:latin typeface="Pretendard"/>
                <a:ea typeface="Pretendard"/>
                <a:cs typeface="Pretendard"/>
              </a:defRPr>
            </a:defPPr>
          </a:lstStyle>
          <a:p xmlns:a="http://schemas.openxmlformats.org/drawingml/2006/main">
            <a:pPr>
              <a:defRPr sz="1800" b="0">
                <a:solidFill>
                  <a:srgbClr val="606C70"/>
                </a:solidFill>
                <a:latin typeface="Pretendard"/>
                <a:ea typeface="Pretendard"/>
                <a:cs typeface="Pretendard"/>
              </a:defRPr>
            </a:pPr>
            <a:r>
              <a:rPr sz="1800" b="0">
                <a:solidFill>
                  <a:srgbClr val="606C70"/>
                </a:solidFill>
                <a:latin typeface="Pretendard"/>
                <a:ea typeface="Pretendard"/>
                <a:cs typeface="Pretendard"/>
              </a:rPr>
              <a:t>위치·이동·장소 비교</a:t>
            </a:r>
          </a:p>
        </p:txBody>
      </p:sp>
      <p:sp>
        <p:nvSpPr>
          <p:cNvPr id="12" name="">
            <a:extLst xmlns:a="http://schemas.openxmlformats.org/drawingml/2006/main">
              <a:ext uri="{FF2B5EF4-FFF2-40B4-BE49-F238E27FC236}">
                <a16:creationId xmlns:a16="http://schemas.microsoft.com/office/drawing/2014/main" id="{D987E155-A9D5-4294-BB9C-8473ABF87C46}"/>
              </a:ext>
            </a:extLst>
          </p:cNvPr>
          <p:cNvSpPr>
            <a:spLocks xmlns:a="http://schemas.openxmlformats.org/drawingml/2006/main" noGrp="1"/>
          </p:cNvSpPr>
          <p:nvPr/>
        </p:nvSpPr>
        <p:spPr>
          <a:xfrm xmlns:a="http://schemas.openxmlformats.org/drawingml/2006/main">
            <a:off x="8077200" y="45339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5485A"/>
                </a:solidFill>
                <a:latin typeface="Pretendard"/>
                <a:ea typeface="Pretendard"/>
                <a:cs typeface="Pretendard"/>
              </a:defRPr>
            </a:defPPr>
          </a:lstStyle>
          <a:p xmlns:a="http://schemas.openxmlformats.org/drawingml/2006/main">
            <a:pPr>
              <a:defRPr sz="2175" b="1">
                <a:solidFill>
                  <a:srgbClr val="25485A"/>
                </a:solidFill>
                <a:latin typeface="Pretendard"/>
                <a:ea typeface="Pretendard"/>
                <a:cs typeface="Pretendard"/>
              </a:defRPr>
            </a:pPr>
            <a:r>
              <a:rPr sz="2175" b="1">
                <a:solidFill>
                  <a:srgbClr val="25485A"/>
                </a:solidFill>
                <a:latin typeface="Pretendard"/>
                <a:ea typeface="Pretendard"/>
                <a:cs typeface="Pretendard"/>
              </a:rPr>
              <a:t>메모</a:t>
            </a:r>
          </a:p>
        </p:txBody>
      </p:sp>
      <p:sp>
        <p:nvSpPr>
          <p:cNvPr id="13" name="">
            <a:extLst xmlns:a="http://schemas.openxmlformats.org/drawingml/2006/main">
              <a:ext uri="{FF2B5EF4-FFF2-40B4-BE49-F238E27FC236}">
                <a16:creationId xmlns:a16="http://schemas.microsoft.com/office/drawing/2014/main" id="{80A7438F-32AF-49B1-98B4-0405820CD792}"/>
              </a:ext>
            </a:extLst>
          </p:cNvPr>
          <p:cNvSpPr>
            <a:spLocks xmlns:a="http://schemas.openxmlformats.org/drawingml/2006/main" noGrp="1"/>
          </p:cNvSpPr>
          <p:nvPr/>
        </p:nvSpPr>
        <p:spPr>
          <a:xfrm xmlns:a="http://schemas.openxmlformats.org/drawingml/2006/main">
            <a:off x="8077200" y="5114925"/>
            <a:ext cx="342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606C70"/>
                </a:solidFill>
                <a:latin typeface="Pretendard"/>
                <a:ea typeface="Pretendard"/>
                <a:cs typeface="Pretendard"/>
              </a:defRPr>
            </a:defPPr>
          </a:lstStyle>
          <a:p xmlns:a="http://schemas.openxmlformats.org/drawingml/2006/main">
            <a:pPr>
              <a:defRPr sz="1800" b="0">
                <a:solidFill>
                  <a:srgbClr val="606C70"/>
                </a:solidFill>
                <a:latin typeface="Pretendard"/>
                <a:ea typeface="Pretendard"/>
                <a:cs typeface="Pretendard"/>
              </a:defRPr>
            </a:pPr>
            <a:r>
              <a:rPr sz="1800" b="0">
                <a:solidFill>
                  <a:srgbClr val="606C70"/>
                </a:solidFill>
                <a:latin typeface="Pretendard"/>
                <a:ea typeface="Pretendard"/>
                <a:cs typeface="Pretendard"/>
              </a:rPr>
              <a:t>일정과 예약을 다시 대조</a:t>
            </a:r>
          </a:p>
        </p:txBody>
      </p:sp>
    </p:spTree>
    <p:extLst>
      <p:ext uri="{BB962C8B-B14F-4D97-AF65-F5344CB8AC3E}">
        <p14:creationId xmlns:p14="http://schemas.microsoft.com/office/powerpoint/2010/main" val="1296355517"/>
      </p:ext>
    </p:extLst>
  </p:cSld>
</p:sld>
</file>

<file path=ppt/slides/slide3.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05357AF-D00A-48C9-810E-AC5F612099F2}"/>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06C70"/>
                </a:solidFill>
                <a:latin typeface="Pretendard"/>
                <a:ea typeface="Pretendard"/>
                <a:cs typeface="Pretendard"/>
              </a:defRPr>
            </a:defPPr>
          </a:lstStyle>
          <a:p xmlns:a="http://schemas.openxmlformats.org/drawingml/2006/main">
            <a:pPr>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사용 흐름</a:t>
            </a:r>
          </a:p>
        </p:txBody>
      </p:sp>
      <p:sp>
        <p:nvSpPr>
          <p:cNvPr id="2" name="">
            <a:extLst xmlns:a="http://schemas.openxmlformats.org/drawingml/2006/main">
              <a:ext uri="{FF2B5EF4-FFF2-40B4-BE49-F238E27FC236}">
                <a16:creationId xmlns:a16="http://schemas.microsoft.com/office/drawing/2014/main" id="{D54BF1B3-066C-41F6-9390-D1D8DB873070}"/>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252B2C"/>
                </a:solidFill>
                <a:latin typeface="Pretendard"/>
                <a:ea typeface="Pretendard"/>
                <a:cs typeface="Pretendard"/>
              </a:defRPr>
            </a:defPPr>
          </a:lstStyle>
          <a:p xmlns:a="http://schemas.openxmlformats.org/drawingml/2006/main">
            <a:pPr>
              <a:defRPr sz="3450" b="1">
                <a:solidFill>
                  <a:srgbClr val="252B2C"/>
                </a:solidFill>
                <a:latin typeface="Pretendard"/>
                <a:ea typeface="Pretendard"/>
                <a:cs typeface="Pretendard"/>
              </a:defRPr>
            </a:pPr>
            <a:r>
              <a:rPr sz="3450" b="1">
                <a:solidFill>
                  <a:srgbClr val="252B2C"/>
                </a:solidFill>
                <a:latin typeface="Pretendard"/>
                <a:ea typeface="Pretendard"/>
                <a:cs typeface="Pretendard"/>
              </a:rPr>
              <a:t>여행 하나를 중심으로</a:t>
            </a:r>
          </a:p>
        </p:txBody>
      </p:sp>
      <p:sp>
        <p:nvSpPr>
          <p:cNvPr id="3" name="">
            <a:extLst xmlns:a="http://schemas.openxmlformats.org/drawingml/2006/main">
              <a:ext uri="{FF2B5EF4-FFF2-40B4-BE49-F238E27FC236}">
                <a16:creationId xmlns:a16="http://schemas.microsoft.com/office/drawing/2014/main" id="{7B41256C-B3F1-4F66-BE69-985B12457055}"/>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도시와 날짜를 한 번 입력하면 다음 화면이 이어받습니다</a:t>
            </a:r>
          </a:p>
        </p:txBody>
      </p:sp>
      <p:sp>
        <p:nvSpPr>
          <p:cNvPr id="4" name="">
            <a:extLst xmlns:a="http://schemas.openxmlformats.org/drawingml/2006/main">
              <a:ext uri="{FF2B5EF4-FFF2-40B4-BE49-F238E27FC236}">
                <a16:creationId xmlns:a16="http://schemas.microsoft.com/office/drawing/2014/main" id="{24E2AFFF-D2CC-4CA8-B74F-ECCB95C5D0B7}"/>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06C70"/>
                </a:solidFill>
                <a:latin typeface="Pretendard"/>
                <a:ea typeface="Pretendard"/>
                <a:cs typeface="Pretendard"/>
              </a:defRPr>
            </a:defPPr>
          </a:lstStyle>
          <a:p xmlns:a="http://schemas.openxmlformats.org/drawingml/2006/main">
            <a:pPr>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03</a:t>
            </a:r>
          </a:p>
        </p:txBody>
      </p:sp>
      <p:sp>
        <p:nvSpPr>
          <p:cNvPr id="5" name="">
            <a:extLst xmlns:a="http://schemas.openxmlformats.org/drawingml/2006/main">
              <a:ext uri="{FF2B5EF4-FFF2-40B4-BE49-F238E27FC236}">
                <a16:creationId xmlns:a16="http://schemas.microsoft.com/office/drawing/2014/main" id="{486F5CD1-6770-4493-B79F-6F16EFE57B54}"/>
              </a:ext>
            </a:extLst>
          </p:cNvPr>
          <p:cNvSpPr>
            <a:spLocks xmlns:a="http://schemas.openxmlformats.org/drawingml/2006/main" noGrp="1"/>
          </p:cNvSpPr>
          <p:nvPr/>
        </p:nvSpPr>
        <p:spPr>
          <a:xfrm xmlns:a="http://schemas.openxmlformats.org/drawingml/2006/main">
            <a:off x="609600" y="64389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06C70"/>
                </a:solidFill>
                <a:latin typeface="Pretendard"/>
                <a:ea typeface="Pretendard"/>
                <a:cs typeface="Pretendard"/>
              </a:defRPr>
            </a:defPPr>
          </a:lstStyle>
          <a:p xmlns:a="http://schemas.openxmlformats.org/drawingml/2006/main">
            <a:pPr>
              <a:defRPr sz="1200" b="0">
                <a:solidFill>
                  <a:srgbClr val="606C70"/>
                </a:solidFill>
                <a:latin typeface="Pretendard"/>
                <a:ea typeface="Pretendard"/>
                <a:cs typeface="Pretendard"/>
              </a:defRPr>
            </a:pPr>
            <a:r>
              <a:rPr sz="1200" b="0">
                <a:solidFill>
                  <a:srgbClr val="606C70"/>
                </a:solidFill>
                <a:latin typeface="Pretendard"/>
                <a:ea typeface="Pretendard"/>
                <a:cs typeface="Pretendard"/>
              </a:rPr>
              <a:t>고잉 · Travel Agent  |  2026.10</a:t>
            </a:r>
          </a:p>
        </p:txBody>
      </p:sp>
      <p:sp>
        <p:nvSpPr>
          <p:cNvPr id="6" name="">
            <a:extLst xmlns:a="http://schemas.openxmlformats.org/drawingml/2006/main">
              <a:ext uri="{FF2B5EF4-FFF2-40B4-BE49-F238E27FC236}">
                <a16:creationId xmlns:a16="http://schemas.microsoft.com/office/drawing/2014/main" id="{0432BDDD-7049-4C18-9BF6-BD8E78D593B4}"/>
              </a:ext>
            </a:extLst>
          </p:cNvPr>
          <p:cNvSpPr>
            <a:spLocks xmlns:a="http://schemas.openxmlformats.org/drawingml/2006/main" noGrp="1"/>
          </p:cNvSpPr>
          <p:nvPr/>
        </p:nvSpPr>
        <p:spPr>
          <a:xfrm xmlns:a="http://schemas.openxmlformats.org/drawingml/2006/main">
            <a:off x="609600" y="2419350"/>
            <a:ext cx="323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25485A"/>
                </a:solidFill>
                <a:latin typeface="Pretendard"/>
                <a:ea typeface="Pretendard"/>
                <a:cs typeface="Pretendard"/>
              </a:defRPr>
            </a:defPPr>
          </a:lstStyle>
          <a:p xmlns:a="http://schemas.openxmlformats.org/drawingml/2006/main">
            <a:pPr>
              <a:defRPr sz="2400" b="1">
                <a:solidFill>
                  <a:srgbClr val="25485A"/>
                </a:solidFill>
                <a:latin typeface="Pretendard"/>
                <a:ea typeface="Pretendard"/>
                <a:cs typeface="Pretendard"/>
              </a:defRPr>
            </a:pPr>
            <a:r>
              <a:rPr sz="2400" b="1">
                <a:solidFill>
                  <a:srgbClr val="25485A"/>
                </a:solidFill>
                <a:latin typeface="Pretendard"/>
                <a:ea typeface="Pretendard"/>
                <a:cs typeface="Pretendard"/>
              </a:rPr>
              <a:t>도시·날짜를 먼저</a:t>
            </a:r>
          </a:p>
        </p:txBody>
      </p:sp>
      <p:sp>
        <p:nvSpPr>
          <p:cNvPr id="7" name="">
            <a:extLst xmlns:a="http://schemas.openxmlformats.org/drawingml/2006/main">
              <a:ext uri="{FF2B5EF4-FFF2-40B4-BE49-F238E27FC236}">
                <a16:creationId xmlns:a16="http://schemas.microsoft.com/office/drawing/2014/main" id="{3320DF5A-BF97-4482-9EA7-12D2EF9BFEDC}"/>
              </a:ext>
            </a:extLst>
          </p:cNvPr>
          <p:cNvSpPr>
            <a:spLocks xmlns:a="http://schemas.openxmlformats.org/drawingml/2006/main" noGrp="1"/>
          </p:cNvSpPr>
          <p:nvPr/>
        </p:nvSpPr>
        <p:spPr>
          <a:xfrm xmlns:a="http://schemas.openxmlformats.org/drawingml/2006/main">
            <a:off x="609600" y="3105150"/>
            <a:ext cx="33147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252B2C"/>
                </a:solidFill>
                <a:latin typeface="Pretendard"/>
                <a:ea typeface="Pretendard"/>
                <a:cs typeface="Pretendard"/>
              </a:defRPr>
            </a:defPPr>
          </a:lstStyle>
          <a:p xmlns:a="http://schemas.openxmlformats.org/drawingml/2006/main">
            <a:pPr>
              <a:defRPr sz="2100" b="0">
                <a:solidFill>
                  <a:srgbClr val="252B2C"/>
                </a:solidFill>
                <a:latin typeface="Pretendard"/>
                <a:ea typeface="Pretendard"/>
                <a:cs typeface="Pretendard"/>
              </a:defRPr>
            </a:pPr>
            <a:r>
              <a:rPr sz="2100" b="0">
                <a:solidFill>
                  <a:srgbClr val="252B2C"/>
                </a:solidFill>
                <a:latin typeface="Pretendard"/>
                <a:ea typeface="Pretendard"/>
                <a:cs typeface="Pretendard"/>
              </a:rPr>
              <a:t>예약 · 탐색 · 일정에서</a:t>
            </a:r>
          </a:p>
          <a:p xmlns:a="http://schemas.openxmlformats.org/drawingml/2006/main">
            <a:pPr>
              <a:defRPr sz="2100" b="0">
                <a:solidFill>
                  <a:srgbClr val="252B2C"/>
                </a:solidFill>
                <a:latin typeface="Pretendard"/>
                <a:ea typeface="Pretendard"/>
                <a:cs typeface="Pretendard"/>
              </a:defRPr>
            </a:pPr>
            <a:r>
              <a:rPr sz="2100" b="0">
                <a:solidFill>
                  <a:srgbClr val="252B2C"/>
                </a:solidFill>
                <a:latin typeface="Pretendard"/>
                <a:ea typeface="Pretendard"/>
                <a:cs typeface="Pretendard"/>
              </a:rPr>
              <a:t>같은 여행 정보를 재사용</a:t>
            </a:r>
          </a:p>
        </p:txBody>
      </p:sp>
      <p:sp>
        <p:nvSpPr>
          <p:cNvPr id="8" name="">
            <a:extLst xmlns:a="http://schemas.openxmlformats.org/drawingml/2006/main">
              <a:ext uri="{FF2B5EF4-FFF2-40B4-BE49-F238E27FC236}">
                <a16:creationId xmlns:a16="http://schemas.microsoft.com/office/drawing/2014/main" id="{16A9EDFB-9773-42E6-9AC6-123EFE323F09}"/>
              </a:ext>
            </a:extLst>
          </p:cNvPr>
          <p:cNvSpPr>
            <a:spLocks xmlns:a="http://schemas.openxmlformats.org/drawingml/2006/main" noGrp="1"/>
          </p:cNvSpPr>
          <p:nvPr/>
        </p:nvSpPr>
        <p:spPr>
          <a:xfrm xmlns:a="http://schemas.openxmlformats.org/drawingml/2006/main">
            <a:off x="609600" y="4619625"/>
            <a:ext cx="33147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숙소가 없어도 시작</a:t>
            </a:r>
          </a:p>
          <a:p xmlns:a="http://schemas.openxmlformats.org/drawingml/2006/main">
            <a:pPr>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필요한 조건만 나중에 추가</a:t>
            </a:r>
          </a:p>
        </p:txBody>
      </p:sp>
      <p:pic>
        <p:nvPicPr>
          <p:cNvPr id="9" name="">
            <a:extLst xmlns:a="http://schemas.openxmlformats.org/drawingml/2006/main">
              <a:ext uri="{FF2B5EF4-FFF2-40B4-BE49-F238E27FC236}">
                <a16:creationId xmlns:a16="http://schemas.microsoft.com/office/drawing/2014/main" id="{784396CC-C044-445B-8294-D9B1EA95EEF5}"/>
              </a:ext>
            </a:extLst>
          </p:cNvPr>
          <p:cNvPicPr>
            <a:picLocks xmlns:a="http://schemas.openxmlformats.org/drawingml/2006/main" noChangeAspect="1"/>
          </p:cNvPicPr>
          <p:nvPr/>
        </p:nvPicPr>
        <p:blipFill>
          <a:blip xmlns:r="http://schemas.openxmlformats.org/officeDocument/2006/relationships" xmlns:a="http://schemas.openxmlformats.org/drawingml/2006/main" r:embed="R196a2ce353b24f81"/>
          <a:stretch xmlns:a="http://schemas.openxmlformats.org/drawingml/2006/main"/>
        </p:blipFill>
        <p:spPr>
          <a:xfrm xmlns:a="http://schemas.openxmlformats.org/drawingml/2006/main">
            <a:off x="4520021" y="2105025"/>
            <a:ext cx="6866709" cy="4343400"/>
          </a:xfrm>
          <a:prstGeom xmlns:a="http://schemas.openxmlformats.org/drawingml/2006/main" prst="rect">
            <a:avLst/>
          </a:prstGeom>
        </p:spPr>
      </p:pic>
    </p:spTree>
    <p:extLst>
      <p:ext uri="{BB962C8B-B14F-4D97-AF65-F5344CB8AC3E}">
        <p14:creationId xmlns:p14="http://schemas.microsoft.com/office/powerpoint/2010/main" val="69122437"/>
      </p:ext>
    </p:extLst>
  </p:cSld>
</p:sld>
</file>

<file path=ppt/slides/slide4.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8F7A33-3E2E-469D-9AE3-229124375267}"/>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06C70"/>
                </a:solidFill>
                <a:latin typeface="Pretendard"/>
                <a:ea typeface="Pretendard"/>
                <a:cs typeface="Pretendard"/>
              </a:defRPr>
            </a:defPPr>
          </a:lstStyle>
          <a:p xmlns:a="http://schemas.openxmlformats.org/drawingml/2006/main">
            <a:pPr>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메일 분석</a:t>
            </a:r>
          </a:p>
        </p:txBody>
      </p:sp>
      <p:sp>
        <p:nvSpPr>
          <p:cNvPr id="2" name="">
            <a:extLst xmlns:a="http://schemas.openxmlformats.org/drawingml/2006/main">
              <a:ext uri="{FF2B5EF4-FFF2-40B4-BE49-F238E27FC236}">
                <a16:creationId xmlns:a16="http://schemas.microsoft.com/office/drawing/2014/main" id="{E1F06F25-63C5-4A59-912F-B6B5913C673B}"/>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252B2C"/>
                </a:solidFill>
                <a:latin typeface="Pretendard"/>
                <a:ea typeface="Pretendard"/>
                <a:cs typeface="Pretendard"/>
              </a:defRPr>
            </a:defPPr>
          </a:lstStyle>
          <a:p xmlns:a="http://schemas.openxmlformats.org/drawingml/2006/main">
            <a:pPr>
              <a:defRPr sz="3450" b="1">
                <a:solidFill>
                  <a:srgbClr val="252B2C"/>
                </a:solidFill>
                <a:latin typeface="Pretendard"/>
                <a:ea typeface="Pretendard"/>
                <a:cs typeface="Pretendard"/>
              </a:defRPr>
            </a:pPr>
            <a:r>
              <a:rPr sz="3450" b="1">
                <a:solidFill>
                  <a:srgbClr val="252B2C"/>
                </a:solidFill>
                <a:latin typeface="Pretendard"/>
                <a:ea typeface="Pretendard"/>
                <a:cs typeface="Pretendard"/>
              </a:rPr>
              <a:t>메일을 예약으로 정리하기</a:t>
            </a:r>
          </a:p>
        </p:txBody>
      </p:sp>
      <p:sp>
        <p:nvSpPr>
          <p:cNvPr id="3" name="">
            <a:extLst xmlns:a="http://schemas.openxmlformats.org/drawingml/2006/main">
              <a:ext uri="{FF2B5EF4-FFF2-40B4-BE49-F238E27FC236}">
                <a16:creationId xmlns:a16="http://schemas.microsoft.com/office/drawing/2014/main" id="{8BA6E6D5-238D-4490-BD78-841E8E7F3811}"/>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한 메일의 여러 예약과 왕복 항공편을 나눠 보관합니다</a:t>
            </a:r>
          </a:p>
        </p:txBody>
      </p:sp>
      <p:sp>
        <p:nvSpPr>
          <p:cNvPr id="4" name="">
            <a:extLst xmlns:a="http://schemas.openxmlformats.org/drawingml/2006/main">
              <a:ext uri="{FF2B5EF4-FFF2-40B4-BE49-F238E27FC236}">
                <a16:creationId xmlns:a16="http://schemas.microsoft.com/office/drawing/2014/main" id="{5A1214AD-4BD9-4D7E-B015-CBF90FCD4DD2}"/>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06C70"/>
                </a:solidFill>
                <a:latin typeface="Pretendard"/>
                <a:ea typeface="Pretendard"/>
                <a:cs typeface="Pretendard"/>
              </a:defRPr>
            </a:defPPr>
          </a:lstStyle>
          <a:p xmlns:a="http://schemas.openxmlformats.org/drawingml/2006/main">
            <a:pPr>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04</a:t>
            </a:r>
          </a:p>
        </p:txBody>
      </p:sp>
      <p:sp>
        <p:nvSpPr>
          <p:cNvPr id="5" name="">
            <a:extLst xmlns:a="http://schemas.openxmlformats.org/drawingml/2006/main">
              <a:ext uri="{FF2B5EF4-FFF2-40B4-BE49-F238E27FC236}">
                <a16:creationId xmlns:a16="http://schemas.microsoft.com/office/drawing/2014/main" id="{35DD2A2A-4A22-49D9-B2C5-9B8801FB411D}"/>
              </a:ext>
            </a:extLst>
          </p:cNvPr>
          <p:cNvSpPr>
            <a:spLocks xmlns:a="http://schemas.openxmlformats.org/drawingml/2006/main" noGrp="1"/>
          </p:cNvSpPr>
          <p:nvPr/>
        </p:nvSpPr>
        <p:spPr>
          <a:xfrm xmlns:a="http://schemas.openxmlformats.org/drawingml/2006/main">
            <a:off x="609600" y="64389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06C70"/>
                </a:solidFill>
                <a:latin typeface="Pretendard"/>
                <a:ea typeface="Pretendard"/>
                <a:cs typeface="Pretendard"/>
              </a:defRPr>
            </a:defPPr>
          </a:lstStyle>
          <a:p xmlns:a="http://schemas.openxmlformats.org/drawingml/2006/main">
            <a:pPr>
              <a:defRPr sz="1200" b="0">
                <a:solidFill>
                  <a:srgbClr val="606C70"/>
                </a:solidFill>
                <a:latin typeface="Pretendard"/>
                <a:ea typeface="Pretendard"/>
                <a:cs typeface="Pretendard"/>
              </a:defRPr>
            </a:pPr>
            <a:r>
              <a:rPr sz="1200" b="0">
                <a:solidFill>
                  <a:srgbClr val="606C70"/>
                </a:solidFill>
                <a:latin typeface="Pretendard"/>
                <a:ea typeface="Pretendard"/>
                <a:cs typeface="Pretendard"/>
              </a:rPr>
              <a:t>고잉 · Travel Agent  |  2026.10</a:t>
            </a:r>
          </a:p>
        </p:txBody>
      </p:sp>
      <p:sp>
        <p:nvSpPr>
          <p:cNvPr id="6" name="">
            <a:extLst xmlns:a="http://schemas.openxmlformats.org/drawingml/2006/main">
              <a:ext uri="{FF2B5EF4-FFF2-40B4-BE49-F238E27FC236}">
                <a16:creationId xmlns:a16="http://schemas.microsoft.com/office/drawing/2014/main" id="{A63751FF-4DEC-4C85-AEAA-EDCA679F34FA}"/>
              </a:ext>
            </a:extLst>
          </p:cNvPr>
          <p:cNvSpPr>
            <a:spLocks xmlns:a="http://schemas.openxmlformats.org/drawingml/2006/main" noGrp="1"/>
          </p:cNvSpPr>
          <p:nvPr/>
        </p:nvSpPr>
        <p:spPr>
          <a:xfrm xmlns:a="http://schemas.openxmlformats.org/drawingml/2006/main">
            <a:off x="609600" y="2390775"/>
            <a:ext cx="5381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25485A"/>
                </a:solidFill>
                <a:latin typeface="Pretendard"/>
                <a:ea typeface="Pretendard"/>
                <a:cs typeface="Pretendard"/>
              </a:defRPr>
            </a:defPPr>
          </a:lstStyle>
          <a:p xmlns:a="http://schemas.openxmlformats.org/drawingml/2006/main">
            <a:pPr>
              <a:defRPr sz="2400" b="1">
                <a:solidFill>
                  <a:srgbClr val="25485A"/>
                </a:solidFill>
                <a:latin typeface="Pretendard"/>
                <a:ea typeface="Pretendard"/>
                <a:cs typeface="Pretendard"/>
              </a:defRPr>
            </a:pPr>
            <a:r>
              <a:rPr sz="2400" b="1">
                <a:solidFill>
                  <a:srgbClr val="25485A"/>
                </a:solidFill>
                <a:latin typeface="Pretendard"/>
                <a:ea typeface="Pretendard"/>
                <a:cs typeface="Pretendard"/>
              </a:rPr>
              <a:t>추출값과 교정값을 분리</a:t>
            </a:r>
          </a:p>
        </p:txBody>
      </p:sp>
      <p:sp>
        <p:nvSpPr>
          <p:cNvPr id="7" name="">
            <a:extLst xmlns:a="http://schemas.openxmlformats.org/drawingml/2006/main">
              <a:ext uri="{FF2B5EF4-FFF2-40B4-BE49-F238E27FC236}">
                <a16:creationId xmlns:a16="http://schemas.microsoft.com/office/drawing/2014/main" id="{2092BA3C-DEB1-431D-BD24-B4C8D3187C9C}"/>
              </a:ext>
            </a:extLst>
          </p:cNvPr>
          <p:cNvSpPr>
            <a:spLocks xmlns:a="http://schemas.openxmlformats.org/drawingml/2006/main" noGrp="1"/>
          </p:cNvSpPr>
          <p:nvPr/>
        </p:nvSpPr>
        <p:spPr>
          <a:xfrm xmlns:a="http://schemas.openxmlformats.org/drawingml/2006/main">
            <a:off x="609600" y="3057525"/>
            <a:ext cx="5334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52B2C"/>
                </a:solidFill>
                <a:latin typeface="Pretendard"/>
                <a:ea typeface="Pretendard"/>
                <a:cs typeface="Pretendard"/>
              </a:defRPr>
            </a:defPPr>
          </a:lstStyle>
          <a:p xmlns:a="http://schemas.openxmlformats.org/drawingml/2006/main">
            <a:pPr>
              <a:defRPr sz="1950" b="0">
                <a:solidFill>
                  <a:srgbClr val="252B2C"/>
                </a:solidFill>
                <a:latin typeface="Pretendard"/>
                <a:ea typeface="Pretendard"/>
                <a:cs typeface="Pretendard"/>
              </a:defRPr>
            </a:pPr>
            <a:r>
              <a:rPr sz="1950" b="0">
                <a:solidFill>
                  <a:srgbClr val="252B2C"/>
                </a:solidFill>
                <a:latin typeface="Pretendard"/>
                <a:ea typeface="Pretendard"/>
                <a:cs typeface="Pretendard"/>
              </a:rPr>
              <a:t>gpt-5-mini · 구조화 추출</a:t>
            </a:r>
          </a:p>
          <a:p xmlns:a="http://schemas.openxmlformats.org/drawingml/2006/main">
            <a:pPr>
              <a:defRPr sz="1950" b="0">
                <a:solidFill>
                  <a:srgbClr val="252B2C"/>
                </a:solidFill>
                <a:latin typeface="Pretendard"/>
                <a:ea typeface="Pretendard"/>
                <a:cs typeface="Pretendard"/>
              </a:defRPr>
            </a:pPr>
            <a:r>
              <a:rPr sz="1950" b="0">
                <a:solidFill>
                  <a:srgbClr val="252B2C"/>
                </a:solidFill>
                <a:latin typeface="Pretendard"/>
                <a:ea typeface="Pretendard"/>
                <a:cs typeface="Pretendard"/>
              </a:rPr>
              <a:t>text-embedding-3-small · 검색</a:t>
            </a:r>
          </a:p>
        </p:txBody>
      </p:sp>
      <p:sp>
        <p:nvSpPr>
          <p:cNvPr id="8" name="">
            <a:extLst xmlns:a="http://schemas.openxmlformats.org/drawingml/2006/main">
              <a:ext uri="{FF2B5EF4-FFF2-40B4-BE49-F238E27FC236}">
                <a16:creationId xmlns:a16="http://schemas.microsoft.com/office/drawing/2014/main" id="{C12F34DB-0977-405D-A9BE-5D76D7857F2D}"/>
              </a:ext>
            </a:extLst>
          </p:cNvPr>
          <p:cNvSpPr>
            <a:spLocks xmlns:a="http://schemas.openxmlformats.org/drawingml/2006/main" noGrp="1"/>
          </p:cNvSpPr>
          <p:nvPr/>
        </p:nvSpPr>
        <p:spPr>
          <a:xfrm xmlns:a="http://schemas.openxmlformats.org/drawingml/2006/main">
            <a:off x="609600" y="4333875"/>
            <a:ext cx="5238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252B2C"/>
                </a:solidFill>
                <a:latin typeface="Pretendard"/>
                <a:ea typeface="Pretendard"/>
                <a:cs typeface="Pretendard"/>
              </a:defRPr>
            </a:defPPr>
          </a:lstStyle>
          <a:p xmlns:a="http://schemas.openxmlformats.org/drawingml/2006/main">
            <a:pPr>
              <a:defRPr sz="2100" b="0">
                <a:solidFill>
                  <a:srgbClr val="252B2C"/>
                </a:solidFill>
                <a:latin typeface="Pretendard"/>
                <a:ea typeface="Pretendard"/>
                <a:cs typeface="Pretendard"/>
              </a:defRPr>
            </a:pPr>
            <a:r>
              <a:rPr sz="2100" b="0">
                <a:solidFill>
                  <a:srgbClr val="252B2C"/>
                </a:solidFill>
                <a:latin typeface="Pretendard"/>
                <a:ea typeface="Pretendard"/>
                <a:cs typeface="Pretendard"/>
              </a:rPr>
              <a:t>복수 예약 · 왕복 구간</a:t>
            </a:r>
          </a:p>
          <a:p xmlns:a="http://schemas.openxmlformats.org/drawingml/2006/main">
            <a:pPr>
              <a:defRPr sz="2100" b="0">
                <a:solidFill>
                  <a:srgbClr val="252B2C"/>
                </a:solidFill>
                <a:latin typeface="Pretendard"/>
                <a:ea typeface="Pretendard"/>
                <a:cs typeface="Pretendard"/>
              </a:defRPr>
            </a:pPr>
            <a:r>
              <a:rPr sz="2100" b="0">
                <a:solidFill>
                  <a:srgbClr val="252B2C"/>
                </a:solidFill>
                <a:latin typeface="Pretendard"/>
                <a:ea typeface="Pretendard"/>
                <a:cs typeface="Pretendard"/>
              </a:rPr>
              <a:t>현재 값 · 원문 · 사용자 교정</a:t>
            </a:r>
          </a:p>
        </p:txBody>
      </p:sp>
      <p:sp>
        <p:nvSpPr>
          <p:cNvPr id="9" name="">
            <a:extLst xmlns:a="http://schemas.openxmlformats.org/drawingml/2006/main">
              <a:ext uri="{FF2B5EF4-FFF2-40B4-BE49-F238E27FC236}">
                <a16:creationId xmlns:a16="http://schemas.microsoft.com/office/drawing/2014/main" id="{2441B31F-01B7-4D1A-99AA-84398D35DA23}"/>
              </a:ext>
            </a:extLst>
          </p:cNvPr>
          <p:cNvSpPr>
            <a:spLocks xmlns:a="http://schemas.openxmlformats.org/drawingml/2006/main" noGrp="1"/>
          </p:cNvSpPr>
          <p:nvPr/>
        </p:nvSpPr>
        <p:spPr>
          <a:xfrm xmlns:a="http://schemas.openxmlformats.org/drawingml/2006/main">
            <a:off x="609600" y="5695950"/>
            <a:ext cx="5219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606C70"/>
                </a:solidFill>
                <a:latin typeface="Pretendard"/>
                <a:ea typeface="Pretendard"/>
                <a:cs typeface="Pretendard"/>
              </a:defRPr>
            </a:defPPr>
          </a:lstStyle>
          <a:p xmlns:a="http://schemas.openxmlformats.org/drawingml/2006/main">
            <a:pPr>
              <a:defRPr sz="1500" b="0">
                <a:solidFill>
                  <a:srgbClr val="606C70"/>
                </a:solidFill>
                <a:latin typeface="Pretendard"/>
                <a:ea typeface="Pretendard"/>
                <a:cs typeface="Pretendard"/>
              </a:defRPr>
            </a:pPr>
            <a:r>
              <a:rPr sz="1500" b="0">
                <a:solidFill>
                  <a:srgbClr val="606C70"/>
                </a:solidFill>
                <a:latin typeface="Pretendard"/>
                <a:ea typeface="Pretendard"/>
                <a:cs typeface="Pretendard"/>
              </a:rPr>
              <a:t>촬영: 가상 메일 + 무료 기본 분석</a:t>
            </a:r>
          </a:p>
          <a:p xmlns:a="http://schemas.openxmlformats.org/drawingml/2006/main">
            <a:pPr>
              <a:defRPr sz="1500" b="0">
                <a:solidFill>
                  <a:srgbClr val="606C70"/>
                </a:solidFill>
                <a:latin typeface="Pretendard"/>
                <a:ea typeface="Pretendard"/>
                <a:cs typeface="Pretendard"/>
              </a:defRPr>
            </a:pPr>
            <a:r>
              <a:rPr sz="1500" b="0">
                <a:solidFill>
                  <a:srgbClr val="606C70"/>
                </a:solidFill>
                <a:latin typeface="Pretendard"/>
                <a:ea typeface="Pretendard"/>
                <a:cs typeface="Pretendard"/>
              </a:rPr>
              <a:t>운영 AI 검증은 별도 기록</a:t>
            </a:r>
          </a:p>
        </p:txBody>
      </p:sp>
      <p:pic>
        <p:nvPicPr>
          <p:cNvPr id="10" name="">
            <a:extLst xmlns:a="http://schemas.openxmlformats.org/drawingml/2006/main">
              <a:ext uri="{FF2B5EF4-FFF2-40B4-BE49-F238E27FC236}">
                <a16:creationId xmlns:a16="http://schemas.microsoft.com/office/drawing/2014/main" id="{817B81F0-0149-4E35-BFAE-315389B9AD5B}"/>
              </a:ext>
            </a:extLst>
          </p:cNvPr>
          <p:cNvPicPr>
            <a:picLocks xmlns:a="http://schemas.openxmlformats.org/drawingml/2006/main" noChangeAspect="1"/>
          </p:cNvPicPr>
          <p:nvPr/>
        </p:nvPicPr>
        <p:blipFill>
          <a:blip xmlns:r="http://schemas.openxmlformats.org/officeDocument/2006/relationships" xmlns:a="http://schemas.openxmlformats.org/drawingml/2006/main" r:embed="Rc0ef4e2b741a44b3"/>
          <a:stretch xmlns:a="http://schemas.openxmlformats.org/drawingml/2006/main"/>
        </p:blipFill>
        <p:spPr>
          <a:xfrm xmlns:a="http://schemas.openxmlformats.org/drawingml/2006/main">
            <a:off x="6495677" y="2028825"/>
            <a:ext cx="4887070" cy="4257675"/>
          </a:xfrm>
          <a:prstGeom xmlns:a="http://schemas.openxmlformats.org/drawingml/2006/main" prst="rect">
            <a:avLst/>
          </a:prstGeom>
        </p:spPr>
      </p:pic>
    </p:spTree>
    <p:extLst>
      <p:ext uri="{BB962C8B-B14F-4D97-AF65-F5344CB8AC3E}">
        <p14:creationId xmlns:p14="http://schemas.microsoft.com/office/powerpoint/2010/main" val="1185529375"/>
      </p:ext>
    </p:extLst>
  </p:cSld>
</p:sld>
</file>

<file path=ppt/slides/slide5.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299058-1B53-48E9-BDD4-CC490120233E}"/>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06C70"/>
                </a:solidFill>
                <a:latin typeface="Pretendard"/>
                <a:ea typeface="Pretendard"/>
                <a:cs typeface="Pretendard"/>
              </a:defRPr>
            </a:defPPr>
          </a:lstStyle>
          <a:p xmlns:a="http://schemas.openxmlformats.org/drawingml/2006/main">
            <a:pPr>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근거 기반 답변</a:t>
            </a:r>
          </a:p>
        </p:txBody>
      </p:sp>
      <p:sp>
        <p:nvSpPr>
          <p:cNvPr id="2" name="">
            <a:extLst xmlns:a="http://schemas.openxmlformats.org/drawingml/2006/main">
              <a:ext uri="{FF2B5EF4-FFF2-40B4-BE49-F238E27FC236}">
                <a16:creationId xmlns:a16="http://schemas.microsoft.com/office/drawing/2014/main" id="{2A935C54-AD06-4233-B851-BC496BC98FF0}"/>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252B2C"/>
                </a:solidFill>
                <a:latin typeface="Pretendard"/>
                <a:ea typeface="Pretendard"/>
                <a:cs typeface="Pretendard"/>
              </a:defRPr>
            </a:defPPr>
          </a:lstStyle>
          <a:p xmlns:a="http://schemas.openxmlformats.org/drawingml/2006/main">
            <a:pPr>
              <a:defRPr sz="3450" b="1">
                <a:solidFill>
                  <a:srgbClr val="252B2C"/>
                </a:solidFill>
                <a:latin typeface="Pretendard"/>
                <a:ea typeface="Pretendard"/>
                <a:cs typeface="Pretendard"/>
              </a:defRPr>
            </a:pPr>
            <a:r>
              <a:rPr sz="3450" b="1">
                <a:solidFill>
                  <a:srgbClr val="252B2C"/>
                </a:solidFill>
                <a:latin typeface="Pretendard"/>
                <a:ea typeface="Pretendard"/>
                <a:cs typeface="Pretendard"/>
              </a:rPr>
              <a:t>답변에 출처를 붙이기</a:t>
            </a:r>
          </a:p>
        </p:txBody>
      </p:sp>
      <p:sp>
        <p:nvSpPr>
          <p:cNvPr id="3" name="">
            <a:extLst xmlns:a="http://schemas.openxmlformats.org/drawingml/2006/main">
              <a:ext uri="{FF2B5EF4-FFF2-40B4-BE49-F238E27FC236}">
                <a16:creationId xmlns:a16="http://schemas.microsoft.com/office/drawing/2014/main" id="{2CFFA54E-72BD-4FC6-862D-2768F04BC449}"/>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날짜 질문은 그날 예약을 빠짐없이 조회합니다</a:t>
            </a:r>
          </a:p>
        </p:txBody>
      </p:sp>
      <p:sp>
        <p:nvSpPr>
          <p:cNvPr id="4" name="">
            <a:extLst xmlns:a="http://schemas.openxmlformats.org/drawingml/2006/main">
              <a:ext uri="{FF2B5EF4-FFF2-40B4-BE49-F238E27FC236}">
                <a16:creationId xmlns:a16="http://schemas.microsoft.com/office/drawing/2014/main" id="{BD1FFE26-FDDA-4E19-9C9D-DA2C5DD0558C}"/>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06C70"/>
                </a:solidFill>
                <a:latin typeface="Pretendard"/>
                <a:ea typeface="Pretendard"/>
                <a:cs typeface="Pretendard"/>
              </a:defRPr>
            </a:defPPr>
          </a:lstStyle>
          <a:p xmlns:a="http://schemas.openxmlformats.org/drawingml/2006/main">
            <a:pPr>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05</a:t>
            </a:r>
          </a:p>
        </p:txBody>
      </p:sp>
      <p:sp>
        <p:nvSpPr>
          <p:cNvPr id="5" name="">
            <a:extLst xmlns:a="http://schemas.openxmlformats.org/drawingml/2006/main">
              <a:ext uri="{FF2B5EF4-FFF2-40B4-BE49-F238E27FC236}">
                <a16:creationId xmlns:a16="http://schemas.microsoft.com/office/drawing/2014/main" id="{E86282BC-1ADA-4A5A-B7D9-0F359758417A}"/>
              </a:ext>
            </a:extLst>
          </p:cNvPr>
          <p:cNvSpPr>
            <a:spLocks xmlns:a="http://schemas.openxmlformats.org/drawingml/2006/main" noGrp="1"/>
          </p:cNvSpPr>
          <p:nvPr/>
        </p:nvSpPr>
        <p:spPr>
          <a:xfrm xmlns:a="http://schemas.openxmlformats.org/drawingml/2006/main">
            <a:off x="609600" y="64389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06C70"/>
                </a:solidFill>
                <a:latin typeface="Pretendard"/>
                <a:ea typeface="Pretendard"/>
                <a:cs typeface="Pretendard"/>
              </a:defRPr>
            </a:defPPr>
          </a:lstStyle>
          <a:p xmlns:a="http://schemas.openxmlformats.org/drawingml/2006/main">
            <a:pPr>
              <a:defRPr sz="1200" b="0">
                <a:solidFill>
                  <a:srgbClr val="606C70"/>
                </a:solidFill>
                <a:latin typeface="Pretendard"/>
                <a:ea typeface="Pretendard"/>
                <a:cs typeface="Pretendard"/>
              </a:defRPr>
            </a:pPr>
            <a:r>
              <a:rPr sz="1200" b="0">
                <a:solidFill>
                  <a:srgbClr val="606C70"/>
                </a:solidFill>
                <a:latin typeface="Pretendard"/>
                <a:ea typeface="Pretendard"/>
                <a:cs typeface="Pretendard"/>
              </a:rPr>
              <a:t>고잉 · Travel Agent  |  2026.10</a:t>
            </a:r>
          </a:p>
        </p:txBody>
      </p:sp>
      <p:pic>
        <p:nvPicPr>
          <p:cNvPr id="6" name="">
            <a:extLst xmlns:a="http://schemas.openxmlformats.org/drawingml/2006/main">
              <a:ext uri="{FF2B5EF4-FFF2-40B4-BE49-F238E27FC236}">
                <a16:creationId xmlns:a16="http://schemas.microsoft.com/office/drawing/2014/main" id="{0F3365A9-EEEB-4ABD-9EB8-1D564C11A33D}"/>
              </a:ext>
            </a:extLst>
          </p:cNvPr>
          <p:cNvPicPr>
            <a:picLocks xmlns:a="http://schemas.openxmlformats.org/drawingml/2006/main" noChangeAspect="1"/>
          </p:cNvPicPr>
          <p:nvPr/>
        </p:nvPicPr>
        <p:blipFill>
          <a:blip xmlns:r="http://schemas.openxmlformats.org/officeDocument/2006/relationships" xmlns:a="http://schemas.openxmlformats.org/drawingml/2006/main" r:embed="Rdb0d7a634fe34853"/>
          <a:stretch xmlns:a="http://schemas.openxmlformats.org/drawingml/2006/main"/>
        </p:blipFill>
        <p:spPr>
          <a:xfrm xmlns:a="http://schemas.openxmlformats.org/drawingml/2006/main">
            <a:off x="877071" y="2295525"/>
            <a:ext cx="6018259" cy="3800475"/>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2F1B04BE-5E2D-4E35-AD4A-0C63FB763363}"/>
              </a:ext>
            </a:extLst>
          </p:cNvPr>
          <p:cNvPicPr>
            <a:picLocks xmlns:a="http://schemas.openxmlformats.org/drawingml/2006/main" noChangeAspect="1"/>
          </p:cNvPicPr>
          <p:nvPr/>
        </p:nvPicPr>
        <p:blipFill>
          <a:blip xmlns:r="http://schemas.openxmlformats.org/officeDocument/2006/relationships" xmlns:a="http://schemas.openxmlformats.org/drawingml/2006/main" r:embed="R1f6a2b97aefa4adc"/>
          <a:stretch xmlns:a="http://schemas.openxmlformats.org/drawingml/2006/main"/>
        </p:blipFill>
        <p:spPr>
          <a:xfrm xmlns:a="http://schemas.openxmlformats.org/drawingml/2006/main">
            <a:off x="7870452" y="2152650"/>
            <a:ext cx="3690095" cy="39528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F4B9649-CC71-4CC4-955F-BC7AFC7286BE}"/>
              </a:ext>
            </a:extLst>
          </p:cNvPr>
          <p:cNvSpPr>
            <a:spLocks xmlns:a="http://schemas.openxmlformats.org/drawingml/2006/main" noGrp="1"/>
          </p:cNvSpPr>
          <p:nvPr/>
        </p:nvSpPr>
        <p:spPr>
          <a:xfrm xmlns:a="http://schemas.openxmlformats.org/drawingml/2006/main">
            <a:off x="609600" y="6134100"/>
            <a:ext cx="10858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25485A"/>
                </a:solidFill>
                <a:latin typeface="Pretendard"/>
                <a:ea typeface="Pretendard"/>
                <a:cs typeface="Pretendard"/>
              </a:defRPr>
            </a:defPPr>
          </a:lstStyle>
          <a:p xmlns:a="http://schemas.openxmlformats.org/drawingml/2006/main">
            <a:pPr>
              <a:defRPr sz="1875" b="1">
                <a:solidFill>
                  <a:srgbClr val="25485A"/>
                </a:solidFill>
                <a:latin typeface="Pretendard"/>
                <a:ea typeface="Pretendard"/>
                <a:cs typeface="Pretendard"/>
              </a:defRPr>
            </a:pPr>
            <a:r>
              <a:rPr sz="1875" b="1">
                <a:solidFill>
                  <a:srgbClr val="25485A"/>
                </a:solidFill>
                <a:latin typeface="Pretendard"/>
                <a:ea typeface="Pretendard"/>
                <a:cs typeface="Pretendard"/>
              </a:rPr>
              <a:t>SQL 날짜 조회 + 수동 입력 예약 + 원문 근거</a:t>
            </a:r>
          </a:p>
        </p:txBody>
      </p:sp>
    </p:spTree>
    <p:extLst>
      <p:ext uri="{BB962C8B-B14F-4D97-AF65-F5344CB8AC3E}">
        <p14:creationId xmlns:p14="http://schemas.microsoft.com/office/powerpoint/2010/main" val="681199828"/>
      </p:ext>
    </p:extLst>
  </p:cSld>
</p:sld>
</file>

<file path=ppt/slides/slide6.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D06E8D5-1218-4450-A52B-E8C36FFBC2CA}"/>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06C70"/>
                </a:solidFill>
                <a:latin typeface="Pretendard"/>
                <a:ea typeface="Pretendard"/>
                <a:cs typeface="Pretendard"/>
              </a:defRPr>
            </a:defPPr>
          </a:lstStyle>
          <a:p xmlns:a="http://schemas.openxmlformats.org/drawingml/2006/main">
            <a:pPr>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장소 탐색</a:t>
            </a:r>
          </a:p>
        </p:txBody>
      </p:sp>
      <p:sp>
        <p:nvSpPr>
          <p:cNvPr id="2" name="">
            <a:extLst xmlns:a="http://schemas.openxmlformats.org/drawingml/2006/main">
              <a:ext uri="{FF2B5EF4-FFF2-40B4-BE49-F238E27FC236}">
                <a16:creationId xmlns:a16="http://schemas.microsoft.com/office/drawing/2014/main" id="{D62AAA96-1618-44BB-A985-52FA170B15E9}"/>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252B2C"/>
                </a:solidFill>
                <a:latin typeface="Pretendard"/>
                <a:ea typeface="Pretendard"/>
                <a:cs typeface="Pretendard"/>
              </a:defRPr>
            </a:defPPr>
          </a:lstStyle>
          <a:p xmlns:a="http://schemas.openxmlformats.org/drawingml/2006/main">
            <a:pPr>
              <a:defRPr sz="3450" b="1">
                <a:solidFill>
                  <a:srgbClr val="252B2C"/>
                </a:solidFill>
                <a:latin typeface="Pretendard"/>
                <a:ea typeface="Pretendard"/>
                <a:cs typeface="Pretendard"/>
              </a:defRPr>
            </a:pPr>
            <a:r>
              <a:rPr sz="3450" b="1">
                <a:solidFill>
                  <a:srgbClr val="252B2C"/>
                </a:solidFill>
                <a:latin typeface="Pretendard"/>
                <a:ea typeface="Pretendard"/>
                <a:cs typeface="Pretendard"/>
              </a:rPr>
              <a:t>장소를 찾고 비교하기</a:t>
            </a:r>
          </a:p>
        </p:txBody>
      </p:sp>
      <p:sp>
        <p:nvSpPr>
          <p:cNvPr id="3" name="">
            <a:extLst xmlns:a="http://schemas.openxmlformats.org/drawingml/2006/main">
              <a:ext uri="{FF2B5EF4-FFF2-40B4-BE49-F238E27FC236}">
                <a16:creationId xmlns:a16="http://schemas.microsoft.com/office/drawing/2014/main" id="{D1677554-126D-4483-BECF-6A773377CF9E}"/>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현지 탐색과 대표 명소를 나눠 살펴봅니다</a:t>
            </a:r>
          </a:p>
        </p:txBody>
      </p:sp>
      <p:sp>
        <p:nvSpPr>
          <p:cNvPr id="4" name="">
            <a:extLst xmlns:a="http://schemas.openxmlformats.org/drawingml/2006/main">
              <a:ext uri="{FF2B5EF4-FFF2-40B4-BE49-F238E27FC236}">
                <a16:creationId xmlns:a16="http://schemas.microsoft.com/office/drawing/2014/main" id="{BC3705DE-3E0A-41ED-8DA8-02A7FC355E01}"/>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06C70"/>
                </a:solidFill>
                <a:latin typeface="Pretendard"/>
                <a:ea typeface="Pretendard"/>
                <a:cs typeface="Pretendard"/>
              </a:defRPr>
            </a:defPPr>
          </a:lstStyle>
          <a:p xmlns:a="http://schemas.openxmlformats.org/drawingml/2006/main">
            <a:pPr>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06</a:t>
            </a:r>
          </a:p>
        </p:txBody>
      </p:sp>
      <p:sp>
        <p:nvSpPr>
          <p:cNvPr id="5" name="">
            <a:extLst xmlns:a="http://schemas.openxmlformats.org/drawingml/2006/main">
              <a:ext uri="{FF2B5EF4-FFF2-40B4-BE49-F238E27FC236}">
                <a16:creationId xmlns:a16="http://schemas.microsoft.com/office/drawing/2014/main" id="{1FA92EB6-CCE7-4520-A62F-D8C6603424B8}"/>
              </a:ext>
            </a:extLst>
          </p:cNvPr>
          <p:cNvSpPr>
            <a:spLocks xmlns:a="http://schemas.openxmlformats.org/drawingml/2006/main" noGrp="1"/>
          </p:cNvSpPr>
          <p:nvPr/>
        </p:nvSpPr>
        <p:spPr>
          <a:xfrm xmlns:a="http://schemas.openxmlformats.org/drawingml/2006/main">
            <a:off x="609600" y="64389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06C70"/>
                </a:solidFill>
                <a:latin typeface="Pretendard"/>
                <a:ea typeface="Pretendard"/>
                <a:cs typeface="Pretendard"/>
              </a:defRPr>
            </a:defPPr>
          </a:lstStyle>
          <a:p xmlns:a="http://schemas.openxmlformats.org/drawingml/2006/main">
            <a:pPr>
              <a:defRPr sz="1200" b="0">
                <a:solidFill>
                  <a:srgbClr val="606C70"/>
                </a:solidFill>
                <a:latin typeface="Pretendard"/>
                <a:ea typeface="Pretendard"/>
                <a:cs typeface="Pretendard"/>
              </a:defRPr>
            </a:pPr>
            <a:r>
              <a:rPr sz="1200" b="0">
                <a:solidFill>
                  <a:srgbClr val="606C70"/>
                </a:solidFill>
                <a:latin typeface="Pretendard"/>
                <a:ea typeface="Pretendard"/>
                <a:cs typeface="Pretendard"/>
              </a:rPr>
              <a:t>고잉 · Travel Agent  |  2026.10</a:t>
            </a:r>
          </a:p>
        </p:txBody>
      </p:sp>
      <p:sp>
        <p:nvSpPr>
          <p:cNvPr id="6" name="">
            <a:extLst xmlns:a="http://schemas.openxmlformats.org/drawingml/2006/main">
              <a:ext uri="{FF2B5EF4-FFF2-40B4-BE49-F238E27FC236}">
                <a16:creationId xmlns:a16="http://schemas.microsoft.com/office/drawing/2014/main" id="{65A8405A-F38A-4557-80A3-39C8CFC29A8A}"/>
              </a:ext>
            </a:extLst>
          </p:cNvPr>
          <p:cNvSpPr>
            <a:spLocks xmlns:a="http://schemas.openxmlformats.org/drawingml/2006/main" noGrp="1"/>
          </p:cNvSpPr>
          <p:nvPr/>
        </p:nvSpPr>
        <p:spPr>
          <a:xfrm xmlns:a="http://schemas.openxmlformats.org/drawingml/2006/main">
            <a:off x="609600" y="2362200"/>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25485A"/>
                </a:solidFill>
                <a:latin typeface="Pretendard"/>
                <a:ea typeface="Pretendard"/>
                <a:cs typeface="Pretendard"/>
              </a:defRPr>
            </a:defPPr>
          </a:lstStyle>
          <a:p xmlns:a="http://schemas.openxmlformats.org/drawingml/2006/main">
            <a:pPr>
              <a:defRPr sz="2400" b="1">
                <a:solidFill>
                  <a:srgbClr val="25485A"/>
                </a:solidFill>
                <a:latin typeface="Pretendard"/>
                <a:ea typeface="Pretendard"/>
                <a:cs typeface="Pretendard"/>
              </a:defRPr>
            </a:pPr>
            <a:r>
              <a:rPr sz="2400" b="1">
                <a:solidFill>
                  <a:srgbClr val="25485A"/>
                </a:solidFill>
                <a:latin typeface="Pretendard"/>
                <a:ea typeface="Pretendard"/>
                <a:cs typeface="Pretendard"/>
              </a:rPr>
              <a:t>현지 탐색 / 대표 명소</a:t>
            </a:r>
          </a:p>
        </p:txBody>
      </p:sp>
      <p:sp>
        <p:nvSpPr>
          <p:cNvPr id="7" name="">
            <a:extLst xmlns:a="http://schemas.openxmlformats.org/drawingml/2006/main">
              <a:ext uri="{FF2B5EF4-FFF2-40B4-BE49-F238E27FC236}">
                <a16:creationId xmlns:a16="http://schemas.microsoft.com/office/drawing/2014/main" id="{1DFBE246-D346-416A-8E6D-2E59A380F707}"/>
              </a:ext>
            </a:extLst>
          </p:cNvPr>
          <p:cNvSpPr>
            <a:spLocks xmlns:a="http://schemas.openxmlformats.org/drawingml/2006/main" noGrp="1"/>
          </p:cNvSpPr>
          <p:nvPr/>
        </p:nvSpPr>
        <p:spPr>
          <a:xfrm xmlns:a="http://schemas.openxmlformats.org/drawingml/2006/main">
            <a:off x="609600" y="3133725"/>
            <a:ext cx="4857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252B2C"/>
                </a:solidFill>
                <a:latin typeface="Pretendard"/>
                <a:ea typeface="Pretendard"/>
                <a:cs typeface="Pretendard"/>
              </a:defRPr>
            </a:defPPr>
          </a:lstStyle>
          <a:p xmlns:a="http://schemas.openxmlformats.org/drawingml/2006/main">
            <a:pPr>
              <a:defRPr sz="2175" b="0">
                <a:solidFill>
                  <a:srgbClr val="252B2C"/>
                </a:solidFill>
                <a:latin typeface="Pretendard"/>
                <a:ea typeface="Pretendard"/>
                <a:cs typeface="Pretendard"/>
              </a:defRPr>
            </a:pPr>
            <a:r>
              <a:rPr sz="2175" b="0">
                <a:solidFill>
                  <a:srgbClr val="252B2C"/>
                </a:solidFill>
                <a:latin typeface="Pretendard"/>
                <a:ea typeface="Pretendard"/>
                <a:cs typeface="Pretendard"/>
              </a:rPr>
              <a:t>사진 · 출처 · 확인할 조건</a:t>
            </a:r>
          </a:p>
          <a:p xmlns:a="http://schemas.openxmlformats.org/drawingml/2006/main">
            <a:pPr>
              <a:defRPr sz="2175" b="0">
                <a:solidFill>
                  <a:srgbClr val="252B2C"/>
                </a:solidFill>
                <a:latin typeface="Pretendard"/>
                <a:ea typeface="Pretendard"/>
                <a:cs typeface="Pretendard"/>
              </a:defRPr>
            </a:pPr>
            <a:r>
              <a:rPr sz="2175" b="0">
                <a:solidFill>
                  <a:srgbClr val="252B2C"/>
                </a:solidFill>
                <a:latin typeface="Pretendard"/>
                <a:ea typeface="Pretendard"/>
                <a:cs typeface="Pretendard"/>
              </a:rPr>
              <a:t>서로 다른 최대 3곳 비교</a:t>
            </a:r>
          </a:p>
        </p:txBody>
      </p:sp>
      <p:sp>
        <p:nvSpPr>
          <p:cNvPr id="8" name="">
            <a:extLst xmlns:a="http://schemas.openxmlformats.org/drawingml/2006/main">
              <a:ext uri="{FF2B5EF4-FFF2-40B4-BE49-F238E27FC236}">
                <a16:creationId xmlns:a16="http://schemas.microsoft.com/office/drawing/2014/main" id="{EB456675-8FDD-4D23-A447-6A7A389F578C}"/>
              </a:ext>
            </a:extLst>
          </p:cNvPr>
          <p:cNvSpPr>
            <a:spLocks xmlns:a="http://schemas.openxmlformats.org/drawingml/2006/main" noGrp="1"/>
          </p:cNvSpPr>
          <p:nvPr/>
        </p:nvSpPr>
        <p:spPr>
          <a:xfrm xmlns:a="http://schemas.openxmlformats.org/drawingml/2006/main">
            <a:off x="609600" y="464820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숙소 기준 거리 조건</a:t>
            </a:r>
          </a:p>
          <a:p xmlns:a="http://schemas.openxmlformats.org/drawingml/2006/main">
            <a:pPr>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직선거리와 도보시간은 구분</a:t>
            </a:r>
          </a:p>
        </p:txBody>
      </p:sp>
      <p:sp>
        <p:nvSpPr>
          <p:cNvPr id="9" name="">
            <a:extLst xmlns:a="http://schemas.openxmlformats.org/drawingml/2006/main">
              <a:ext uri="{FF2B5EF4-FFF2-40B4-BE49-F238E27FC236}">
                <a16:creationId xmlns:a16="http://schemas.microsoft.com/office/drawing/2014/main" id="{787B4FE1-E79D-47B1-B116-E3D17E473DBD}"/>
              </a:ext>
            </a:extLst>
          </p:cNvPr>
          <p:cNvSpPr>
            <a:spLocks xmlns:a="http://schemas.openxmlformats.org/drawingml/2006/main" noGrp="1"/>
          </p:cNvSpPr>
          <p:nvPr/>
        </p:nvSpPr>
        <p:spPr>
          <a:xfrm xmlns:a="http://schemas.openxmlformats.org/drawingml/2006/main">
            <a:off x="609600" y="5867400"/>
            <a:ext cx="523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06C70"/>
                </a:solidFill>
                <a:latin typeface="Pretendard"/>
                <a:ea typeface="Pretendard"/>
                <a:cs typeface="Pretendard"/>
              </a:defRPr>
            </a:defPPr>
          </a:lstStyle>
          <a:p xmlns:a="http://schemas.openxmlformats.org/drawingml/2006/main">
            <a:pPr>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마드리드 실제 장소 자료 · 방문 적합성 확인 필요</a:t>
            </a:r>
          </a:p>
        </p:txBody>
      </p:sp>
      <p:pic>
        <p:nvPicPr>
          <p:cNvPr id="10" name="">
            <a:extLst xmlns:a="http://schemas.openxmlformats.org/drawingml/2006/main">
              <a:ext uri="{FF2B5EF4-FFF2-40B4-BE49-F238E27FC236}">
                <a16:creationId xmlns:a16="http://schemas.microsoft.com/office/drawing/2014/main" id="{5B9D4CD3-BFAC-4B64-8B57-D8AED2D3B602}"/>
              </a:ext>
            </a:extLst>
          </p:cNvPr>
          <p:cNvPicPr>
            <a:picLocks xmlns:a="http://schemas.openxmlformats.org/drawingml/2006/main" noChangeAspect="1"/>
          </p:cNvPicPr>
          <p:nvPr/>
        </p:nvPicPr>
        <p:blipFill>
          <a:blip xmlns:r="http://schemas.openxmlformats.org/officeDocument/2006/relationships" xmlns:a="http://schemas.openxmlformats.org/drawingml/2006/main" r:embed="R369d28d0acf84891"/>
          <a:stretch xmlns:a="http://schemas.openxmlformats.org/drawingml/2006/main"/>
        </p:blipFill>
        <p:spPr>
          <a:xfrm xmlns:a="http://schemas.openxmlformats.org/drawingml/2006/main">
            <a:off x="6452489" y="2114550"/>
            <a:ext cx="4849622" cy="4210050"/>
          </a:xfrm>
          <a:prstGeom xmlns:a="http://schemas.openxmlformats.org/drawingml/2006/main" prst="rect">
            <a:avLst/>
          </a:prstGeom>
        </p:spPr>
      </p:pic>
    </p:spTree>
    <p:extLst>
      <p:ext uri="{BB962C8B-B14F-4D97-AF65-F5344CB8AC3E}">
        <p14:creationId xmlns:p14="http://schemas.microsoft.com/office/powerpoint/2010/main" val="1205183315"/>
      </p:ext>
    </p:extLst>
  </p:cSld>
</p:sld>
</file>

<file path=ppt/slides/slide7.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C3E8BBE-3412-42E9-AE63-5B2F776AF9B5}"/>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06C70"/>
                </a:solidFill>
                <a:latin typeface="Pretendard"/>
                <a:ea typeface="Pretendard"/>
                <a:cs typeface="Pretendard"/>
              </a:defRPr>
            </a:defPPr>
          </a:lstStyle>
          <a:p xmlns:a="http://schemas.openxmlformats.org/drawingml/2006/main">
            <a:pPr>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추천의 기준</a:t>
            </a:r>
          </a:p>
        </p:txBody>
      </p:sp>
      <p:sp>
        <p:nvSpPr>
          <p:cNvPr id="2" name="">
            <a:extLst xmlns:a="http://schemas.openxmlformats.org/drawingml/2006/main">
              <a:ext uri="{FF2B5EF4-FFF2-40B4-BE49-F238E27FC236}">
                <a16:creationId xmlns:a16="http://schemas.microsoft.com/office/drawing/2014/main" id="{A724E73E-034A-4A27-89E4-A11221E5DE08}"/>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252B2C"/>
                </a:solidFill>
                <a:latin typeface="Pretendard"/>
                <a:ea typeface="Pretendard"/>
                <a:cs typeface="Pretendard"/>
              </a:defRPr>
            </a:defPPr>
          </a:lstStyle>
          <a:p xmlns:a="http://schemas.openxmlformats.org/drawingml/2006/main">
            <a:pPr>
              <a:defRPr sz="3450" b="1">
                <a:solidFill>
                  <a:srgbClr val="252B2C"/>
                </a:solidFill>
                <a:latin typeface="Pretendard"/>
                <a:ea typeface="Pretendard"/>
                <a:cs typeface="Pretendard"/>
              </a:defRPr>
            </a:pPr>
            <a:r>
              <a:rPr sz="3450" b="1">
                <a:solidFill>
                  <a:srgbClr val="252B2C"/>
                </a:solidFill>
                <a:latin typeface="Pretendard"/>
                <a:ea typeface="Pretendard"/>
                <a:cs typeface="Pretendard"/>
              </a:rPr>
              <a:t>모르는 정보는 남겨 두기</a:t>
            </a:r>
          </a:p>
        </p:txBody>
      </p:sp>
      <p:sp>
        <p:nvSpPr>
          <p:cNvPr id="3" name="">
            <a:extLst xmlns:a="http://schemas.openxmlformats.org/drawingml/2006/main">
              <a:ext uri="{FF2B5EF4-FFF2-40B4-BE49-F238E27FC236}">
                <a16:creationId xmlns:a16="http://schemas.microsoft.com/office/drawing/2014/main" id="{EBA23210-5BCF-4BA3-90DA-651787F0A2B7}"/>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리뷰 언어와 현지 주민 비율은 다른 정보입니다</a:t>
            </a:r>
          </a:p>
        </p:txBody>
      </p:sp>
      <p:sp>
        <p:nvSpPr>
          <p:cNvPr id="4" name="">
            <a:extLst xmlns:a="http://schemas.openxmlformats.org/drawingml/2006/main">
              <a:ext uri="{FF2B5EF4-FFF2-40B4-BE49-F238E27FC236}">
                <a16:creationId xmlns:a16="http://schemas.microsoft.com/office/drawing/2014/main" id="{F6941BB6-04D0-46D4-BEAD-E8AC4F742554}"/>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06C70"/>
                </a:solidFill>
                <a:latin typeface="Pretendard"/>
                <a:ea typeface="Pretendard"/>
                <a:cs typeface="Pretendard"/>
              </a:defRPr>
            </a:defPPr>
          </a:lstStyle>
          <a:p xmlns:a="http://schemas.openxmlformats.org/drawingml/2006/main">
            <a:pPr>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07</a:t>
            </a:r>
          </a:p>
        </p:txBody>
      </p:sp>
      <p:sp>
        <p:nvSpPr>
          <p:cNvPr id="5" name="">
            <a:extLst xmlns:a="http://schemas.openxmlformats.org/drawingml/2006/main">
              <a:ext uri="{FF2B5EF4-FFF2-40B4-BE49-F238E27FC236}">
                <a16:creationId xmlns:a16="http://schemas.microsoft.com/office/drawing/2014/main" id="{2E8F4E45-8D88-4A95-B6FE-D78055167154}"/>
              </a:ext>
            </a:extLst>
          </p:cNvPr>
          <p:cNvSpPr>
            <a:spLocks xmlns:a="http://schemas.openxmlformats.org/drawingml/2006/main" noGrp="1"/>
          </p:cNvSpPr>
          <p:nvPr/>
        </p:nvSpPr>
        <p:spPr>
          <a:xfrm xmlns:a="http://schemas.openxmlformats.org/drawingml/2006/main">
            <a:off x="609600" y="64389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06C70"/>
                </a:solidFill>
                <a:latin typeface="Pretendard"/>
                <a:ea typeface="Pretendard"/>
                <a:cs typeface="Pretendard"/>
              </a:defRPr>
            </a:defPPr>
          </a:lstStyle>
          <a:p xmlns:a="http://schemas.openxmlformats.org/drawingml/2006/main">
            <a:pPr>
              <a:defRPr sz="1200" b="0">
                <a:solidFill>
                  <a:srgbClr val="606C70"/>
                </a:solidFill>
                <a:latin typeface="Pretendard"/>
                <a:ea typeface="Pretendard"/>
                <a:cs typeface="Pretendard"/>
              </a:defRPr>
            </a:pPr>
            <a:r>
              <a:rPr sz="1200" b="0">
                <a:solidFill>
                  <a:srgbClr val="606C70"/>
                </a:solidFill>
                <a:latin typeface="Pretendard"/>
                <a:ea typeface="Pretendard"/>
                <a:cs typeface="Pretendard"/>
              </a:rPr>
              <a:t>고잉 · Travel Agent  |  2026.10</a:t>
            </a:r>
          </a:p>
        </p:txBody>
      </p:sp>
      <p:sp>
        <p:nvSpPr>
          <p:cNvPr id="6" name="">
            <a:extLst xmlns:a="http://schemas.openxmlformats.org/drawingml/2006/main">
              <a:ext uri="{FF2B5EF4-FFF2-40B4-BE49-F238E27FC236}">
                <a16:creationId xmlns:a16="http://schemas.microsoft.com/office/drawing/2014/main" id="{E15620DB-A5A8-4DC8-8B02-2692222AC7A2}"/>
              </a:ext>
            </a:extLst>
          </p:cNvPr>
          <p:cNvSpPr>
            <a:spLocks xmlns:a="http://schemas.openxmlformats.org/drawingml/2006/main" noGrp="1"/>
          </p:cNvSpPr>
          <p:nvPr/>
        </p:nvSpPr>
        <p:spPr>
          <a:xfrm xmlns:a="http://schemas.openxmlformats.org/drawingml/2006/main">
            <a:off x="609600" y="242887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925" b="1">
                <a:solidFill>
                  <a:srgbClr val="25485A"/>
                </a:solidFill>
                <a:latin typeface="Pretendard"/>
                <a:ea typeface="Pretendard"/>
                <a:cs typeface="Pretendard"/>
              </a:defRPr>
            </a:defPPr>
          </a:lstStyle>
          <a:p xmlns:a="http://schemas.openxmlformats.org/drawingml/2006/main">
            <a:pPr>
              <a:defRPr sz="2925" b="1">
                <a:solidFill>
                  <a:srgbClr val="25485A"/>
                </a:solidFill>
                <a:latin typeface="Pretendard"/>
                <a:ea typeface="Pretendard"/>
                <a:cs typeface="Pretendard"/>
              </a:defRPr>
            </a:pPr>
            <a:r>
              <a:rPr sz="2925" b="1">
                <a:solidFill>
                  <a:srgbClr val="25485A"/>
                </a:solidFill>
                <a:latin typeface="Pretendard"/>
                <a:ea typeface="Pretendard"/>
                <a:cs typeface="Pretendard"/>
              </a:rPr>
              <a:t>관측한 리뷰에서 계산합니다</a:t>
            </a:r>
          </a:p>
        </p:txBody>
      </p:sp>
      <p:sp>
        <p:nvSpPr>
          <p:cNvPr id="7" name="">
            <a:extLst xmlns:a="http://schemas.openxmlformats.org/drawingml/2006/main">
              <a:ext uri="{FF2B5EF4-FFF2-40B4-BE49-F238E27FC236}">
                <a16:creationId xmlns:a16="http://schemas.microsoft.com/office/drawing/2014/main" id="{AA0FF2F7-87A8-4E1F-941E-41CAEC84269B}"/>
              </a:ext>
            </a:extLst>
          </p:cNvPr>
          <p:cNvSpPr>
            <a:spLocks xmlns:a="http://schemas.openxmlformats.org/drawingml/2006/main" noGrp="1"/>
          </p:cNvSpPr>
          <p:nvPr/>
        </p:nvSpPr>
        <p:spPr>
          <a:xfrm xmlns:a="http://schemas.openxmlformats.org/drawingml/2006/main">
            <a:off x="609600" y="3209925"/>
            <a:ext cx="11001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252B2C"/>
                </a:solidFill>
                <a:latin typeface="Pretendard"/>
                <a:ea typeface="Pretendard"/>
                <a:cs typeface="Pretendard"/>
              </a:defRPr>
            </a:defPPr>
          </a:lstStyle>
          <a:p xmlns:a="http://schemas.openxmlformats.org/drawingml/2006/main">
            <a:pPr>
              <a:defRPr sz="2175" b="0">
                <a:solidFill>
                  <a:srgbClr val="252B2C"/>
                </a:solidFill>
                <a:latin typeface="Pretendard"/>
                <a:ea typeface="Pretendard"/>
                <a:cs typeface="Pretendard"/>
              </a:defRPr>
            </a:pPr>
            <a:r>
              <a:rPr sz="2175" b="0">
                <a:solidFill>
                  <a:srgbClr val="252B2C"/>
                </a:solidFill>
                <a:latin typeface="Pretendard"/>
                <a:ea typeface="Pretendard"/>
                <a:cs typeface="Pretendard"/>
              </a:rPr>
              <a:t>현지 언어 리뷰가 많아도 주민 비율을 뜻하지 않습니다.</a:t>
            </a:r>
          </a:p>
        </p:txBody>
      </p:sp>
      <p:sp>
        <p:nvSpPr>
          <p:cNvPr id="8" name="">
            <a:extLst xmlns:a="http://schemas.openxmlformats.org/drawingml/2006/main">
              <a:ext uri="{FF2B5EF4-FFF2-40B4-BE49-F238E27FC236}">
                <a16:creationId xmlns:a16="http://schemas.microsoft.com/office/drawing/2014/main" id="{B06F662E-33AC-4186-A530-DDC0F6CD695A}"/>
              </a:ext>
            </a:extLst>
          </p:cNvPr>
          <p:cNvSpPr>
            <a:spLocks xmlns:a="http://schemas.openxmlformats.org/drawingml/2006/main" noGrp="1"/>
          </p:cNvSpPr>
          <p:nvPr/>
        </p:nvSpPr>
        <p:spPr>
          <a:xfrm xmlns:a="http://schemas.openxmlformats.org/drawingml/2006/main">
            <a:off x="609600" y="410527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0">
                <a:solidFill>
                  <a:srgbClr val="252B2C"/>
                </a:solidFill>
                <a:latin typeface="Pretendard"/>
                <a:ea typeface="Pretendard"/>
                <a:cs typeface="Pretendard"/>
              </a:defRPr>
            </a:defPPr>
          </a:lstStyle>
          <a:p xmlns:a="http://schemas.openxmlformats.org/drawingml/2006/main">
            <a:pPr>
              <a:defRPr sz="2400" b="0">
                <a:solidFill>
                  <a:srgbClr val="252B2C"/>
                </a:solidFill>
                <a:latin typeface="Pretendard"/>
                <a:ea typeface="Pretendard"/>
                <a:cs typeface="Pretendard"/>
              </a:defRPr>
            </a:pPr>
            <a:r>
              <a:rPr sz="2400" b="0">
                <a:solidFill>
                  <a:srgbClr val="252B2C"/>
                </a:solidFill>
                <a:latin typeface="Pretendard"/>
                <a:ea typeface="Pretendard"/>
                <a:cs typeface="Pretendard"/>
              </a:rPr>
              <a:t>원문 확보 · 판별 수 · 미판별 수 · 관측 기간</a:t>
            </a:r>
          </a:p>
        </p:txBody>
      </p:sp>
      <p:sp>
        <p:nvSpPr>
          <p:cNvPr id="9" name="">
            <a:extLst xmlns:a="http://schemas.openxmlformats.org/drawingml/2006/main">
              <a:ext uri="{FF2B5EF4-FFF2-40B4-BE49-F238E27FC236}">
                <a16:creationId xmlns:a16="http://schemas.microsoft.com/office/drawing/2014/main" id="{6C9CD5EA-33FF-4F36-9412-4618FB385AC3}"/>
              </a:ext>
            </a:extLst>
          </p:cNvPr>
          <p:cNvSpPr>
            <a:spLocks xmlns:a="http://schemas.openxmlformats.org/drawingml/2006/main" noGrp="1"/>
          </p:cNvSpPr>
          <p:nvPr/>
        </p:nvSpPr>
        <p:spPr>
          <a:xfrm xmlns:a="http://schemas.openxmlformats.org/drawingml/2006/main">
            <a:off x="609600" y="5200650"/>
            <a:ext cx="619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87662A"/>
                </a:solidFill>
                <a:latin typeface="Pretendard"/>
                <a:ea typeface="Pretendard"/>
                <a:cs typeface="Pretendard"/>
              </a:defRPr>
            </a:defPPr>
          </a:lstStyle>
          <a:p xmlns:a="http://schemas.openxmlformats.org/drawingml/2006/main">
            <a:pPr>
              <a:defRPr sz="2400" b="1">
                <a:solidFill>
                  <a:srgbClr val="87662A"/>
                </a:solidFill>
                <a:latin typeface="Pretendard"/>
                <a:ea typeface="Pretendard"/>
                <a:cs typeface="Pretendard"/>
              </a:defRPr>
            </a:pPr>
            <a:r>
              <a:rPr sz="2400" b="1">
                <a:solidFill>
                  <a:srgbClr val="87662A"/>
                </a:solidFill>
                <a:latin typeface="Pretendard"/>
                <a:ea typeface="Pretendard"/>
                <a:cs typeface="Pretendard"/>
              </a:rPr>
              <a:t>엄격 리뷰 추천 OFF</a:t>
            </a:r>
          </a:p>
        </p:txBody>
      </p:sp>
      <p:sp>
        <p:nvSpPr>
          <p:cNvPr id="10" name="">
            <a:extLst xmlns:a="http://schemas.openxmlformats.org/drawingml/2006/main">
              <a:ext uri="{FF2B5EF4-FFF2-40B4-BE49-F238E27FC236}">
                <a16:creationId xmlns:a16="http://schemas.microsoft.com/office/drawing/2014/main" id="{84C133FF-F327-4734-9303-46756543E501}"/>
              </a:ext>
            </a:extLst>
          </p:cNvPr>
          <p:cNvSpPr>
            <a:spLocks xmlns:a="http://schemas.openxmlformats.org/drawingml/2006/main" noGrp="1"/>
          </p:cNvSpPr>
          <p:nvPr/>
        </p:nvSpPr>
        <p:spPr>
          <a:xfrm xmlns:a="http://schemas.openxmlformats.org/drawingml/2006/main">
            <a:off x="609600" y="579120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실제 수집·이용 범위·언어 품질 검증 전에는 켜지 않습니다.</a:t>
            </a:r>
          </a:p>
        </p:txBody>
      </p:sp>
    </p:spTree>
    <p:extLst>
      <p:ext uri="{BB962C8B-B14F-4D97-AF65-F5344CB8AC3E}">
        <p14:creationId xmlns:p14="http://schemas.microsoft.com/office/powerpoint/2010/main" val="885065910"/>
      </p:ext>
    </p:extLst>
  </p:cSld>
</p:sld>
</file>

<file path=ppt/slides/slide8.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0A1BDE-AD82-4C01-9FA9-09CFC5CC494F}"/>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06C70"/>
                </a:solidFill>
                <a:latin typeface="Pretendard"/>
                <a:ea typeface="Pretendard"/>
                <a:cs typeface="Pretendard"/>
              </a:defRPr>
            </a:defPPr>
          </a:lstStyle>
          <a:p xmlns:a="http://schemas.openxmlformats.org/drawingml/2006/main">
            <a:pPr>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일정 편집</a:t>
            </a:r>
          </a:p>
        </p:txBody>
      </p:sp>
      <p:sp>
        <p:nvSpPr>
          <p:cNvPr id="2" name="">
            <a:extLst xmlns:a="http://schemas.openxmlformats.org/drawingml/2006/main">
              <a:ext uri="{FF2B5EF4-FFF2-40B4-BE49-F238E27FC236}">
                <a16:creationId xmlns:a16="http://schemas.microsoft.com/office/drawing/2014/main" id="{1DEA3431-5971-48D8-8470-38A12A3B9343}"/>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252B2C"/>
                </a:solidFill>
                <a:latin typeface="Pretendard"/>
                <a:ea typeface="Pretendard"/>
                <a:cs typeface="Pretendard"/>
              </a:defRPr>
            </a:defPPr>
          </a:lstStyle>
          <a:p xmlns:a="http://schemas.openxmlformats.org/drawingml/2006/main">
            <a:pPr>
              <a:defRPr sz="3450" b="1">
                <a:solidFill>
                  <a:srgbClr val="252B2C"/>
                </a:solidFill>
                <a:latin typeface="Pretendard"/>
                <a:ea typeface="Pretendard"/>
                <a:cs typeface="Pretendard"/>
              </a:defRPr>
            </a:pPr>
            <a:r>
              <a:rPr sz="3450" b="1">
                <a:solidFill>
                  <a:srgbClr val="252B2C"/>
                </a:solidFill>
                <a:latin typeface="Pretendard"/>
                <a:ea typeface="Pretendard"/>
                <a:cs typeface="Pretendard"/>
              </a:rPr>
              <a:t>예약을 지키면서 일정 편집하기</a:t>
            </a:r>
          </a:p>
        </p:txBody>
      </p:sp>
      <p:sp>
        <p:nvSpPr>
          <p:cNvPr id="3" name="">
            <a:extLst xmlns:a="http://schemas.openxmlformats.org/drawingml/2006/main">
              <a:ext uri="{FF2B5EF4-FFF2-40B4-BE49-F238E27FC236}">
                <a16:creationId xmlns:a16="http://schemas.microsoft.com/office/drawing/2014/main" id="{9600C559-CC94-4739-9C1A-D3D372390133}"/>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바로 덮어쓰지 않고 변경 영향을 먼저 봅니다</a:t>
            </a:r>
          </a:p>
        </p:txBody>
      </p:sp>
      <p:sp>
        <p:nvSpPr>
          <p:cNvPr id="4" name="">
            <a:extLst xmlns:a="http://schemas.openxmlformats.org/drawingml/2006/main">
              <a:ext uri="{FF2B5EF4-FFF2-40B4-BE49-F238E27FC236}">
                <a16:creationId xmlns:a16="http://schemas.microsoft.com/office/drawing/2014/main" id="{2291B408-2001-4283-B10A-DB33CE1B0E96}"/>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06C70"/>
                </a:solidFill>
                <a:latin typeface="Pretendard"/>
                <a:ea typeface="Pretendard"/>
                <a:cs typeface="Pretendard"/>
              </a:defRPr>
            </a:defPPr>
          </a:lstStyle>
          <a:p xmlns:a="http://schemas.openxmlformats.org/drawingml/2006/main">
            <a:pPr>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08</a:t>
            </a:r>
          </a:p>
        </p:txBody>
      </p:sp>
      <p:sp>
        <p:nvSpPr>
          <p:cNvPr id="5" name="">
            <a:extLst xmlns:a="http://schemas.openxmlformats.org/drawingml/2006/main">
              <a:ext uri="{FF2B5EF4-FFF2-40B4-BE49-F238E27FC236}">
                <a16:creationId xmlns:a16="http://schemas.microsoft.com/office/drawing/2014/main" id="{F21F9559-FA6F-407A-87F7-12021C9B8419}"/>
              </a:ext>
            </a:extLst>
          </p:cNvPr>
          <p:cNvSpPr>
            <a:spLocks xmlns:a="http://schemas.openxmlformats.org/drawingml/2006/main" noGrp="1"/>
          </p:cNvSpPr>
          <p:nvPr/>
        </p:nvSpPr>
        <p:spPr>
          <a:xfrm xmlns:a="http://schemas.openxmlformats.org/drawingml/2006/main">
            <a:off x="609600" y="64389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06C70"/>
                </a:solidFill>
                <a:latin typeface="Pretendard"/>
                <a:ea typeface="Pretendard"/>
                <a:cs typeface="Pretendard"/>
              </a:defRPr>
            </a:defPPr>
          </a:lstStyle>
          <a:p xmlns:a="http://schemas.openxmlformats.org/drawingml/2006/main">
            <a:pPr>
              <a:defRPr sz="1200" b="0">
                <a:solidFill>
                  <a:srgbClr val="606C70"/>
                </a:solidFill>
                <a:latin typeface="Pretendard"/>
                <a:ea typeface="Pretendard"/>
                <a:cs typeface="Pretendard"/>
              </a:defRPr>
            </a:pPr>
            <a:r>
              <a:rPr sz="1200" b="0">
                <a:solidFill>
                  <a:srgbClr val="606C70"/>
                </a:solidFill>
                <a:latin typeface="Pretendard"/>
                <a:ea typeface="Pretendard"/>
                <a:cs typeface="Pretendard"/>
              </a:rPr>
              <a:t>고잉 · Travel Agent  |  2026.10</a:t>
            </a:r>
          </a:p>
        </p:txBody>
      </p:sp>
      <p:sp>
        <p:nvSpPr>
          <p:cNvPr id="6" name="">
            <a:extLst xmlns:a="http://schemas.openxmlformats.org/drawingml/2006/main">
              <a:ext uri="{FF2B5EF4-FFF2-40B4-BE49-F238E27FC236}">
                <a16:creationId xmlns:a16="http://schemas.microsoft.com/office/drawing/2014/main" id="{4294ABCC-1137-4736-ABD8-0D53D7911A24}"/>
              </a:ext>
            </a:extLst>
          </p:cNvPr>
          <p:cNvSpPr>
            <a:spLocks xmlns:a="http://schemas.openxmlformats.org/drawingml/2006/main" noGrp="1"/>
          </p:cNvSpPr>
          <p:nvPr/>
        </p:nvSpPr>
        <p:spPr>
          <a:xfrm xmlns:a="http://schemas.openxmlformats.org/drawingml/2006/main">
            <a:off x="609600" y="231457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25485A"/>
                </a:solidFill>
                <a:latin typeface="Pretendard"/>
                <a:ea typeface="Pretendard"/>
                <a:cs typeface="Pretendard"/>
              </a:defRPr>
            </a:defPPr>
          </a:lstStyle>
          <a:p xmlns:a="http://schemas.openxmlformats.org/drawingml/2006/main">
            <a:pPr>
              <a:defRPr sz="2400" b="1">
                <a:solidFill>
                  <a:srgbClr val="25485A"/>
                </a:solidFill>
                <a:latin typeface="Pretendard"/>
                <a:ea typeface="Pretendard"/>
                <a:cs typeface="Pretendard"/>
              </a:defRPr>
            </a:pPr>
            <a:r>
              <a:rPr sz="2400" b="1">
                <a:solidFill>
                  <a:srgbClr val="25485A"/>
                </a:solidFill>
                <a:latin typeface="Pretendard"/>
                <a:ea typeface="Pretendard"/>
                <a:cs typeface="Pretendard"/>
              </a:rPr>
              <a:t>확정 예약을 먼저 보존</a:t>
            </a:r>
          </a:p>
        </p:txBody>
      </p:sp>
      <p:sp>
        <p:nvSpPr>
          <p:cNvPr id="7" name="">
            <a:extLst xmlns:a="http://schemas.openxmlformats.org/drawingml/2006/main">
              <a:ext uri="{FF2B5EF4-FFF2-40B4-BE49-F238E27FC236}">
                <a16:creationId xmlns:a16="http://schemas.microsoft.com/office/drawing/2014/main" id="{761EAF88-E77A-4087-9CA2-36FD4EEFD200}"/>
              </a:ext>
            </a:extLst>
          </p:cNvPr>
          <p:cNvSpPr>
            <a:spLocks xmlns:a="http://schemas.openxmlformats.org/drawingml/2006/main" noGrp="1"/>
          </p:cNvSpPr>
          <p:nvPr/>
        </p:nvSpPr>
        <p:spPr>
          <a:xfrm xmlns:a="http://schemas.openxmlformats.org/drawingml/2006/main">
            <a:off x="609600" y="2867025"/>
            <a:ext cx="10906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252B2C"/>
                </a:solidFill>
                <a:latin typeface="Pretendard"/>
                <a:ea typeface="Pretendard"/>
                <a:cs typeface="Pretendard"/>
              </a:defRPr>
            </a:defPPr>
          </a:lstStyle>
          <a:p xmlns:a="http://schemas.openxmlformats.org/drawingml/2006/main">
            <a:pPr>
              <a:defRPr sz="1875" b="0">
                <a:solidFill>
                  <a:srgbClr val="252B2C"/>
                </a:solidFill>
                <a:latin typeface="Pretendard"/>
                <a:ea typeface="Pretendard"/>
                <a:cs typeface="Pretendard"/>
              </a:defRPr>
            </a:pPr>
            <a:r>
              <a:rPr sz="1875" b="0">
                <a:solidFill>
                  <a:srgbClr val="252B2C"/>
                </a:solidFill>
                <a:latin typeface="Pretendard"/>
                <a:ea typeface="Pretendard"/>
                <a:cs typeface="Pretendard"/>
              </a:rPr>
              <a:t>이전 이동 + 체류 + 다음 이동 + 준비 버퍼를 함께 검사합니다.</a:t>
            </a:r>
          </a:p>
        </p:txBody>
      </p:sp>
      <p:pic>
        <p:nvPicPr>
          <p:cNvPr id="8" name="">
            <a:extLst xmlns:a="http://schemas.openxmlformats.org/drawingml/2006/main">
              <a:ext uri="{FF2B5EF4-FFF2-40B4-BE49-F238E27FC236}">
                <a16:creationId xmlns:a16="http://schemas.microsoft.com/office/drawing/2014/main" id="{B00B876C-5D7B-4F58-B72D-527F8161FF8E}"/>
              </a:ext>
            </a:extLst>
          </p:cNvPr>
          <p:cNvPicPr>
            <a:picLocks xmlns:a="http://schemas.openxmlformats.org/drawingml/2006/main" noChangeAspect="1"/>
          </p:cNvPicPr>
          <p:nvPr/>
        </p:nvPicPr>
        <p:blipFill>
          <a:blip xmlns:r="http://schemas.openxmlformats.org/officeDocument/2006/relationships" xmlns:a="http://schemas.openxmlformats.org/drawingml/2006/main" r:embed="R6cf7b62460ac41b0"/>
          <a:stretch xmlns:a="http://schemas.openxmlformats.org/drawingml/2006/main"/>
        </p:blipFill>
        <p:spPr>
          <a:xfrm xmlns:a="http://schemas.openxmlformats.org/drawingml/2006/main">
            <a:off x="5880486" y="3581400"/>
            <a:ext cx="5203053" cy="27051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10672445-7A07-4678-B3E2-C5B9F0E98093}"/>
              </a:ext>
            </a:extLst>
          </p:cNvPr>
          <p:cNvSpPr>
            <a:spLocks xmlns:a="http://schemas.openxmlformats.org/drawingml/2006/main" noGrp="1"/>
          </p:cNvSpPr>
          <p:nvPr/>
        </p:nvSpPr>
        <p:spPr>
          <a:xfrm xmlns:a="http://schemas.openxmlformats.org/drawingml/2006/main">
            <a:off x="609600" y="3686175"/>
            <a:ext cx="42862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252B2C"/>
                </a:solidFill>
                <a:latin typeface="Pretendard"/>
                <a:ea typeface="Pretendard"/>
                <a:cs typeface="Pretendard"/>
              </a:defRPr>
            </a:defPPr>
          </a:lstStyle>
          <a:p xmlns:a="http://schemas.openxmlformats.org/drawingml/2006/main">
            <a:pPr>
              <a:defRPr sz="2550" b="1">
                <a:solidFill>
                  <a:srgbClr val="252B2C"/>
                </a:solidFill>
                <a:latin typeface="Pretendard"/>
                <a:ea typeface="Pretendard"/>
                <a:cs typeface="Pretendard"/>
              </a:defRPr>
            </a:pPr>
            <a:r>
              <a:rPr sz="2550" b="1">
                <a:solidFill>
                  <a:srgbClr val="252B2C"/>
                </a:solidFill>
                <a:latin typeface="Pretendard"/>
                <a:ea typeface="Pretendard"/>
                <a:cs typeface="Pretendard"/>
              </a:rPr>
              <a:t>미리보기</a:t>
            </a:r>
          </a:p>
          <a:p xmlns:a="http://schemas.openxmlformats.org/drawingml/2006/main">
            <a:pPr>
              <a:defRPr sz="2550" b="1">
                <a:solidFill>
                  <a:srgbClr val="252B2C"/>
                </a:solidFill>
                <a:latin typeface="Pretendard"/>
                <a:ea typeface="Pretendard"/>
                <a:cs typeface="Pretendard"/>
              </a:defRPr>
            </a:pPr>
            <a:r>
              <a:rPr sz="2550" b="1">
                <a:solidFill>
                  <a:srgbClr val="252B2C"/>
                </a:solidFill>
                <a:latin typeface="Pretendard"/>
                <a:ea typeface="Pretendard"/>
                <a:cs typeface="Pretendard"/>
              </a:rPr>
              <a:t>적용</a:t>
            </a:r>
          </a:p>
          <a:p xmlns:a="http://schemas.openxmlformats.org/drawingml/2006/main">
            <a:pPr>
              <a:defRPr sz="2550" b="1">
                <a:solidFill>
                  <a:srgbClr val="252B2C"/>
                </a:solidFill>
                <a:latin typeface="Pretendard"/>
                <a:ea typeface="Pretendard"/>
                <a:cs typeface="Pretendard"/>
              </a:defRPr>
            </a:pPr>
            <a:r>
              <a:rPr sz="2550" b="1">
                <a:solidFill>
                  <a:srgbClr val="252B2C"/>
                </a:solidFill>
                <a:latin typeface="Pretendard"/>
                <a:ea typeface="Pretendard"/>
                <a:cs typeface="Pretendard"/>
              </a:rPr>
              <a:t>되돌리기</a:t>
            </a:r>
          </a:p>
        </p:txBody>
      </p:sp>
      <p:sp>
        <p:nvSpPr>
          <p:cNvPr id="10" name="">
            <a:extLst xmlns:a="http://schemas.openxmlformats.org/drawingml/2006/main">
              <a:ext uri="{FF2B5EF4-FFF2-40B4-BE49-F238E27FC236}">
                <a16:creationId xmlns:a16="http://schemas.microsoft.com/office/drawing/2014/main" id="{4A3A6970-2140-4EFD-97DF-ACEDA1F15F69}"/>
              </a:ext>
            </a:extLst>
          </p:cNvPr>
          <p:cNvSpPr>
            <a:spLocks xmlns:a="http://schemas.openxmlformats.org/drawingml/2006/main" noGrp="1"/>
          </p:cNvSpPr>
          <p:nvPr/>
        </p:nvSpPr>
        <p:spPr>
          <a:xfrm xmlns:a="http://schemas.openxmlformats.org/drawingml/2006/main">
            <a:off x="609600" y="5534025"/>
            <a:ext cx="4286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606C70"/>
                </a:solidFill>
                <a:latin typeface="Pretendard"/>
                <a:ea typeface="Pretendard"/>
                <a:cs typeface="Pretendard"/>
              </a:defRPr>
            </a:defPPr>
          </a:lstStyle>
          <a:p xmlns:a="http://schemas.openxmlformats.org/drawingml/2006/main">
            <a:pPr>
              <a:defRPr sz="1725" b="0">
                <a:solidFill>
                  <a:srgbClr val="606C70"/>
                </a:solidFill>
                <a:latin typeface="Pretendard"/>
                <a:ea typeface="Pretendard"/>
                <a:cs typeface="Pretendard"/>
              </a:defRPr>
            </a:pPr>
            <a:r>
              <a:rPr sz="1725" b="0">
                <a:solidFill>
                  <a:srgbClr val="606C70"/>
                </a:solidFill>
                <a:latin typeface="Pretendard"/>
                <a:ea typeface="Pretendard"/>
                <a:cs typeface="Pretendard"/>
              </a:rPr>
              <a:t>화면: 이동·준비 시간 충돌을</a:t>
            </a:r>
          </a:p>
          <a:p xmlns:a="http://schemas.openxmlformats.org/drawingml/2006/main">
            <a:pPr>
              <a:defRPr sz="1725" b="0">
                <a:solidFill>
                  <a:srgbClr val="606C70"/>
                </a:solidFill>
                <a:latin typeface="Pretendard"/>
                <a:ea typeface="Pretendard"/>
                <a:cs typeface="Pretendard"/>
              </a:defRPr>
            </a:pPr>
            <a:r>
              <a:rPr sz="1725" b="0">
                <a:solidFill>
                  <a:srgbClr val="606C70"/>
                </a:solidFill>
                <a:latin typeface="Pretendard"/>
                <a:ea typeface="Pretendard"/>
                <a:cs typeface="Pretendard"/>
              </a:rPr>
              <a:t>숨기지 않은 예시 일정</a:t>
            </a:r>
          </a:p>
        </p:txBody>
      </p:sp>
    </p:spTree>
    <p:extLst>
      <p:ext uri="{BB962C8B-B14F-4D97-AF65-F5344CB8AC3E}">
        <p14:creationId xmlns:p14="http://schemas.microsoft.com/office/powerpoint/2010/main" val="975248785"/>
      </p:ext>
    </p:extLst>
  </p:cSld>
</p:sld>
</file>

<file path=ppt/slides/slide9.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1382B12-F19A-44FA-9C51-CEEC25BD20E5}"/>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06C70"/>
                </a:solidFill>
                <a:latin typeface="Pretendard"/>
                <a:ea typeface="Pretendard"/>
                <a:cs typeface="Pretendard"/>
              </a:defRPr>
            </a:defPPr>
          </a:lstStyle>
          <a:p xmlns:a="http://schemas.openxmlformats.org/drawingml/2006/main">
            <a:pPr>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운영과 복구</a:t>
            </a:r>
          </a:p>
        </p:txBody>
      </p:sp>
      <p:sp>
        <p:nvSpPr>
          <p:cNvPr id="2" name="">
            <a:extLst xmlns:a="http://schemas.openxmlformats.org/drawingml/2006/main">
              <a:ext uri="{FF2B5EF4-FFF2-40B4-BE49-F238E27FC236}">
                <a16:creationId xmlns:a16="http://schemas.microsoft.com/office/drawing/2014/main" id="{8B4F1907-DE2F-4A82-ACFD-691B2B47870C}"/>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252B2C"/>
                </a:solidFill>
                <a:latin typeface="Pretendard"/>
                <a:ea typeface="Pretendard"/>
                <a:cs typeface="Pretendard"/>
              </a:defRPr>
            </a:defPPr>
          </a:lstStyle>
          <a:p xmlns:a="http://schemas.openxmlformats.org/drawingml/2006/main">
            <a:pPr>
              <a:defRPr sz="3450" b="1">
                <a:solidFill>
                  <a:srgbClr val="252B2C"/>
                </a:solidFill>
                <a:latin typeface="Pretendard"/>
                <a:ea typeface="Pretendard"/>
                <a:cs typeface="Pretendard"/>
              </a:defRPr>
            </a:pPr>
            <a:r>
              <a:rPr sz="3450" b="1">
                <a:solidFill>
                  <a:srgbClr val="252B2C"/>
                </a:solidFill>
                <a:latin typeface="Pretendard"/>
                <a:ea typeface="Pretendard"/>
                <a:cs typeface="Pretendard"/>
              </a:rPr>
              <a:t>계속 쓸 수 있게 고친 부분</a:t>
            </a:r>
          </a:p>
        </p:txBody>
      </p:sp>
      <p:sp>
        <p:nvSpPr>
          <p:cNvPr id="3" name="">
            <a:extLst xmlns:a="http://schemas.openxmlformats.org/drawingml/2006/main">
              <a:ext uri="{FF2B5EF4-FFF2-40B4-BE49-F238E27FC236}">
                <a16:creationId xmlns:a16="http://schemas.microsoft.com/office/drawing/2014/main" id="{930F20CF-0FF6-4D08-BE9C-3B0BDB4CA133}"/>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새로고침, 재시작, 외부 검색 실패에 대응합니다</a:t>
            </a:r>
          </a:p>
        </p:txBody>
      </p:sp>
      <p:sp>
        <p:nvSpPr>
          <p:cNvPr id="4" name="">
            <a:extLst xmlns:a="http://schemas.openxmlformats.org/drawingml/2006/main">
              <a:ext uri="{FF2B5EF4-FFF2-40B4-BE49-F238E27FC236}">
                <a16:creationId xmlns:a16="http://schemas.microsoft.com/office/drawing/2014/main" id="{DD7A908F-7096-4D24-BC5B-86F314BA7116}"/>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06C70"/>
                </a:solidFill>
                <a:latin typeface="Pretendard"/>
                <a:ea typeface="Pretendard"/>
                <a:cs typeface="Pretendard"/>
              </a:defRPr>
            </a:defPPr>
          </a:lstStyle>
          <a:p xmlns:a="http://schemas.openxmlformats.org/drawingml/2006/main">
            <a:pPr>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09</a:t>
            </a:r>
          </a:p>
        </p:txBody>
      </p:sp>
      <p:sp>
        <p:nvSpPr>
          <p:cNvPr id="5" name="">
            <a:extLst xmlns:a="http://schemas.openxmlformats.org/drawingml/2006/main">
              <a:ext uri="{FF2B5EF4-FFF2-40B4-BE49-F238E27FC236}">
                <a16:creationId xmlns:a16="http://schemas.microsoft.com/office/drawing/2014/main" id="{1F448F71-F6E2-4A80-AD6B-CFCFED034184}"/>
              </a:ext>
            </a:extLst>
          </p:cNvPr>
          <p:cNvSpPr>
            <a:spLocks xmlns:a="http://schemas.openxmlformats.org/drawingml/2006/main" noGrp="1"/>
          </p:cNvSpPr>
          <p:nvPr/>
        </p:nvSpPr>
        <p:spPr>
          <a:xfrm xmlns:a="http://schemas.openxmlformats.org/drawingml/2006/main">
            <a:off x="609600" y="64389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06C70"/>
                </a:solidFill>
                <a:latin typeface="Pretendard"/>
                <a:ea typeface="Pretendard"/>
                <a:cs typeface="Pretendard"/>
              </a:defRPr>
            </a:defPPr>
          </a:lstStyle>
          <a:p xmlns:a="http://schemas.openxmlformats.org/drawingml/2006/main">
            <a:pPr>
              <a:defRPr sz="1200" b="0">
                <a:solidFill>
                  <a:srgbClr val="606C70"/>
                </a:solidFill>
                <a:latin typeface="Pretendard"/>
                <a:ea typeface="Pretendard"/>
                <a:cs typeface="Pretendard"/>
              </a:defRPr>
            </a:pPr>
            <a:r>
              <a:rPr sz="1200" b="0">
                <a:solidFill>
                  <a:srgbClr val="606C70"/>
                </a:solidFill>
                <a:latin typeface="Pretendard"/>
                <a:ea typeface="Pretendard"/>
                <a:cs typeface="Pretendard"/>
              </a:rPr>
              <a:t>고잉 · Travel Agent  |  2026.10</a:t>
            </a:r>
          </a:p>
        </p:txBody>
      </p:sp>
      <p:sp>
        <p:nvSpPr>
          <p:cNvPr id="6" name="">
            <a:extLst xmlns:a="http://schemas.openxmlformats.org/drawingml/2006/main">
              <a:ext uri="{FF2B5EF4-FFF2-40B4-BE49-F238E27FC236}">
                <a16:creationId xmlns:a16="http://schemas.microsoft.com/office/drawing/2014/main" id="{8A1BF342-B26A-4E71-8437-3904ACC2DA7E}"/>
              </a:ext>
            </a:extLst>
          </p:cNvPr>
          <p:cNvSpPr>
            <a:spLocks xmlns:a="http://schemas.openxmlformats.org/drawingml/2006/main" noGrp="1"/>
          </p:cNvSpPr>
          <p:nvPr/>
        </p:nvSpPr>
        <p:spPr>
          <a:xfrm xmlns:a="http://schemas.openxmlformats.org/drawingml/2006/main">
            <a:off x="609600" y="2295525"/>
            <a:ext cx="10620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25485A"/>
                </a:solidFill>
                <a:latin typeface="Pretendard"/>
                <a:ea typeface="Pretendard"/>
                <a:cs typeface="Pretendard"/>
              </a:defRPr>
            </a:defPPr>
          </a:lstStyle>
          <a:p xmlns:a="http://schemas.openxmlformats.org/drawingml/2006/main">
            <a:pPr>
              <a:defRPr sz="2325" b="1">
                <a:solidFill>
                  <a:srgbClr val="25485A"/>
                </a:solidFill>
                <a:latin typeface="Pretendard"/>
                <a:ea typeface="Pretendard"/>
                <a:cs typeface="Pretendard"/>
              </a:defRPr>
            </a:pPr>
            <a:r>
              <a:rPr sz="2325" b="1">
                <a:solidFill>
                  <a:srgbClr val="25485A"/>
                </a:solidFill>
                <a:latin typeface="Pretendard"/>
                <a:ea typeface="Pretendard"/>
                <a:cs typeface="Pretendard"/>
              </a:rPr>
              <a:t>FastAPI + 단일 dispatcher</a:t>
            </a:r>
          </a:p>
        </p:txBody>
      </p:sp>
      <p:sp>
        <p:nvSpPr>
          <p:cNvPr id="7" name="">
            <a:extLst xmlns:a="http://schemas.openxmlformats.org/drawingml/2006/main">
              <a:ext uri="{FF2B5EF4-FFF2-40B4-BE49-F238E27FC236}">
                <a16:creationId xmlns:a16="http://schemas.microsoft.com/office/drawing/2014/main" id="{EF6B800D-9DBA-44EC-88D1-9CFEF201A37A}"/>
              </a:ext>
            </a:extLst>
          </p:cNvPr>
          <p:cNvSpPr>
            <a:spLocks xmlns:a="http://schemas.openxmlformats.org/drawingml/2006/main" noGrp="1"/>
          </p:cNvSpPr>
          <p:nvPr/>
        </p:nvSpPr>
        <p:spPr>
          <a:xfrm xmlns:a="http://schemas.openxmlformats.org/drawingml/2006/main">
            <a:off x="609600" y="2771775"/>
            <a:ext cx="10620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52B2C"/>
                </a:solidFill>
                <a:latin typeface="Pretendard"/>
                <a:ea typeface="Pretendard"/>
                <a:cs typeface="Pretendard"/>
              </a:defRPr>
            </a:defPPr>
          </a:lstStyle>
          <a:p xmlns:a="http://schemas.openxmlformats.org/drawingml/2006/main">
            <a:pPr>
              <a:defRPr sz="1950" b="0">
                <a:solidFill>
                  <a:srgbClr val="252B2C"/>
                </a:solidFill>
                <a:latin typeface="Pretendard"/>
                <a:ea typeface="Pretendard"/>
                <a:cs typeface="Pretendard"/>
              </a:defRPr>
            </a:pPr>
            <a:r>
              <a:rPr sz="1950" b="0">
                <a:solidFill>
                  <a:srgbClr val="252B2C"/>
                </a:solidFill>
                <a:latin typeface="Pretendard"/>
                <a:ea typeface="Pretendard"/>
                <a:cs typeface="Pretendard"/>
              </a:rPr>
              <a:t>작업 상태·재시도·예산을 DB에 기록</a:t>
            </a:r>
          </a:p>
        </p:txBody>
      </p:sp>
      <p:sp>
        <p:nvSpPr>
          <p:cNvPr id="8" name="">
            <a:extLst xmlns:a="http://schemas.openxmlformats.org/drawingml/2006/main">
              <a:ext uri="{FF2B5EF4-FFF2-40B4-BE49-F238E27FC236}">
                <a16:creationId xmlns:a16="http://schemas.microsoft.com/office/drawing/2014/main" id="{9834AD9E-C4E3-4CF5-813F-A37706E3FF9E}"/>
              </a:ext>
            </a:extLst>
          </p:cNvPr>
          <p:cNvSpPr>
            <a:spLocks xmlns:a="http://schemas.openxmlformats.org/drawingml/2006/main" noGrp="1"/>
          </p:cNvSpPr>
          <p:nvPr/>
        </p:nvSpPr>
        <p:spPr>
          <a:xfrm xmlns:a="http://schemas.openxmlformats.org/drawingml/2006/main">
            <a:off x="609600" y="3429000"/>
            <a:ext cx="10620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25485A"/>
                </a:solidFill>
                <a:latin typeface="Pretendard"/>
                <a:ea typeface="Pretendard"/>
                <a:cs typeface="Pretendard"/>
              </a:defRPr>
            </a:defPPr>
          </a:lstStyle>
          <a:p xmlns:a="http://schemas.openxmlformats.org/drawingml/2006/main">
            <a:pPr>
              <a:defRPr sz="2325" b="1">
                <a:solidFill>
                  <a:srgbClr val="25485A"/>
                </a:solidFill>
                <a:latin typeface="Pretendard"/>
                <a:ea typeface="Pretendard"/>
                <a:cs typeface="Pretendard"/>
              </a:defRPr>
            </a:pPr>
            <a:r>
              <a:rPr sz="2325" b="1">
                <a:solidFill>
                  <a:srgbClr val="25485A"/>
                </a:solidFill>
                <a:latin typeface="Pretendard"/>
                <a:ea typeface="Pretendard"/>
                <a:cs typeface="Pretendard"/>
              </a:rPr>
              <a:t>Render Free + Supabase</a:t>
            </a:r>
          </a:p>
        </p:txBody>
      </p:sp>
      <p:sp>
        <p:nvSpPr>
          <p:cNvPr id="9" name="">
            <a:extLst xmlns:a="http://schemas.openxmlformats.org/drawingml/2006/main">
              <a:ext uri="{FF2B5EF4-FFF2-40B4-BE49-F238E27FC236}">
                <a16:creationId xmlns:a16="http://schemas.microsoft.com/office/drawing/2014/main" id="{2A93E71E-2C6F-47FF-8D8F-30F1477DA39E}"/>
              </a:ext>
            </a:extLst>
          </p:cNvPr>
          <p:cNvSpPr>
            <a:spLocks xmlns:a="http://schemas.openxmlformats.org/drawingml/2006/main" noGrp="1"/>
          </p:cNvSpPr>
          <p:nvPr/>
        </p:nvSpPr>
        <p:spPr>
          <a:xfrm xmlns:a="http://schemas.openxmlformats.org/drawingml/2006/main">
            <a:off x="609600" y="3905250"/>
            <a:ext cx="10620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52B2C"/>
                </a:solidFill>
                <a:latin typeface="Pretendard"/>
                <a:ea typeface="Pretendard"/>
                <a:cs typeface="Pretendard"/>
              </a:defRPr>
            </a:defPPr>
          </a:lstStyle>
          <a:p xmlns:a="http://schemas.openxmlformats.org/drawingml/2006/main">
            <a:pPr>
              <a:defRPr sz="1950" b="0">
                <a:solidFill>
                  <a:srgbClr val="252B2C"/>
                </a:solidFill>
                <a:latin typeface="Pretendard"/>
                <a:ea typeface="Pretendard"/>
                <a:cs typeface="Pretendard"/>
              </a:defRPr>
            </a:pPr>
            <a:r>
              <a:rPr sz="1950" b="0">
                <a:solidFill>
                  <a:srgbClr val="252B2C"/>
                </a:solidFill>
                <a:latin typeface="Pretendard"/>
                <a:ea typeface="Pretendard"/>
                <a:cs typeface="Pretendard"/>
              </a:rPr>
              <a:t>SQL · 비공개 원문 · pgvector 보관</a:t>
            </a:r>
          </a:p>
        </p:txBody>
      </p:sp>
      <p:sp>
        <p:nvSpPr>
          <p:cNvPr id="10" name="">
            <a:extLst xmlns:a="http://schemas.openxmlformats.org/drawingml/2006/main">
              <a:ext uri="{FF2B5EF4-FFF2-40B4-BE49-F238E27FC236}">
                <a16:creationId xmlns:a16="http://schemas.microsoft.com/office/drawing/2014/main" id="{1446E490-B18C-4682-829A-2B1A56FF09C9}"/>
              </a:ext>
            </a:extLst>
          </p:cNvPr>
          <p:cNvSpPr>
            <a:spLocks xmlns:a="http://schemas.openxmlformats.org/drawingml/2006/main" noGrp="1"/>
          </p:cNvSpPr>
          <p:nvPr/>
        </p:nvSpPr>
        <p:spPr>
          <a:xfrm xmlns:a="http://schemas.openxmlformats.org/drawingml/2006/main">
            <a:off x="609600" y="4562475"/>
            <a:ext cx="10620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25485A"/>
                </a:solidFill>
                <a:latin typeface="Pretendard"/>
                <a:ea typeface="Pretendard"/>
                <a:cs typeface="Pretendard"/>
              </a:defRPr>
            </a:defPPr>
          </a:lstStyle>
          <a:p xmlns:a="http://schemas.openxmlformats.org/drawingml/2006/main">
            <a:pPr>
              <a:defRPr sz="2325" b="1">
                <a:solidFill>
                  <a:srgbClr val="25485A"/>
                </a:solidFill>
                <a:latin typeface="Pretendard"/>
                <a:ea typeface="Pretendard"/>
                <a:cs typeface="Pretendard"/>
              </a:defRPr>
            </a:pPr>
            <a:r>
              <a:rPr sz="2325" b="1">
                <a:solidFill>
                  <a:srgbClr val="25485A"/>
                </a:solidFill>
                <a:latin typeface="Pretendard"/>
                <a:ea typeface="Pretendard"/>
                <a:cs typeface="Pretendard"/>
              </a:rPr>
              <a:t>Photon 공개지도 검색</a:t>
            </a:r>
          </a:p>
        </p:txBody>
      </p:sp>
      <p:sp>
        <p:nvSpPr>
          <p:cNvPr id="11" name="">
            <a:extLst xmlns:a="http://schemas.openxmlformats.org/drawingml/2006/main">
              <a:ext uri="{FF2B5EF4-FFF2-40B4-BE49-F238E27FC236}">
                <a16:creationId xmlns:a16="http://schemas.microsoft.com/office/drawing/2014/main" id="{17B6E080-F6AD-448A-9C68-C1AA2E34710F}"/>
              </a:ext>
            </a:extLst>
          </p:cNvPr>
          <p:cNvSpPr>
            <a:spLocks xmlns:a="http://schemas.openxmlformats.org/drawingml/2006/main" noGrp="1"/>
          </p:cNvSpPr>
          <p:nvPr/>
        </p:nvSpPr>
        <p:spPr>
          <a:xfrm xmlns:a="http://schemas.openxmlformats.org/drawingml/2006/main">
            <a:off x="609600" y="5038725"/>
            <a:ext cx="10620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52B2C"/>
                </a:solidFill>
                <a:latin typeface="Pretendard"/>
                <a:ea typeface="Pretendard"/>
                <a:cs typeface="Pretendard"/>
              </a:defRPr>
            </a:defPPr>
          </a:lstStyle>
          <a:p xmlns:a="http://schemas.openxmlformats.org/drawingml/2006/main">
            <a:pPr>
              <a:defRPr sz="1950" b="0">
                <a:solidFill>
                  <a:srgbClr val="252B2C"/>
                </a:solidFill>
                <a:latin typeface="Pretendard"/>
                <a:ea typeface="Pretendard"/>
                <a:cs typeface="Pretendard"/>
              </a:defRPr>
            </a:pPr>
            <a:r>
              <a:rPr sz="1950" b="0">
                <a:solidFill>
                  <a:srgbClr val="252B2C"/>
                </a:solidFill>
                <a:latin typeface="Pretendard"/>
                <a:ea typeface="Pretendard"/>
                <a:cs typeface="Pretendard"/>
              </a:rPr>
              <a:t>런던 지점 50곳 · 음식점 후보 12곳</a:t>
            </a:r>
          </a:p>
        </p:txBody>
      </p:sp>
      <p:sp>
        <p:nvSpPr>
          <p:cNvPr id="12" name="">
            <a:extLst xmlns:a="http://schemas.openxmlformats.org/drawingml/2006/main">
              <a:ext uri="{FF2B5EF4-FFF2-40B4-BE49-F238E27FC236}">
                <a16:creationId xmlns:a16="http://schemas.microsoft.com/office/drawing/2014/main" id="{BB6C79F2-BF5D-4F9E-8766-2F26BA26CEC2}"/>
              </a:ext>
            </a:extLst>
          </p:cNvPr>
          <p:cNvSpPr>
            <a:spLocks xmlns:a="http://schemas.openxmlformats.org/drawingml/2006/main" noGrp="1"/>
          </p:cNvSpPr>
          <p:nvPr/>
        </p:nvSpPr>
        <p:spPr>
          <a:xfrm xmlns:a="http://schemas.openxmlformats.org/drawingml/2006/main">
            <a:off x="609600" y="5895975"/>
            <a:ext cx="10934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606C70"/>
                </a:solidFill>
                <a:latin typeface="Pretendard"/>
                <a:ea typeface="Pretendard"/>
                <a:cs typeface="Pretendard"/>
              </a:defRPr>
            </a:defPPr>
          </a:lstStyle>
          <a:p xmlns:a="http://schemas.openxmlformats.org/drawingml/2006/main">
            <a:pPr>
              <a:defRPr sz="1725" b="0">
                <a:solidFill>
                  <a:srgbClr val="606C70"/>
                </a:solidFill>
                <a:latin typeface="Pretendard"/>
                <a:ea typeface="Pretendard"/>
                <a:cs typeface="Pretendard"/>
              </a:defRPr>
            </a:pPr>
            <a:r>
              <a:rPr sz="1725" b="0">
                <a:solidFill>
                  <a:srgbClr val="606C70"/>
                </a:solidFill>
                <a:latin typeface="Pretendard"/>
                <a:ea typeface="Pretendard"/>
                <a:cs typeface="Pretendard"/>
              </a:rPr>
              <a:t>캐시 재조회 시 추가 지도 호출 0회. 후보 수는 방문 적합성 검증 수와 다릅니다.</a:t>
            </a:r>
          </a:p>
        </p:txBody>
      </p:sp>
    </p:spTree>
    <p:extLst>
      <p:ext uri="{BB962C8B-B14F-4D97-AF65-F5344CB8AC3E}">
        <p14:creationId xmlns:p14="http://schemas.microsoft.com/office/powerpoint/2010/main" val="1064254562"/>
      </p:ext>
    </p:extLst>
  </p:cSld>
</p:sld>
</file>

<file path=ppt/slides/slide10.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96B4441-B029-49EF-AD4E-A9EBEBA6FC66}"/>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606C70"/>
                </a:solidFill>
                <a:latin typeface="Pretendard"/>
                <a:ea typeface="Pretendard"/>
                <a:cs typeface="Pretendard"/>
              </a:defRPr>
            </a:defPPr>
          </a:lstStyle>
          <a:p xmlns:a="http://schemas.openxmlformats.org/drawingml/2006/main">
            <a:pPr>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검증과 다음 과제</a:t>
            </a:r>
          </a:p>
        </p:txBody>
      </p:sp>
      <p:sp>
        <p:nvSpPr>
          <p:cNvPr id="2" name="">
            <a:extLst xmlns:a="http://schemas.openxmlformats.org/drawingml/2006/main">
              <a:ext uri="{FF2B5EF4-FFF2-40B4-BE49-F238E27FC236}">
                <a16:creationId xmlns:a16="http://schemas.microsoft.com/office/drawing/2014/main" id="{2B52ADD2-AB2B-4644-828E-D90C18447DFB}"/>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450" b="1">
                <a:solidFill>
                  <a:srgbClr val="252B2C"/>
                </a:solidFill>
                <a:latin typeface="Pretendard"/>
                <a:ea typeface="Pretendard"/>
                <a:cs typeface="Pretendard"/>
              </a:defRPr>
            </a:defPPr>
          </a:lstStyle>
          <a:p xmlns:a="http://schemas.openxmlformats.org/drawingml/2006/main">
            <a:pPr>
              <a:defRPr sz="3450" b="1">
                <a:solidFill>
                  <a:srgbClr val="252B2C"/>
                </a:solidFill>
                <a:latin typeface="Pretendard"/>
                <a:ea typeface="Pretendard"/>
                <a:cs typeface="Pretendard"/>
              </a:defRPr>
            </a:pPr>
            <a:r>
              <a:rPr sz="3450" b="1">
                <a:solidFill>
                  <a:srgbClr val="252B2C"/>
                </a:solidFill>
                <a:latin typeface="Pretendard"/>
                <a:ea typeface="Pretendard"/>
                <a:cs typeface="Pretendard"/>
              </a:rPr>
              <a:t>현재 상태와 다음 과제</a:t>
            </a:r>
          </a:p>
        </p:txBody>
      </p:sp>
      <p:sp>
        <p:nvSpPr>
          <p:cNvPr id="3" name="">
            <a:extLst xmlns:a="http://schemas.openxmlformats.org/drawingml/2006/main">
              <a:ext uri="{FF2B5EF4-FFF2-40B4-BE49-F238E27FC236}">
                <a16:creationId xmlns:a16="http://schemas.microsoft.com/office/drawing/2014/main" id="{883371E6-32FA-4862-BD61-A874BBC301E4}"/>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606C70"/>
                </a:solidFill>
                <a:latin typeface="Pretendard"/>
                <a:ea typeface="Pretendard"/>
                <a:cs typeface="Pretendard"/>
              </a:defRPr>
            </a:defPPr>
          </a:lstStyle>
          <a:p xmlns:a="http://schemas.openxmlformats.org/drawingml/2006/main">
            <a:pPr>
              <a:defRPr sz="1875" b="0">
                <a:solidFill>
                  <a:srgbClr val="606C70"/>
                </a:solidFill>
                <a:latin typeface="Pretendard"/>
                <a:ea typeface="Pretendard"/>
                <a:cs typeface="Pretendard"/>
              </a:defRPr>
            </a:pPr>
            <a:r>
              <a:rPr sz="1875" b="0">
                <a:solidFill>
                  <a:srgbClr val="606C70"/>
                </a:solidFill>
                <a:latin typeface="Pretendard"/>
                <a:ea typeface="Pretendard"/>
                <a:cs typeface="Pretendard"/>
              </a:rPr>
              <a:t>직접 써 보면서 입력과 대기 시간을 더 줄이려 합니다</a:t>
            </a:r>
          </a:p>
        </p:txBody>
      </p:sp>
      <p:sp>
        <p:nvSpPr>
          <p:cNvPr id="4" name="">
            <a:extLst xmlns:a="http://schemas.openxmlformats.org/drawingml/2006/main">
              <a:ext uri="{FF2B5EF4-FFF2-40B4-BE49-F238E27FC236}">
                <a16:creationId xmlns:a16="http://schemas.microsoft.com/office/drawing/2014/main" id="{50547D28-8D39-4094-9D32-F750406A7B73}"/>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06C70"/>
                </a:solidFill>
                <a:latin typeface="Pretendard"/>
                <a:ea typeface="Pretendard"/>
                <a:cs typeface="Pretendard"/>
              </a:defRPr>
            </a:defPPr>
          </a:lstStyle>
          <a:p xmlns:a="http://schemas.openxmlformats.org/drawingml/2006/main">
            <a:pPr>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10</a:t>
            </a:r>
          </a:p>
        </p:txBody>
      </p:sp>
      <p:sp>
        <p:nvSpPr>
          <p:cNvPr id="5" name="">
            <a:extLst xmlns:a="http://schemas.openxmlformats.org/drawingml/2006/main">
              <a:ext uri="{FF2B5EF4-FFF2-40B4-BE49-F238E27FC236}">
                <a16:creationId xmlns:a16="http://schemas.microsoft.com/office/drawing/2014/main" id="{82C0AE45-F49C-4D42-8EC9-547EFE1B6AAF}"/>
              </a:ext>
            </a:extLst>
          </p:cNvPr>
          <p:cNvSpPr>
            <a:spLocks xmlns:a="http://schemas.openxmlformats.org/drawingml/2006/main" noGrp="1"/>
          </p:cNvSpPr>
          <p:nvPr/>
        </p:nvSpPr>
        <p:spPr>
          <a:xfrm xmlns:a="http://schemas.openxmlformats.org/drawingml/2006/main">
            <a:off x="609600" y="64389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06C70"/>
                </a:solidFill>
                <a:latin typeface="Pretendard"/>
                <a:ea typeface="Pretendard"/>
                <a:cs typeface="Pretendard"/>
              </a:defRPr>
            </a:defPPr>
          </a:lstStyle>
          <a:p xmlns:a="http://schemas.openxmlformats.org/drawingml/2006/main">
            <a:pPr>
              <a:defRPr sz="1200" b="0">
                <a:solidFill>
                  <a:srgbClr val="606C70"/>
                </a:solidFill>
                <a:latin typeface="Pretendard"/>
                <a:ea typeface="Pretendard"/>
                <a:cs typeface="Pretendard"/>
              </a:defRPr>
            </a:pPr>
            <a:r>
              <a:rPr sz="1200" b="0">
                <a:solidFill>
                  <a:srgbClr val="606C70"/>
                </a:solidFill>
                <a:latin typeface="Pretendard"/>
                <a:ea typeface="Pretendard"/>
                <a:cs typeface="Pretendard"/>
              </a:rPr>
              <a:t>고잉 · Travel Agent  |  2026.10</a:t>
            </a:r>
          </a:p>
        </p:txBody>
      </p:sp>
      <p:sp>
        <p:nvSpPr>
          <p:cNvPr id="6" name="">
            <a:extLst xmlns:a="http://schemas.openxmlformats.org/drawingml/2006/main">
              <a:ext uri="{FF2B5EF4-FFF2-40B4-BE49-F238E27FC236}">
                <a16:creationId xmlns:a16="http://schemas.microsoft.com/office/drawing/2014/main" id="{7162F4E3-4941-4205-AE82-A024C8E6418F}"/>
              </a:ext>
            </a:extLst>
          </p:cNvPr>
          <p:cNvSpPr>
            <a:spLocks xmlns:a="http://schemas.openxmlformats.org/drawingml/2006/main" noGrp="1"/>
          </p:cNvSpPr>
          <p:nvPr/>
        </p:nvSpPr>
        <p:spPr>
          <a:xfrm xmlns:a="http://schemas.openxmlformats.org/drawingml/2006/main">
            <a:off x="609600" y="2343150"/>
            <a:ext cx="4714875"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5100" b="1">
                <a:solidFill>
                  <a:srgbClr val="25485A"/>
                </a:solidFill>
                <a:latin typeface="Pretendard"/>
                <a:ea typeface="Pretendard"/>
                <a:cs typeface="Pretendard"/>
              </a:defRPr>
            </a:defPPr>
          </a:lstStyle>
          <a:p xmlns:a="http://schemas.openxmlformats.org/drawingml/2006/main">
            <a:pPr>
              <a:defRPr sz="5100" b="1">
                <a:solidFill>
                  <a:srgbClr val="25485A"/>
                </a:solidFill>
                <a:latin typeface="Pretendard"/>
                <a:ea typeface="Pretendard"/>
                <a:cs typeface="Pretendard"/>
              </a:defRPr>
            </a:pPr>
            <a:r>
              <a:rPr sz="5100" b="1">
                <a:solidFill>
                  <a:srgbClr val="25485A"/>
                </a:solidFill>
                <a:latin typeface="Pretendard"/>
                <a:ea typeface="Pretendard"/>
                <a:cs typeface="Pretendard"/>
              </a:rPr>
              <a:t>1,039</a:t>
            </a:r>
          </a:p>
        </p:txBody>
      </p:sp>
      <p:sp>
        <p:nvSpPr>
          <p:cNvPr id="7" name="">
            <a:extLst xmlns:a="http://schemas.openxmlformats.org/drawingml/2006/main">
              <a:ext uri="{FF2B5EF4-FFF2-40B4-BE49-F238E27FC236}">
                <a16:creationId xmlns:a16="http://schemas.microsoft.com/office/drawing/2014/main" id="{568213EA-0733-426E-AD34-3B4CC5D31C7B}"/>
              </a:ext>
            </a:extLst>
          </p:cNvPr>
          <p:cNvSpPr>
            <a:spLocks xmlns:a="http://schemas.openxmlformats.org/drawingml/2006/main" noGrp="1"/>
          </p:cNvSpPr>
          <p:nvPr/>
        </p:nvSpPr>
        <p:spPr>
          <a:xfrm xmlns:a="http://schemas.openxmlformats.org/drawingml/2006/main">
            <a:off x="609600" y="3248025"/>
            <a:ext cx="5429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606C70"/>
                </a:solidFill>
                <a:latin typeface="Pretendard"/>
                <a:ea typeface="Pretendard"/>
                <a:cs typeface="Pretendard"/>
              </a:defRPr>
            </a:defPPr>
          </a:lstStyle>
          <a:p xmlns:a="http://schemas.openxmlformats.org/drawingml/2006/main">
            <a:pPr>
              <a:defRPr sz="1725" b="0">
                <a:solidFill>
                  <a:srgbClr val="606C70"/>
                </a:solidFill>
                <a:latin typeface="Pretendard"/>
                <a:ea typeface="Pretendard"/>
                <a:cs typeface="Pretendard"/>
              </a:defRPr>
            </a:pPr>
            <a:r>
              <a:rPr sz="1725" b="0">
                <a:solidFill>
                  <a:srgbClr val="606C70"/>
                </a:solidFill>
                <a:latin typeface="Pretendard"/>
                <a:ea typeface="Pretendard"/>
                <a:cs typeface="Pretendard"/>
              </a:rPr>
              <a:t>Python 시험 통과 · 외부 환경 15개 skip</a:t>
            </a:r>
          </a:p>
        </p:txBody>
      </p:sp>
      <p:sp>
        <p:nvSpPr>
          <p:cNvPr id="8" name="">
            <a:extLst xmlns:a="http://schemas.openxmlformats.org/drawingml/2006/main">
              <a:ext uri="{FF2B5EF4-FFF2-40B4-BE49-F238E27FC236}">
                <a16:creationId xmlns:a16="http://schemas.microsoft.com/office/drawing/2014/main" id="{EDF4AA79-1727-4042-86F9-45B1397E3A63}"/>
              </a:ext>
            </a:extLst>
          </p:cNvPr>
          <p:cNvSpPr>
            <a:spLocks xmlns:a="http://schemas.openxmlformats.org/drawingml/2006/main" noGrp="1"/>
          </p:cNvSpPr>
          <p:nvPr/>
        </p:nvSpPr>
        <p:spPr>
          <a:xfrm xmlns:a="http://schemas.openxmlformats.org/drawingml/2006/main">
            <a:off x="6619875" y="2343150"/>
            <a:ext cx="42862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5100" b="1">
                <a:solidFill>
                  <a:srgbClr val="25485A"/>
                </a:solidFill>
                <a:latin typeface="Pretendard"/>
                <a:ea typeface="Pretendard"/>
                <a:cs typeface="Pretendard"/>
              </a:defRPr>
            </a:defPPr>
          </a:lstStyle>
          <a:p xmlns:a="http://schemas.openxmlformats.org/drawingml/2006/main">
            <a:pPr>
              <a:defRPr sz="5100" b="1">
                <a:solidFill>
                  <a:srgbClr val="25485A"/>
                </a:solidFill>
                <a:latin typeface="Pretendard"/>
                <a:ea typeface="Pretendard"/>
                <a:cs typeface="Pretendard"/>
              </a:defRPr>
            </a:pPr>
            <a:r>
              <a:rPr sz="5100" b="1">
                <a:solidFill>
                  <a:srgbClr val="25485A"/>
                </a:solidFill>
                <a:latin typeface="Pretendard"/>
                <a:ea typeface="Pretendard"/>
                <a:cs typeface="Pretendard"/>
              </a:rPr>
              <a:t>124</a:t>
            </a:r>
          </a:p>
        </p:txBody>
      </p:sp>
      <p:sp>
        <p:nvSpPr>
          <p:cNvPr id="9" name="">
            <a:extLst xmlns:a="http://schemas.openxmlformats.org/drawingml/2006/main">
              <a:ext uri="{FF2B5EF4-FFF2-40B4-BE49-F238E27FC236}">
                <a16:creationId xmlns:a16="http://schemas.microsoft.com/office/drawing/2014/main" id="{500D2C1E-0FE8-41DD-A740-0F899337CCC5}"/>
              </a:ext>
            </a:extLst>
          </p:cNvPr>
          <p:cNvSpPr>
            <a:spLocks xmlns:a="http://schemas.openxmlformats.org/drawingml/2006/main" noGrp="1"/>
          </p:cNvSpPr>
          <p:nvPr/>
        </p:nvSpPr>
        <p:spPr>
          <a:xfrm xmlns:a="http://schemas.openxmlformats.org/drawingml/2006/main">
            <a:off x="6619875" y="3248025"/>
            <a:ext cx="4286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606C70"/>
                </a:solidFill>
                <a:latin typeface="Pretendard"/>
                <a:ea typeface="Pretendard"/>
                <a:cs typeface="Pretendard"/>
              </a:defRPr>
            </a:defPPr>
          </a:lstStyle>
          <a:p xmlns:a="http://schemas.openxmlformats.org/drawingml/2006/main">
            <a:pPr>
              <a:defRPr sz="1725" b="0">
                <a:solidFill>
                  <a:srgbClr val="606C70"/>
                </a:solidFill>
                <a:latin typeface="Pretendard"/>
                <a:ea typeface="Pretendard"/>
                <a:cs typeface="Pretendard"/>
              </a:defRPr>
            </a:pPr>
            <a:r>
              <a:rPr sz="1725" b="0">
                <a:solidFill>
                  <a:srgbClr val="606C70"/>
                </a:solidFill>
                <a:latin typeface="Pretendard"/>
                <a:ea typeface="Pretendard"/>
                <a:cs typeface="Pretendard"/>
              </a:rPr>
              <a:t>JavaScript 시험 통과</a:t>
            </a:r>
          </a:p>
        </p:txBody>
      </p:sp>
      <p:sp>
        <p:nvSpPr>
          <p:cNvPr id="10" name="">
            <a:extLst xmlns:a="http://schemas.openxmlformats.org/drawingml/2006/main">
              <a:ext uri="{FF2B5EF4-FFF2-40B4-BE49-F238E27FC236}">
                <a16:creationId xmlns:a16="http://schemas.microsoft.com/office/drawing/2014/main" id="{363EA3DA-3390-424A-BB61-6199AB979263}"/>
              </a:ext>
            </a:extLst>
          </p:cNvPr>
          <p:cNvSpPr>
            <a:spLocks xmlns:a="http://schemas.openxmlformats.org/drawingml/2006/main" noGrp="1"/>
          </p:cNvSpPr>
          <p:nvPr/>
        </p:nvSpPr>
        <p:spPr>
          <a:xfrm xmlns:a="http://schemas.openxmlformats.org/drawingml/2006/main">
            <a:off x="609600" y="430530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52B2C"/>
                </a:solidFill>
                <a:latin typeface="Pretendard"/>
                <a:ea typeface="Pretendard"/>
                <a:cs typeface="Pretendard"/>
              </a:defRPr>
            </a:defPPr>
          </a:lstStyle>
          <a:p xmlns:a="http://schemas.openxmlformats.org/drawingml/2006/main">
            <a:pPr>
              <a:defRPr sz="2700" b="1">
                <a:solidFill>
                  <a:srgbClr val="252B2C"/>
                </a:solidFill>
                <a:latin typeface="Pretendard"/>
                <a:ea typeface="Pretendard"/>
                <a:cs typeface="Pretendard"/>
              </a:defRPr>
            </a:pPr>
            <a:r>
              <a:rPr sz="2700" b="1">
                <a:solidFill>
                  <a:srgbClr val="252B2C"/>
                </a:solidFill>
                <a:latin typeface="Pretendard"/>
                <a:ea typeface="Pretendard"/>
                <a:cs typeface="Pretendard"/>
              </a:rPr>
              <a:t>다음은 실제 사용에서 막히는 지점</a:t>
            </a:r>
          </a:p>
        </p:txBody>
      </p:sp>
      <p:sp>
        <p:nvSpPr>
          <p:cNvPr id="11" name="">
            <a:extLst xmlns:a="http://schemas.openxmlformats.org/drawingml/2006/main">
              <a:ext uri="{FF2B5EF4-FFF2-40B4-BE49-F238E27FC236}">
                <a16:creationId xmlns:a16="http://schemas.microsoft.com/office/drawing/2014/main" id="{4D067403-5087-46DE-9D3C-F0DFC10DEF50}"/>
              </a:ext>
            </a:extLst>
          </p:cNvPr>
          <p:cNvSpPr>
            <a:spLocks xmlns:a="http://schemas.openxmlformats.org/drawingml/2006/main" noGrp="1"/>
          </p:cNvSpPr>
          <p:nvPr/>
        </p:nvSpPr>
        <p:spPr>
          <a:xfrm xmlns:a="http://schemas.openxmlformats.org/drawingml/2006/main">
            <a:off x="609600" y="5038725"/>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252B2C"/>
                </a:solidFill>
                <a:latin typeface="Pretendard"/>
                <a:ea typeface="Pretendard"/>
                <a:cs typeface="Pretendard"/>
              </a:defRPr>
            </a:defPPr>
          </a:lstStyle>
          <a:p xmlns:a="http://schemas.openxmlformats.org/drawingml/2006/main">
            <a:pPr>
              <a:defRPr sz="2175" b="0">
                <a:solidFill>
                  <a:srgbClr val="252B2C"/>
                </a:solidFill>
                <a:latin typeface="Pretendard"/>
                <a:ea typeface="Pretendard"/>
                <a:cs typeface="Pretendard"/>
              </a:defRPr>
            </a:pPr>
            <a:r>
              <a:rPr sz="2175" b="0">
                <a:solidFill>
                  <a:srgbClr val="252B2C"/>
                </a:solidFill>
                <a:latin typeface="Pretendard"/>
                <a:ea typeface="Pretendard"/>
                <a:cs typeface="Pretendard"/>
              </a:rPr>
              <a:t>반복 입력 줄이기 · 검색 대기 개선 · 도시별 근거 보강</a:t>
            </a:r>
          </a:p>
        </p:txBody>
      </p:sp>
      <p:sp>
        <p:nvSpPr>
          <p:cNvPr id="12" name="">
            <a:extLst xmlns:a="http://schemas.openxmlformats.org/drawingml/2006/main">
              <a:ext uri="{FF2B5EF4-FFF2-40B4-BE49-F238E27FC236}">
                <a16:creationId xmlns:a16="http://schemas.microsoft.com/office/drawing/2014/main" id="{D9CFF031-3450-4022-9F6E-F2E7BD41279A}"/>
              </a:ext>
            </a:extLst>
          </p:cNvPr>
          <p:cNvSpPr>
            <a:spLocks xmlns:a="http://schemas.openxmlformats.org/drawingml/2006/main" noGrp="1"/>
          </p:cNvSpPr>
          <p:nvPr/>
        </p:nvSpPr>
        <p:spPr>
          <a:xfrm xmlns:a="http://schemas.openxmlformats.org/drawingml/2006/main">
            <a:off x="609600" y="5838825"/>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606C70"/>
                </a:solidFill>
                <a:latin typeface="Pretendard"/>
                <a:ea typeface="Pretendard"/>
                <a:cs typeface="Pretendard"/>
              </a:defRPr>
            </a:defPPr>
          </a:lstStyle>
          <a:p xmlns:a="http://schemas.openxmlformats.org/drawingml/2006/main">
            <a:pPr>
              <a:defRPr sz="1650" b="0">
                <a:solidFill>
                  <a:srgbClr val="606C70"/>
                </a:solidFill>
                <a:latin typeface="Pretendard"/>
                <a:ea typeface="Pretendard"/>
                <a:cs typeface="Pretendard"/>
              </a:defRPr>
            </a:pPr>
            <a:r>
              <a:rPr sz="1650" b="0">
                <a:solidFill>
                  <a:srgbClr val="606C70"/>
                </a:solidFill>
                <a:latin typeface="Pretendard"/>
                <a:ea typeface="Pretendard"/>
                <a:cs typeface="Pretendard"/>
              </a:rPr>
              <a:t>100개 도시 입력 지원 ≠ 100개 도시 추천 검증  /  실사용 만족도는 미측정</a:t>
            </a:r>
          </a:p>
        </p:txBody>
      </p:sp>
    </p:spTree>
    <p:extLst>
      <p:ext uri="{BB962C8B-B14F-4D97-AF65-F5344CB8AC3E}">
        <p14:creationId xmlns:p14="http://schemas.microsoft.com/office/powerpoint/2010/main" val="10203349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Pretendard"/>
        <a:ea typeface=""/>
        <a:cs typeface=""/>
      </a:majorFont>
      <a:minorFont>
        <a:latin typeface="Pretendar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2026-10-07T03:42:38.4190000Z</dcterms:created>
  <dcterms:modified xsi:type="dcterms:W3CDTF">2026-10-07T03:42:38.4190000Z</dcterms:modified>
</coreProperties>
</file>