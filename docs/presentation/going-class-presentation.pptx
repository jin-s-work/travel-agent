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2bc6f7985944a2" /><Relationship Type="http://schemas.openxmlformats.org/officeDocument/2006/relationships/extended-properties" Target="/docProps/app.xml" Id="R3913bb94bb4840ad" /><Relationship Type="http://schemas.openxmlformats.org/officeDocument/2006/relationships/officeDocument" Target="/ppt/presentation.xml" Id="R9b89e0bbe24f4f62" /></Relationships>
</file>

<file path=ppt/presentation.xml><?xml version="1.0" encoding="utf-8"?>
<p:presentation xmlns:p="http://schemas.openxmlformats.org/presentationml/2006/main">
  <p:sldMasterIdLst>
    <p:sldMasterId xmlns:r="http://schemas.openxmlformats.org/officeDocument/2006/relationships" id="2147483648" r:id="Re30fe4e888844e16"/>
  </p:sldMasterIdLst>
  <p:notesMasterIdLst>
    <p:notesMasterId xmlns:r="http://schemas.openxmlformats.org/officeDocument/2006/relationships" r:id="R542fb7d48bda40be"/>
  </p:notesMasterIdLst>
  <p:sldIdLst>
    <p:sldId xmlns:r="http://schemas.openxmlformats.org/officeDocument/2006/relationships" id="256" r:id="R45730f85d51048b8"/>
    <p:sldId xmlns:r="http://schemas.openxmlformats.org/officeDocument/2006/relationships" id="257" r:id="R81d7e7850959412b"/>
    <p:sldId xmlns:r="http://schemas.openxmlformats.org/officeDocument/2006/relationships" id="258" r:id="R2bc66fc8f954423a"/>
    <p:sldId xmlns:r="http://schemas.openxmlformats.org/officeDocument/2006/relationships" id="259" r:id="Rac7273d7ec9f4474"/>
    <p:sldId xmlns:r="http://schemas.openxmlformats.org/officeDocument/2006/relationships" id="260" r:id="Reebdcff3f74d4e9f"/>
    <p:sldId xmlns:r="http://schemas.openxmlformats.org/officeDocument/2006/relationships" id="261" r:id="Rea0fe35bc94c405e"/>
    <p:sldId xmlns:r="http://schemas.openxmlformats.org/officeDocument/2006/relationships" id="262" r:id="R6a9e230289e3416c"/>
    <p:sldId xmlns:r="http://schemas.openxmlformats.org/officeDocument/2006/relationships" id="263" r:id="R0bb2364071d24766"/>
    <p:sldId xmlns:r="http://schemas.openxmlformats.org/officeDocument/2006/relationships" id="264" r:id="R04336f080d7a4bf3"/>
    <p:sldId xmlns:r="http://schemas.openxmlformats.org/officeDocument/2006/relationships" id="265" r:id="R7ff84a08e6414f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09d3c6f01448a8" /><Relationship Type="http://schemas.openxmlformats.org/officeDocument/2006/relationships/slideMaster" Target="/ppt/slideMasters/slideMaster1.xml" Id="Re30fe4e888844e16" /><Relationship Type="http://schemas.openxmlformats.org/officeDocument/2006/relationships/notesMaster" Target="/ppt/notesMasters/notesMaster1.xml" Id="R542fb7d48bda40be" /><Relationship Type="http://schemas.openxmlformats.org/officeDocument/2006/relationships/presProps" Target="/ppt/presProps.xml" Id="Rae65f8e0c8a04007" /><Relationship Type="http://schemas.openxmlformats.org/officeDocument/2006/relationships/tableStyles" Target="/ppt/tableStyles.xml" Id="Rbb878b4209b44c71" /><Relationship Type="http://schemas.openxmlformats.org/officeDocument/2006/relationships/slide" Target="/ppt/slides/slide1.xml" Id="R45730f85d51048b8" /><Relationship Type="http://schemas.openxmlformats.org/officeDocument/2006/relationships/slide" Target="/ppt/slides/slide2.xml" Id="R81d7e7850959412b" /><Relationship Type="http://schemas.openxmlformats.org/officeDocument/2006/relationships/slide" Target="/ppt/slides/slide3.xml" Id="R2bc66fc8f954423a" /><Relationship Type="http://schemas.openxmlformats.org/officeDocument/2006/relationships/slide" Target="/ppt/slides/slide4.xml" Id="Rac7273d7ec9f4474" /><Relationship Type="http://schemas.openxmlformats.org/officeDocument/2006/relationships/slide" Target="/ppt/slides/slide5.xml" Id="Reebdcff3f74d4e9f" /><Relationship Type="http://schemas.openxmlformats.org/officeDocument/2006/relationships/slide" Target="/ppt/slides/slide6.xml" Id="Rea0fe35bc94c405e" /><Relationship Type="http://schemas.openxmlformats.org/officeDocument/2006/relationships/slide" Target="/ppt/slides/slide7.xml" Id="R6a9e230289e3416c" /><Relationship Type="http://schemas.openxmlformats.org/officeDocument/2006/relationships/slide" Target="/ppt/slides/slide8.xml" Id="R0bb2364071d24766" /><Relationship Type="http://schemas.openxmlformats.org/officeDocument/2006/relationships/slide" Target="/ppt/slides/slide9.xml" Id="R04336f080d7a4bf3" /><Relationship Type="http://schemas.openxmlformats.org/officeDocument/2006/relationships/slide" Target="/ppt/slides/slide10.xml" Id="R7ff84a08e6414f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029500227e49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d6c1e8cb6649c2" /><Relationship Type="http://schemas.openxmlformats.org/officeDocument/2006/relationships/notesMaster" Target="/ppt/notesMasters/notesMaster1.xml" Id="R5b3e926c89964e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35cb144e984cba" /><Relationship Type="http://schemas.openxmlformats.org/officeDocument/2006/relationships/notesMaster" Target="/ppt/notesMasters/notesMaster1.xml" Id="R198d9bf6d03847c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f54ae1d9d14e4a" /><Relationship Type="http://schemas.openxmlformats.org/officeDocument/2006/relationships/notesMaster" Target="/ppt/notesMasters/notesMaster1.xml" Id="Rcab20a7964c54b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84c3fdec6b4bdb" /><Relationship Type="http://schemas.openxmlformats.org/officeDocument/2006/relationships/notesMaster" Target="/ppt/notesMasters/notesMaster1.xml" Id="R62c38e0dac67489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7ba537794b4890" /><Relationship Type="http://schemas.openxmlformats.org/officeDocument/2006/relationships/notesMaster" Target="/ppt/notesMasters/notesMaster1.xml" Id="R74e9cfa4a23043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79066a212648a1" /><Relationship Type="http://schemas.openxmlformats.org/officeDocument/2006/relationships/notesMaster" Target="/ppt/notesMasters/notesMaster1.xml" Id="R6910b7cfdc9443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932be6a24642ea" /><Relationship Type="http://schemas.openxmlformats.org/officeDocument/2006/relationships/notesMaster" Target="/ppt/notesMasters/notesMaster1.xml" Id="R114d7af5153d42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157e03f0c247ac" /><Relationship Type="http://schemas.openxmlformats.org/officeDocument/2006/relationships/notesMaster" Target="/ppt/notesMasters/notesMaster1.xml" Id="R4b7afa0d98304c3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c18ba4df404fe4" /><Relationship Type="http://schemas.openxmlformats.org/officeDocument/2006/relationships/notesMaster" Target="/ppt/notesMasters/notesMaster1.xml" Id="R016da1a546a845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060d8cd1784cb6" /><Relationship Type="http://schemas.openxmlformats.org/officeDocument/2006/relationships/notesMaster" Target="/ppt/notesMasters/notesMaster1.xml" Id="R768b77ebeb2c4e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30초 / 행동: 표지를 보며 서비스 이름을 또렷하게 말합니다.]</a:t>
            </a:r>
          </a:p>
          <a:p xmlns:a="http://schemas.openxmlformats.org/drawingml/2006/main">
            <a:r>
              <a:t/>
            </a:r>
          </a:p>
          <a:p xmlns:a="http://schemas.openxmlformats.org/drawingml/2006/main">
            <a:r>
              <a:t>안녕하세요. 제가 만든 여행 준비 서비스, 고잉을 소개하겠습니다.</a:t>
            </a:r>
          </a:p>
          <a:p xmlns:a="http://schemas.openxmlformats.org/drawingml/2006/main">
            <a:r>
              <a:t/>
            </a:r>
          </a:p>
          <a:p xmlns:a="http://schemas.openxmlformats.org/drawingml/2006/main">
            <a:r>
              <a:t>여행을 예약하고 나서도 메일함과 지도, 메모를 계속 오가게 되는데요. 그 과정을 한곳에서 이어서 할 수 있으면 좋겠다는 생각으로 만들었습니다. 예약 정리부터 장소 선택, 일정 편집까지 실제 화면과 함께 보여드리겠습니다.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45초 / 행동: 두 질문을 읽고 잠깐 쉽니다.]</a:t>
            </a:r>
          </a:p>
          <a:p xmlns:a="http://schemas.openxmlformats.org/drawingml/2006/main">
            <a:r>
              <a:t/>
            </a:r>
          </a:p>
          <a:p xmlns:a="http://schemas.openxmlformats.org/drawingml/2006/main">
            <a:r>
              <a:t>여행 준비할 때 이런 일이 있습니다. 숙소 체크아웃 시간이 궁금해서 확인 메일을 다시 찾고, 식당 하나를 고르려고 지도와 예약 사이트를 번갈아 보게 됩니다. 마지막에는 그 식당에 들렀다가 다음 예약에 늦지 않을지도 계산해야 하고요.</a:t>
            </a:r>
          </a:p>
          <a:p xmlns:a="http://schemas.openxmlformats.org/drawingml/2006/main">
            <a:r>
              <a:t/>
            </a:r>
          </a:p>
          <a:p xmlns:a="http://schemas.openxmlformats.org/drawingml/2006/main">
            <a:r>
              <a:t>문제는 정보가 없다는 것보다, 이미 있는 정보를 제가 계속 다시 정리해야 한다는 점이었습니다. 그래서 처음에는 메일을 읽고 질문에 답하는 기능을 만들었습니다. 여기에 장소 탐색과 일정 편집을 연결해서, 정리한 정보를 다음 단계에서도 그대로 쓸 수 있게 확장했습니다.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https://github.com/Jin-s-work/Travel-Agent/blob/main/docs/service-v3/PRD.md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45초 / 행동: 도시·기간과 세 가지 시작 버튼을 가리킵니다.]</a:t>
            </a:r>
          </a:p>
          <a:p xmlns:a="http://schemas.openxmlformats.org/drawingml/2006/main">
            <a:r>
              <a:t/>
            </a:r>
          </a:p>
          <a:p xmlns:a="http://schemas.openxmlformats.org/drawingml/2006/main">
            <a:r>
              <a:t>이게 현재 홈 화면입니다. 먼저 여행할 도시와 날짜를 입력합니다. 그러면 여기에서 예약 메일을 올리거나, 장소를 찾거나, 일정을 만들 수 있습니다.</a:t>
            </a:r>
          </a:p>
          <a:p xmlns:a="http://schemas.openxmlformats.org/drawingml/2006/main">
            <a:r>
              <a:t/>
            </a:r>
          </a:p>
          <a:p xmlns:a="http://schemas.openxmlformats.org/drawingml/2006/main">
            <a:r>
              <a:t>기능을 추가하면서 오히려 사용이 번거로워진 적도 있었는데요. 화면마다 같은 도시와 날짜를 입력하게 되거나, 숙소가 없으면 다음 단계가 막히는 식이었습니다. 그래서 여행에 입력한 정보는 다른 화면에서도 이어받도록 바꿨습니다. 숙소는 나중에 추가해도 되고, 자세한 조건도 필요할 때만 설정합니다. 기능 수보다 처음 들어온 사람이 어디를 눌러야 할지 보이는 게 더 중요하다고 생각했습니다.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https://github.com/Jin-s-work/Travel-Agent/blob/main/web/index.html</a:t>
            </a:r>
          </a:p>
          <a:p xmlns:a="http://schemas.openxmlformats.org/drawingml/2006/main">
            <a:r>
              <a:t>https://github.com/Jin-s-work/Travel-Agent/blob/main/web/js/foundation.js</a:t>
            </a:r>
          </a:p>
          <a:p xmlns:a="http://schemas.openxmlformats.org/drawingml/2006/main">
            <a:r>
              <a:t>화면은 현재 코드와 합성 계정·메일·예약으로 촬영. 실제 운영 개인 자료를 공개하지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55초 / 행동: 추출 결과와 사용자 교정의 차이를 설명합니다.]</a:t>
            </a:r>
          </a:p>
          <a:p xmlns:a="http://schemas.openxmlformats.org/drawingml/2006/main">
            <a:r>
              <a:t/>
            </a:r>
          </a:p>
          <a:p xmlns:a="http://schemas.openxmlformats.org/drawingml/2006/main">
            <a:r>
              <a:t>예약 메일을 올리면 날짜와 시간, 장소 같은 정보를 예약 항목으로 정리합니다. 운영에서는 오픈에이아이의 지피티 파이브 미니를 사용하고, 검색용 임베딩은 별도 모델로 만듭니다.</a:t>
            </a:r>
          </a:p>
          <a:p xmlns:a="http://schemas.openxmlformats.org/drawingml/2006/main">
            <a:r>
              <a:t/>
            </a:r>
          </a:p>
          <a:p xmlns:a="http://schemas.openxmlformats.org/drawingml/2006/main">
            <a:r>
              <a:t>여기서 신경 쓴 부분은 추출한 결과를 바로 정답으로 확정하지 않는 것입니다. 한 메일에 예약이 여러 개 있으면 나눠 저장하고, 사용자가 고친 값은 원문에서 읽은 값과 따로 보관합니다. 다시 분석하다가 실패해도 기존 예약은 남아 있어야 하고요.</a:t>
            </a:r>
          </a:p>
          <a:p xmlns:a="http://schemas.openxmlformats.org/drawingml/2006/main">
            <a:r>
              <a:t/>
            </a:r>
          </a:p>
          <a:p xmlns:a="http://schemas.openxmlformats.org/drawingml/2006/main">
            <a:r>
              <a:t>지금 보이는 화면은 가상 메일을 기본 분석한 예시입니다. 운영 AI 호출 검증은 별도로 기록했습니다. 결과를 보고 직접 고칠 수 있게 한 것이 이 화면의 핵심입니다.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https://github.com/Jin-s-work/Travel-Agent/blob/main/src/foundation/documents.py</a:t>
            </a:r>
          </a:p>
          <a:p xmlns:a="http://schemas.openxmlformats.org/drawingml/2006/main">
            <a:r>
              <a:t>https://github.com/Jin-s-work/Travel-Agent/blob/main/docs/service-v3/reports/journey-layout-openai-validation.md</a:t>
            </a:r>
          </a:p>
          <a:p xmlns:a="http://schemas.openxmlformats.org/drawingml/2006/main">
            <a:r>
              <a:t>화면은 현재 코드와 합성 계정·메일·예약으로 촬영. 실제 운영 개인 자료를 공개하지 않음.</a:t>
            </a:r>
          </a:p>
          <a:p xmlns:a="http://schemas.openxmlformats.org/drawingml/2006/main">
            <a:r>
              <a:t>정확한 모델명: gpt-5-mini, text-embedding-3-small.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60초 / 행동: 왼쪽 결과와 오른쪽 원문 보기를 가리킵니다.]</a:t>
            </a:r>
          </a:p>
          <a:p xmlns:a="http://schemas.openxmlformats.org/drawingml/2006/main">
            <a:r>
              <a:t/>
            </a:r>
          </a:p>
          <a:p xmlns:a="http://schemas.openxmlformats.org/drawingml/2006/main">
            <a:r>
              <a:t>이제 “둘째 날 예약을 전부 알려줘”라고 물어볼 수 있습니다. 왼쪽은 답변이고, 오른쪽은 그 답변의 근거입니다. 메일에서 가져온 내용과 직접 입력한 예약을 구분해서 볼 수 있습니다.</a:t>
            </a:r>
          </a:p>
          <a:p xmlns:a="http://schemas.openxmlformats.org/drawingml/2006/main">
            <a:r>
              <a:t/>
            </a:r>
          </a:p>
          <a:p xmlns:a="http://schemas.openxmlformats.org/drawingml/2006/main">
            <a:r>
              <a:t>이 질문은 단순히 AI에게 잘 답해 달라고 해서는 부족했습니다. 의미가 비슷한 문서를 몇 개만 검색하면, 같은 날 예약이 여덟 개여도 일부가 빠질 수 있기 때문입니다. 그래서 하루 전체를 묻는 질문은 데이터베이스에서 그 날짜의 예약을 모두 조회하게 했습니다.</a:t>
            </a:r>
          </a:p>
          <a:p xmlns:a="http://schemas.openxmlformats.org/drawingml/2006/main">
            <a:r>
              <a:t/>
            </a:r>
          </a:p>
          <a:p xmlns:a="http://schemas.openxmlformats.org/drawingml/2006/main">
            <a:r>
              <a:t>반대로 환불 규정처럼 본문의 설명을 찾아야 하는 질문에는 검색을 사용합니다. 질문의 성격에 맞춰 방법을 나누고, 사용자가 원문까지 확인할 수 있도록 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https://github.com/Jin-s-work/Travel-Agent/blob/main/src/foundation/search.py</a:t>
            </a:r>
          </a:p>
          <a:p xmlns:a="http://schemas.openxmlformats.org/drawingml/2006/main">
            <a:r>
              <a:t>https://github.com/Jin-s-work/Travel-Agent/blob/main/docs/service-v2/FOUNDATION_RUNBOOK.md</a:t>
            </a:r>
          </a:p>
          <a:p xmlns:a="http://schemas.openxmlformats.org/drawingml/2006/main">
            <a:r>
              <a:t>화면은 현재 코드와 합성 계정·메일·예약으로 촬영. 실제 운영 개인 자료를 공개하지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55초 / 행동: 사진과 방문 전 확인 필요 문구를 가리킵니다.]</a:t>
            </a:r>
          </a:p>
          <a:p xmlns:a="http://schemas.openxmlformats.org/drawingml/2006/main">
            <a:r>
              <a:t/>
            </a:r>
          </a:p>
          <a:p xmlns:a="http://schemas.openxmlformats.org/drawingml/2006/main">
            <a:r>
              <a:t>예약을 정리한 다음에는 가고 싶은 장소를 찾습니다. 현지 분위기의 식당을 찾는 경우와, 유명한 명소를 보고 싶은 경우를 나눴습니다. 음식점이나 카페 같은 분류는 따로 고를 수 있습니다.</a:t>
            </a:r>
          </a:p>
          <a:p xmlns:a="http://schemas.openxmlformats.org/drawingml/2006/main">
            <a:r>
              <a:t/>
            </a:r>
          </a:p>
          <a:p xmlns:a="http://schemas.openxmlformats.org/drawingml/2006/main">
            <a:r>
              <a:t>이 화면은 마드리드의 실제 식당 자료입니다. 지점과 이용 권한을 확인한 사진이 있으면 실내나 음식 사진도 보여줍니다. 상세 정보를 보고 최대 세 곳을 비교할 수 있고, 숙소 위치가 확인되면 거리 조건도 적용할 수 있습니다.</a:t>
            </a:r>
          </a:p>
          <a:p xmlns:a="http://schemas.openxmlformats.org/drawingml/2006/main">
            <a:r>
              <a:t/>
            </a:r>
          </a:p>
          <a:p xmlns:a="http://schemas.openxmlformats.org/drawingml/2006/main">
            <a:r>
              <a:t>다만 사진이 있다고 그날 예약할 수 있다는 뜻은 아닙니다. 영업이나 인원 조건을 확인하지 못한 곳은 확인 필요로 남깁니다. 직선거리와 실제 도보시간도 구분해서 보여주도록 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https://github.com/Jin-s-work/Travel-Agent/blob/main/docs/service-v3/reports/going-design-search-validation.md</a:t>
            </a:r>
          </a:p>
          <a:p xmlns:a="http://schemas.openxmlformats.org/drawingml/2006/main">
            <a:r>
              <a:t>https://github.com/Jin-s-work/Travel-Agent/blob/main/src/discovery/restaurant_photos.json</a:t>
            </a:r>
          </a:p>
          <a:p xmlns:a="http://schemas.openxmlformats.org/drawingml/2006/main">
            <a:r>
              <a:t>화면은 현재 코드와 합성 계정·메일·예약으로 촬영. 실제 운영 개인 자료를 공개하지 않음.</a:t>
            </a:r>
          </a:p>
          <a:p xmlns:a="http://schemas.openxmlformats.org/drawingml/2006/main">
            <a:r>
              <a:t>사진: Javier Lastras, Barra de Casa Lucio, CC BY 2.0 https://commons.wikimedia.org/wiki/File:Barra_de_Casa_Lucio_(4245090907).jpg https://creativecommons.org/licenses/by/2.0/</a:t>
            </a:r>
          </a:p>
          <a:p xmlns:a="http://schemas.openxmlformats.org/drawingml/2006/main">
            <a:r>
              <a:t>사진: Tamorlan, Gallina en Pepitoria (Ciriaco), CC BY-SA 3.0 https://commons.wikimedia.org/wiki/File:Gallina_en_Pepitoria_(Ciriaco).JPG https://creativecommons.org/licenses/by-sa/3.0/</a:t>
            </a:r>
          </a:p>
          <a:p xmlns:a="http://schemas.openxmlformats.org/drawingml/2006/main">
            <a:r>
              <a:t>사진은 앱 화면 내 크기 조정·크롭. 사진에 대한 원 라이선스를 유지. 상세 CREDITS.md 참조.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50초 / 행동: 엄격 리뷰 추천이 OFF인 이유를 말합니다.]</a:t>
            </a:r>
          </a:p>
          <a:p xmlns:a="http://schemas.openxmlformats.org/drawingml/2006/main">
            <a:r>
              <a:t/>
            </a:r>
          </a:p>
          <a:p xmlns:a="http://schemas.openxmlformats.org/drawingml/2006/main">
            <a:r>
              <a:t>처음에 특히 만들고 싶었던 건, 현지 언어 리뷰가 많고 한국어 리뷰는 적은 장소를 찾는 기능이었습니다.</a:t>
            </a:r>
          </a:p>
          <a:p xmlns:a="http://schemas.openxmlformats.org/drawingml/2006/main">
            <a:r>
              <a:t/>
            </a:r>
          </a:p>
          <a:p xmlns:a="http://schemas.openxmlformats.org/drawingml/2006/main">
            <a:r>
              <a:t>그런데 일본어 리뷰가 많다고 작성자가 모두 일본 주민이라고 할 수는 없더라고요. 일부 리뷰만 가져와서 전체 리뷰의 비율처럼 보여주는 것도 정확하지 않습니다. 그래서 관측한 기간과 건수, 언어를 판단하지 못한 리뷰를 따로 기록하도록 만들었습니다.</a:t>
            </a:r>
          </a:p>
          <a:p xmlns:a="http://schemas.openxmlformats.org/drawingml/2006/main">
            <a:r>
              <a:t/>
            </a:r>
          </a:p>
          <a:p xmlns:a="http://schemas.openxmlformats.org/drawingml/2006/main">
            <a:r>
              <a:t>계산 로직과 평가 도구는 구현했지만, 실제 데이터의 이용 범위와 언어 판별 품질을 확인하기 전까지 엄격한 리뷰 추천은 꺼 두었습니다. 아직 확인하지 못한 내용을 추천 근거처럼 보여주지 않는 것이 기준입니다.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https://github.com/Jin-s-work/Travel-Agent/blob/main/docs/service-v2/REVIEW_DATA_SPEC.md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60초 / 행동: 120분과 150분을 비교한 다음 편집 순서로 넘어갑니다.]</a:t>
            </a:r>
          </a:p>
          <a:p xmlns:a="http://schemas.openxmlformats.org/drawingml/2006/main">
            <a:r>
              <a:t/>
            </a:r>
          </a:p>
          <a:p xmlns:a="http://schemas.openxmlformats.org/drawingml/2006/main">
            <a:r>
              <a:t>일정에서는 이미 확정한 예약을 먼저 보존합니다. 예를 들어 점심이 오후 한 시에 끝나고 다음 예약이 세 시라면, 사이에 두 시간이 있습니다.</a:t>
            </a:r>
          </a:p>
          <a:p xmlns:a="http://schemas.openxmlformats.org/drawingml/2006/main">
            <a:r>
              <a:t/>
            </a:r>
          </a:p>
          <a:p xmlns:a="http://schemas.openxmlformats.org/drawingml/2006/main">
            <a:r>
              <a:t>그런데 새 장소에서 한 시간 반을 머물고, 오가는 데 각각 삼십 분이 걸리면 총 두 시간 반이 필요합니다. 체류시간만 보면 들어갈 것 같지만 실제로는 넣으면 안 되는 일정입니다. 이런 계산을 서버에서 검사합니다. 이동시간을 모를 때도 영 분으로 처리하지 않습니다.</a:t>
            </a:r>
          </a:p>
          <a:p xmlns:a="http://schemas.openxmlformats.org/drawingml/2006/main">
            <a:r>
              <a:t/>
            </a:r>
          </a:p>
          <a:p xmlns:a="http://schemas.openxmlformats.org/drawingml/2006/main">
            <a:r>
              <a:t>편집은 미리보기, 적용, 되돌리기 순서입니다. 뒤의 예약에 어떤 영향이 있는지 먼저 보고 적용합니다. 그리고 일정에서 항목을 빼는 것과 외부 예약을 취소하는 것은 별개입니다.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https://github.com/Jin-s-work/Travel-Agent/blob/main/docs/service-v2/ITINERARY_RUNBOOK.md</a:t>
            </a:r>
          </a:p>
          <a:p xmlns:a="http://schemas.openxmlformats.org/drawingml/2006/main">
            <a:r>
              <a:t>화면은 현재 코드와 합성 계정·메일·예약으로 촬영. 실제 운영 개인 자료를 공개하지 않음.</a:t>
            </a:r>
          </a:p>
          <a:p xmlns:a="http://schemas.openxmlformats.org/drawingml/2006/main">
            <a:r>
              <a:t>120분 창과150분 필요 시간은 합성 계산 예시. 오른쪽 앱 화면의 측정 경로값이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60초 / 행동: 세 가지 실패 상황과 대응을 짝지어 말합니다.]</a:t>
            </a:r>
          </a:p>
          <a:p xmlns:a="http://schemas.openxmlformats.org/drawingml/2006/main">
            <a:r>
              <a:t/>
            </a:r>
          </a:p>
          <a:p xmlns:a="http://schemas.openxmlformats.org/drawingml/2006/main">
            <a:r>
              <a:t>사용 중에 실패해도 자료를 계속 볼 수 있게 하는 작업도 필요했습니다. 분석 상태를 화면에만 두면 새로고침했을 때 진행 상황을 잃게 됩니다. 그래서 작업 번호와 상태를 데이터베이스에 저장했습니다.</a:t>
            </a:r>
          </a:p>
          <a:p xmlns:a="http://schemas.openxmlformats.org/drawingml/2006/main">
            <a:r>
              <a:t/>
            </a:r>
          </a:p>
          <a:p xmlns:a="http://schemas.openxmlformats.org/drawingml/2006/main">
            <a:r>
              <a:t>운영 데이터도 무료 서버의 임시 디스크에만 두지 않고 수파베이스에 보관하도록 바꿨습니다. 메일 원문은 비공개 저장소로 분리했고요.</a:t>
            </a:r>
          </a:p>
          <a:p xmlns:a="http://schemas.openxmlformats.org/drawingml/2006/main">
            <a:r>
              <a:t/>
            </a:r>
          </a:p>
          <a:p xmlns:a="http://schemas.openxmlformats.org/drawingml/2006/main">
            <a:r>
              <a:t>지도 검색이 계속 실패한 적도 있었습니다. 실제로 확인해 보니 운영 서버에서 기존 지도 서버로 연결이 거절되고 있었습니다. 포톤 검색으로 바꾼 뒤 런던의 실제 지점 자료를 받아 음식점 후보 열두 곳을 표시했고, 같은 조건의 재조회에서는 추가 지도 호출이 없었습니다. 다만 방문 가능 여부까지 검증한 열두 곳이라는 뜻은 아닙니다.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https://github.com/Jin-s-work/Travel-Agent/blob/main/docs/operations/RENDER_SUPABASE.md</a:t>
            </a:r>
          </a:p>
          <a:p xmlns:a="http://schemas.openxmlformats.org/drawingml/2006/main">
            <a:r>
              <a:t>https://github.com/Jin-s-work/Travel-Agent/blob/main/docs/service-v3/reports/going-design-search-validation.md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50초 / 행동: 마지막 문장을 천천히 말하고 마칩니다.]</a:t>
            </a:r>
          </a:p>
          <a:p xmlns:a="http://schemas.openxmlformats.org/drawingml/2006/main">
            <a:r>
              <a:t/>
            </a:r>
          </a:p>
          <a:p xmlns:a="http://schemas.openxmlformats.org/drawingml/2006/main">
            <a:r>
              <a:t>현재는 초대한 소수 사용자가 접속하는 비공개 베타입니다. 예약을 정리하고, 장소를 살펴보고, 일정에 연결하는 흐름까지 만들었습니다.</a:t>
            </a:r>
          </a:p>
          <a:p xmlns:a="http://schemas.openxmlformats.org/drawingml/2006/main">
            <a:r>
              <a:t/>
            </a:r>
          </a:p>
          <a:p xmlns:a="http://schemas.openxmlformats.org/drawingml/2006/main">
            <a:r>
              <a:t>이번에 배운 점은 AI 답변을 만드는 것만큼, 그 답변의 근거와 실패했을 때의 처리가 중요하다는 것입니다. 자동 시험은 통과했지만 실제 사용자 만족도는 아직 측정하지 않았습니다. 백 개 도시를 선택할 수 있다는 것도 모든 도시의 추천 품질을 검증했다는 뜻은 아닙니다.</a:t>
            </a:r>
          </a:p>
          <a:p xmlns:a="http://schemas.openxmlformats.org/drawingml/2006/main">
            <a:r>
              <a:t/>
            </a:r>
          </a:p>
          <a:p xmlns:a="http://schemas.openxmlformats.org/drawingml/2006/main">
            <a:r>
              <a:t>다음에는 검색 대기 시간을 줄이고, 친구들이 사용하다 멈추는 부분을 먼저 확인하려고 합니다. 기능을 더 넣기 전에 지금 있는 흐름을 편하게 만드는 것이 다음 목표입니다. 감사합니다.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https://github.com/Jin-s-work/Travel-Agent/blob/main/docs/service-v3/reports/going-design-search-validation.md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3a052878ec4e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31f6ebdbe7949d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0527fe8c4dc414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57a6e877f1343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a7437785c444f6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e2854401364c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8EA933-A7D0-4962-B47F-468F02BC969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617B55-1F91-4B04-8F53-17BA4A2F1FD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0B2E03-F9F8-4581-B50A-48EE1346D88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A29431-6679-49CD-807C-9306F93E06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257D86C-3F84-4D92-A0A4-945016C72F4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F878EB9-98C9-4EEF-86E0-7AC7F0781E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1DC7656-9FCD-4D59-9F02-F858A25E79F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4D87F3-2A69-47BF-8C38-C5E52EFEFBA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9FC2F1-8FB9-4867-A27F-1FABAFBD6B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9F917D-E860-4D3D-B0A4-D247720609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c1811acc954fa2" /><Relationship Type="http://schemas.openxmlformats.org/officeDocument/2006/relationships/slideLayout" Target="/ppt/slideLayouts/slideLayout1.xml" Id="Raecaad7ad74b44cc" /><Relationship Type="http://schemas.openxmlformats.org/officeDocument/2006/relationships/slideLayout" Target="/ppt/slideLayouts/slideLayout2.xml" Id="R972374664ad946bd" /><Relationship Type="http://schemas.openxmlformats.org/officeDocument/2006/relationships/slideLayout" Target="/ppt/slideLayouts/slideLayout3.xml" Id="R7a6b5cdaaa2a425c" /><Relationship Type="http://schemas.openxmlformats.org/officeDocument/2006/relationships/slideLayout" Target="/ppt/slideLayouts/slideLayout4.xml" Id="Rbce73dadbc924056" /><Relationship Type="http://schemas.openxmlformats.org/officeDocument/2006/relationships/slideLayout" Target="/ppt/slideLayouts/slideLayout5.xml" Id="R763df4c8c6ae44db" /><Relationship Type="http://schemas.openxmlformats.org/officeDocument/2006/relationships/slideLayout" Target="/ppt/slideLayouts/slideLayout6.xml" Id="Rfc215bffeaa246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ecaad7ad74b44cc"/>
    <p:sldLayoutId xmlns:r="http://schemas.openxmlformats.org/officeDocument/2006/relationships" id="2147483650" r:id="R972374664ad946bd"/>
    <p:sldLayoutId xmlns:r="http://schemas.openxmlformats.org/officeDocument/2006/relationships" id="2147483651" r:id="R7a6b5cdaaa2a425c"/>
    <p:sldLayoutId xmlns:r="http://schemas.openxmlformats.org/officeDocument/2006/relationships" id="2147483652" r:id="Rbce73dadbc924056"/>
    <p:sldLayoutId xmlns:r="http://schemas.openxmlformats.org/officeDocument/2006/relationships" id="2147483653" r:id="R763df4c8c6ae44db"/>
    <p:sldLayoutId xmlns:r="http://schemas.openxmlformats.org/officeDocument/2006/relationships" id="2147483654" r:id="Rfc215bffeaa246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3eaa4513c843b7" /><Relationship Type="http://schemas.openxmlformats.org/officeDocument/2006/relationships/image" Target="/ppt/media/image.png" Id="R2e8503a1a1db452e" /><Relationship Type="http://schemas.openxmlformats.org/officeDocument/2006/relationships/notesSlide" Target="/ppt/notesSlides/notesSlide1.xml" Id="R308348a5e69942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dfd8c2e649e4569" /><Relationship Type="http://schemas.openxmlformats.org/officeDocument/2006/relationships/notesSlide" Target="/ppt/notesSlides/notesSlide2.xml" Id="R9351991fbdd246e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62970a67eb4a16" /><Relationship Type="http://schemas.openxmlformats.org/officeDocument/2006/relationships/image" Target="/ppt/media/image2.png" Id="Rf62ed2ee935c4c19" /><Relationship Type="http://schemas.openxmlformats.org/officeDocument/2006/relationships/notesSlide" Target="/ppt/notesSlides/notesSlide3.xml" Id="Rcf8566e1940848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794835024b444ed" /><Relationship Type="http://schemas.openxmlformats.org/officeDocument/2006/relationships/image" Target="/ppt/media/image3.png" Id="Rf4a1d5331a14480d" /><Relationship Type="http://schemas.openxmlformats.org/officeDocument/2006/relationships/notesSlide" Target="/ppt/notesSlides/notesSlide4.xml" Id="R1c36fb4160e241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82996ae9d9d4fce" /><Relationship Type="http://schemas.openxmlformats.org/officeDocument/2006/relationships/image" Target="/ppt/media/image4.png" Id="Rc09ad5a526d94cc0" /><Relationship Type="http://schemas.openxmlformats.org/officeDocument/2006/relationships/image" Target="/ppt/media/image5.png" Id="Rbe346d9918f04f10" /><Relationship Type="http://schemas.openxmlformats.org/officeDocument/2006/relationships/notesSlide" Target="/ppt/notesSlides/notesSlide5.xml" Id="R46ee0c92b8a245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93f1e89f0d644c3" /><Relationship Type="http://schemas.openxmlformats.org/officeDocument/2006/relationships/image" Target="/ppt/media/image6.png" Id="R85e4734dc968485c" /><Relationship Type="http://schemas.openxmlformats.org/officeDocument/2006/relationships/notesSlide" Target="/ppt/notesSlides/notesSlide6.xml" Id="Rbce921176d664e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8fe65f1a8424f64" /><Relationship Type="http://schemas.openxmlformats.org/officeDocument/2006/relationships/notesSlide" Target="/ppt/notesSlides/notesSlide7.xml" Id="R5982fdca6e804b0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c2b06d140a74157" /><Relationship Type="http://schemas.openxmlformats.org/officeDocument/2006/relationships/image" Target="/ppt/media/image7.png" Id="Rdb7444ceadcb40c0" /><Relationship Type="http://schemas.openxmlformats.org/officeDocument/2006/relationships/notesSlide" Target="/ppt/notesSlides/notesSlide8.xml" Id="R95aae6b4be3c46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02ce1ee4bbf47a3" /><Relationship Type="http://schemas.openxmlformats.org/officeDocument/2006/relationships/notesSlide" Target="/ppt/notesSlides/notesSlide9.xml" Id="R720115e8b8e8488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929953250d9403e" /><Relationship Type="http://schemas.openxmlformats.org/officeDocument/2006/relationships/notesSlide" Target="/ppt/notesSlides/notesSlide10.xml" Id="R5154e3fa5f2f417b" /></Relationships>
</file>

<file path=ppt/slides/slide1.xml><?xml version="1.0" encoding="utf-8"?>
<p:sld xmlns:p="http://schemas.openxmlformats.org/presentationml/2006/main">
  <p:cSld>
    <p:bg>
      <p:bgPr>
        <a:solidFill xmlns:a="http://schemas.openxmlformats.org/drawingml/2006/main">
          <a:srgbClr val="25485A"/>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3A5D5CF-F8B8-4044-A823-C529341296B0}"/>
              </a:ext>
            </a:extLst>
          </p:cNvPr>
          <p:cNvPicPr>
            <a:picLocks xmlns:a="http://schemas.openxmlformats.org/drawingml/2006/main" noChangeAspect="1"/>
          </p:cNvPicPr>
          <p:nvPr/>
        </p:nvPicPr>
        <p:blipFill>
          <a:blip xmlns:r="http://schemas.openxmlformats.org/officeDocument/2006/relationships" xmlns:a="http://schemas.openxmlformats.org/drawingml/2006/main" r:embed="R2e8503a1a1db452e"/>
          <a:stretch xmlns:a="http://schemas.openxmlformats.org/drawingml/2006/main"/>
        </p:blipFill>
        <p:spPr>
          <a:xfrm xmlns:a="http://schemas.openxmlformats.org/drawingml/2006/main">
            <a:off x="609600" y="609600"/>
            <a:ext cx="838200" cy="8382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A11499-D22D-4580-8279-061604D03DC4}"/>
              </a:ext>
            </a:extLst>
          </p:cNvPr>
          <p:cNvSpPr>
            <a:spLocks xmlns:a="http://schemas.openxmlformats.org/drawingml/2006/main" noGrp="1"/>
          </p:cNvSpPr>
          <p:nvPr/>
        </p:nvSpPr>
        <p:spPr>
          <a:xfrm xmlns:a="http://schemas.openxmlformats.org/drawingml/2006/main">
            <a:off x="609600" y="2066925"/>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E2EBE9"/>
                </a:solidFill>
                <a:latin typeface="Pretendard"/>
                <a:ea typeface="Pretendard"/>
                <a:cs typeface="Pretendard"/>
              </a:defRPr>
            </a:defPPr>
          </a:lstStyle>
          <a:p xmlns:a="http://schemas.openxmlformats.org/drawingml/2006/main">
            <a:pPr>
              <a:buNone/>
              <a:defRPr sz="2025" b="0">
                <a:solidFill>
                  <a:srgbClr val="E2EBE9"/>
                </a:solidFill>
                <a:latin typeface="Pretendard"/>
                <a:ea typeface="Pretendard"/>
                <a:cs typeface="Pretendard"/>
              </a:defRPr>
            </a:pPr>
            <a:r>
              <a:rPr sz="2025" b="0">
                <a:solidFill>
                  <a:srgbClr val="E2EBE9"/>
                </a:solidFill>
                <a:latin typeface="Pretendard"/>
                <a:ea typeface="Pretendard"/>
                <a:cs typeface="Pretendard"/>
              </a:rPr>
              <a:t>여행 준비 서비스</a:t>
            </a:r>
          </a:p>
        </p:txBody>
      </p:sp>
      <p:sp>
        <p:nvSpPr>
          <p:cNvPr id="3" name="">
            <a:extLst xmlns:a="http://schemas.openxmlformats.org/drawingml/2006/main">
              <a:ext uri="{FF2B5EF4-FFF2-40B4-BE49-F238E27FC236}">
                <a16:creationId xmlns:a16="http://schemas.microsoft.com/office/drawing/2014/main" id="{8C1A1483-07AA-4EB9-A368-5C500906201A}"/>
              </a:ext>
            </a:extLst>
          </p:cNvPr>
          <p:cNvSpPr>
            <a:spLocks xmlns:a="http://schemas.openxmlformats.org/drawingml/2006/main" noGrp="1"/>
          </p:cNvSpPr>
          <p:nvPr/>
        </p:nvSpPr>
        <p:spPr>
          <a:xfrm xmlns:a="http://schemas.openxmlformats.org/drawingml/2006/main">
            <a:off x="552450" y="2638425"/>
            <a:ext cx="7620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8400" b="1">
                <a:solidFill>
                  <a:srgbClr val="FFFFFF"/>
                </a:solidFill>
                <a:latin typeface="Pretendard"/>
                <a:ea typeface="Pretendard"/>
                <a:cs typeface="Pretendard"/>
              </a:defRPr>
            </a:defPPr>
          </a:lstStyle>
          <a:p xmlns:a="http://schemas.openxmlformats.org/drawingml/2006/main">
            <a:pPr>
              <a:buNone/>
              <a:defRPr sz="8400" b="1">
                <a:solidFill>
                  <a:srgbClr val="FFFFFF"/>
                </a:solidFill>
                <a:latin typeface="Pretendard"/>
                <a:ea typeface="Pretendard"/>
                <a:cs typeface="Pretendard"/>
              </a:defRPr>
            </a:pPr>
            <a:r>
              <a:rPr sz="8400" b="1">
                <a:solidFill>
                  <a:srgbClr val="FFFFFF"/>
                </a:solidFill>
                <a:latin typeface="Pretendard"/>
                <a:ea typeface="Pretendard"/>
                <a:cs typeface="Pretendard"/>
              </a:rPr>
              <a:t>고잉</a:t>
            </a:r>
          </a:p>
        </p:txBody>
      </p:sp>
      <p:sp>
        <p:nvSpPr>
          <p:cNvPr id="4" name="">
            <a:extLst xmlns:a="http://schemas.openxmlformats.org/drawingml/2006/main">
              <a:ext uri="{FF2B5EF4-FFF2-40B4-BE49-F238E27FC236}">
                <a16:creationId xmlns:a16="http://schemas.microsoft.com/office/drawing/2014/main" id="{3467EE9A-9E1D-4177-9A81-B891882C74A7}"/>
              </a:ext>
            </a:extLst>
          </p:cNvPr>
          <p:cNvSpPr>
            <a:spLocks xmlns:a="http://schemas.openxmlformats.org/drawingml/2006/main" noGrp="1"/>
          </p:cNvSpPr>
          <p:nvPr/>
        </p:nvSpPr>
        <p:spPr>
          <a:xfrm xmlns:a="http://schemas.openxmlformats.org/drawingml/2006/main">
            <a:off x="609600" y="43243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FFFFFF"/>
                </a:solidFill>
                <a:latin typeface="Pretendard"/>
                <a:ea typeface="Pretendard"/>
                <a:cs typeface="Pretendard"/>
              </a:defRPr>
            </a:defPPr>
          </a:lstStyle>
          <a:p xmlns:a="http://schemas.openxmlformats.org/drawingml/2006/main">
            <a:pPr>
              <a:buNone/>
              <a:defRPr sz="3150" b="0">
                <a:solidFill>
                  <a:srgbClr val="FFFFFF"/>
                </a:solidFill>
                <a:latin typeface="Pretendard"/>
                <a:ea typeface="Pretendard"/>
                <a:cs typeface="Pretendard"/>
              </a:defRPr>
            </a:pPr>
            <a:r>
              <a:rPr sz="3150" b="0">
                <a:solidFill>
                  <a:srgbClr val="FFFFFF"/>
                </a:solidFill>
                <a:latin typeface="Pretendard"/>
                <a:ea typeface="Pretendard"/>
                <a:cs typeface="Pretendard"/>
              </a:rPr>
              <a:t>예약 메일부터 하루 일정까지</a:t>
            </a:r>
          </a:p>
        </p:txBody>
      </p:sp>
      <p:sp>
        <p:nvSpPr>
          <p:cNvPr id="5" name="">
            <a:extLst xmlns:a="http://schemas.openxmlformats.org/drawingml/2006/main">
              <a:ext uri="{FF2B5EF4-FFF2-40B4-BE49-F238E27FC236}">
                <a16:creationId xmlns:a16="http://schemas.microsoft.com/office/drawing/2014/main" id="{7BF7A5FF-A22B-498C-A9F4-6278199AA7A4}"/>
              </a:ext>
            </a:extLst>
          </p:cNvPr>
          <p:cNvSpPr>
            <a:spLocks xmlns:a="http://schemas.openxmlformats.org/drawingml/2006/main" noGrp="1"/>
          </p:cNvSpPr>
          <p:nvPr/>
        </p:nvSpPr>
        <p:spPr>
          <a:xfrm xmlns:a="http://schemas.openxmlformats.org/drawingml/2006/main">
            <a:off x="609600" y="52578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E2EBE9"/>
                </a:solidFill>
                <a:latin typeface="Pretendard"/>
                <a:ea typeface="Pretendard"/>
                <a:cs typeface="Pretendard"/>
              </a:defRPr>
            </a:defPPr>
          </a:lstStyle>
          <a:p xmlns:a="http://schemas.openxmlformats.org/drawingml/2006/main">
            <a:pPr>
              <a:buNone/>
              <a:defRPr sz="1875" b="0">
                <a:solidFill>
                  <a:srgbClr val="E2EBE9"/>
                </a:solidFill>
                <a:latin typeface="Pretendard"/>
                <a:ea typeface="Pretendard"/>
                <a:cs typeface="Pretendard"/>
              </a:defRPr>
            </a:pPr>
            <a:r>
              <a:rPr sz="1875" b="0">
                <a:solidFill>
                  <a:srgbClr val="E2EBE9"/>
                </a:solidFill>
                <a:latin typeface="Pretendard"/>
                <a:ea typeface="Pretendard"/>
                <a:cs typeface="Pretendard"/>
              </a:rPr>
              <a:t>흩어진 예약을 모으고, 가고 싶은 곳을 일정으로 연결합니다.</a:t>
            </a:r>
          </a:p>
        </p:txBody>
      </p:sp>
      <p:sp>
        <p:nvSpPr>
          <p:cNvPr id="6" name="">
            <a:extLst xmlns:a="http://schemas.openxmlformats.org/drawingml/2006/main">
              <a:ext uri="{FF2B5EF4-FFF2-40B4-BE49-F238E27FC236}">
                <a16:creationId xmlns:a16="http://schemas.microsoft.com/office/drawing/2014/main" id="{04F8B69D-8371-4D5F-8842-510E5C114FD5}"/>
              </a:ext>
            </a:extLst>
          </p:cNvPr>
          <p:cNvSpPr>
            <a:spLocks xmlns:a="http://schemas.openxmlformats.org/drawingml/2006/main" noGrp="1"/>
          </p:cNvSpPr>
          <p:nvPr/>
        </p:nvSpPr>
        <p:spPr>
          <a:xfrm xmlns:a="http://schemas.openxmlformats.org/drawingml/2006/main">
            <a:off x="609600" y="62674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E2EBE9"/>
                </a:solidFill>
                <a:latin typeface="Pretendard"/>
                <a:ea typeface="Pretendard"/>
                <a:cs typeface="Pretendard"/>
              </a:defRPr>
            </a:defPPr>
          </a:lstStyle>
          <a:p xmlns:a="http://schemas.openxmlformats.org/drawingml/2006/main">
            <a:pPr>
              <a:buNone/>
              <a:defRPr sz="1350" b="0">
                <a:solidFill>
                  <a:srgbClr val="E2EBE9"/>
                </a:solidFill>
                <a:latin typeface="Pretendard"/>
                <a:ea typeface="Pretendard"/>
                <a:cs typeface="Pretendard"/>
              </a:defRPr>
            </a:pPr>
            <a:r>
              <a:rPr sz="1350" b="0">
                <a:solidFill>
                  <a:srgbClr val="E2EBE9"/>
                </a:solidFill>
                <a:latin typeface="Pretendard"/>
                <a:ea typeface="Pretendard"/>
                <a:cs typeface="Pretendard"/>
              </a:rPr>
              <a:t>프로젝트 발표  ·  2026.10</a:t>
            </a:r>
          </a:p>
        </p:txBody>
      </p:sp>
    </p:spTree>
    <p:extLst>
      <p:ext uri="{BB962C8B-B14F-4D97-AF65-F5344CB8AC3E}">
        <p14:creationId xmlns:p14="http://schemas.microsoft.com/office/powerpoint/2010/main" val="194647071"/>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B58F571-C699-464A-B45D-6B658958E8C8}"/>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문제</a:t>
            </a:r>
          </a:p>
        </p:txBody>
      </p:sp>
      <p:sp>
        <p:nvSpPr>
          <p:cNvPr id="2" name="">
            <a:extLst xmlns:a="http://schemas.openxmlformats.org/drawingml/2006/main">
              <a:ext uri="{FF2B5EF4-FFF2-40B4-BE49-F238E27FC236}">
                <a16:creationId xmlns:a16="http://schemas.microsoft.com/office/drawing/2014/main" id="{714DB288-31E0-43E1-9B02-224B54937C7D}"/>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여행 준비에서 반복되는 일</a:t>
            </a:r>
          </a:p>
        </p:txBody>
      </p:sp>
      <p:sp>
        <p:nvSpPr>
          <p:cNvPr id="3" name="">
            <a:extLst xmlns:a="http://schemas.openxmlformats.org/drawingml/2006/main">
              <a:ext uri="{FF2B5EF4-FFF2-40B4-BE49-F238E27FC236}">
                <a16:creationId xmlns:a16="http://schemas.microsoft.com/office/drawing/2014/main" id="{52F80272-83A0-4919-B691-9A6053C15E79}"/>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예약은 끝났는데, 정보를 다시 찾아야 합니다</a:t>
            </a:r>
          </a:p>
        </p:txBody>
      </p:sp>
      <p:sp>
        <p:nvSpPr>
          <p:cNvPr id="4" name="">
            <a:extLst xmlns:a="http://schemas.openxmlformats.org/drawingml/2006/main">
              <a:ext uri="{FF2B5EF4-FFF2-40B4-BE49-F238E27FC236}">
                <a16:creationId xmlns:a16="http://schemas.microsoft.com/office/drawing/2014/main" id="{94DCF512-8D16-441E-9DCC-FE1EBB952424}"/>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02</a:t>
            </a:r>
          </a:p>
        </p:txBody>
      </p:sp>
      <p:sp>
        <p:nvSpPr>
          <p:cNvPr id="5" name="">
            <a:extLst xmlns:a="http://schemas.openxmlformats.org/drawingml/2006/main">
              <a:ext uri="{FF2B5EF4-FFF2-40B4-BE49-F238E27FC236}">
                <a16:creationId xmlns:a16="http://schemas.microsoft.com/office/drawing/2014/main" id="{04572BDD-5AF3-4D5E-8213-77FD90FF4EAD}"/>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BDB56724-79D1-4B12-8A45-76B0D59A2644}"/>
              </a:ext>
            </a:extLst>
          </p:cNvPr>
          <p:cNvSpPr>
            <a:spLocks xmlns:a="http://schemas.openxmlformats.org/drawingml/2006/main" noGrp="1"/>
          </p:cNvSpPr>
          <p:nvPr/>
        </p:nvSpPr>
        <p:spPr>
          <a:xfrm xmlns:a="http://schemas.openxmlformats.org/drawingml/2006/main">
            <a:off x="609600" y="23526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75" b="1">
                <a:solidFill>
                  <a:srgbClr val="25485A"/>
                </a:solidFill>
                <a:latin typeface="Pretendard"/>
                <a:ea typeface="Pretendard"/>
                <a:cs typeface="Pretendard"/>
              </a:defRPr>
            </a:defPPr>
          </a:lstStyle>
          <a:p xmlns:a="http://schemas.openxmlformats.org/drawingml/2006/main">
            <a:pPr>
              <a:buNone/>
              <a:defRPr sz="3375" b="1">
                <a:solidFill>
                  <a:srgbClr val="25485A"/>
                </a:solidFill>
                <a:latin typeface="Pretendard"/>
                <a:ea typeface="Pretendard"/>
                <a:cs typeface="Pretendard"/>
              </a:defRPr>
            </a:pPr>
            <a:r>
              <a:rPr sz="3375" b="1">
                <a:solidFill>
                  <a:srgbClr val="25485A"/>
                </a:solidFill>
                <a:latin typeface="Pretendard"/>
                <a:ea typeface="Pretendard"/>
                <a:cs typeface="Pretendard"/>
              </a:rPr>
              <a:t>“체크아웃이 몇 시였지?”</a:t>
            </a:r>
          </a:p>
        </p:txBody>
      </p:sp>
      <p:sp>
        <p:nvSpPr>
          <p:cNvPr id="7" name="">
            <a:extLst xmlns:a="http://schemas.openxmlformats.org/drawingml/2006/main">
              <a:ext uri="{FF2B5EF4-FFF2-40B4-BE49-F238E27FC236}">
                <a16:creationId xmlns:a16="http://schemas.microsoft.com/office/drawing/2014/main" id="{6A800D86-C5A4-4285-BAE3-D7830069AD4A}"/>
              </a:ext>
            </a:extLst>
          </p:cNvPr>
          <p:cNvSpPr>
            <a:spLocks xmlns:a="http://schemas.openxmlformats.org/drawingml/2006/main" noGrp="1"/>
          </p:cNvSpPr>
          <p:nvPr/>
        </p:nvSpPr>
        <p:spPr>
          <a:xfrm xmlns:a="http://schemas.openxmlformats.org/drawingml/2006/main">
            <a:off x="609600" y="31527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0">
                <a:solidFill>
                  <a:srgbClr val="252B2C"/>
                </a:solidFill>
                <a:latin typeface="Pretendard"/>
                <a:ea typeface="Pretendard"/>
                <a:cs typeface="Pretendard"/>
              </a:defRPr>
            </a:defPPr>
          </a:lstStyle>
          <a:p xmlns:a="http://schemas.openxmlformats.org/drawingml/2006/main">
            <a:pPr>
              <a:buNone/>
              <a:defRPr sz="2700" b="0">
                <a:solidFill>
                  <a:srgbClr val="252B2C"/>
                </a:solidFill>
                <a:latin typeface="Pretendard"/>
                <a:ea typeface="Pretendard"/>
                <a:cs typeface="Pretendard"/>
              </a:defRPr>
            </a:pPr>
            <a:r>
              <a:rPr sz="2700" b="0">
                <a:solidFill>
                  <a:srgbClr val="252B2C"/>
                </a:solidFill>
                <a:latin typeface="Pretendard"/>
                <a:ea typeface="Pretendard"/>
                <a:cs typeface="Pretendard"/>
              </a:rPr>
              <a:t>“이 식당을 들렀다가 다음 예약에 갈 수 있을까?”</a:t>
            </a:r>
          </a:p>
        </p:txBody>
      </p:sp>
      <p:sp>
        <p:nvSpPr>
          <p:cNvPr id="8" name="">
            <a:extLst xmlns:a="http://schemas.openxmlformats.org/drawingml/2006/main">
              <a:ext uri="{FF2B5EF4-FFF2-40B4-BE49-F238E27FC236}">
                <a16:creationId xmlns:a16="http://schemas.microsoft.com/office/drawing/2014/main" id="{3428312B-6007-4E78-916F-89CA39470F5E}"/>
              </a:ext>
            </a:extLst>
          </p:cNvPr>
          <p:cNvSpPr>
            <a:spLocks xmlns:a="http://schemas.openxmlformats.org/drawingml/2006/main" noGrp="1"/>
          </p:cNvSpPr>
          <p:nvPr/>
        </p:nvSpPr>
        <p:spPr>
          <a:xfrm xmlns:a="http://schemas.openxmlformats.org/drawingml/2006/main">
            <a:off x="6096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5485A"/>
                </a:solidFill>
                <a:latin typeface="Pretendard"/>
                <a:ea typeface="Pretendard"/>
                <a:cs typeface="Pretendard"/>
              </a:defRPr>
            </a:defPPr>
          </a:lstStyle>
          <a:p xmlns:a="http://schemas.openxmlformats.org/drawingml/2006/main">
            <a:pPr>
              <a:buNone/>
              <a:defRPr sz="2175" b="1">
                <a:solidFill>
                  <a:srgbClr val="25485A"/>
                </a:solidFill>
                <a:latin typeface="Pretendard"/>
                <a:ea typeface="Pretendard"/>
                <a:cs typeface="Pretendard"/>
              </a:defRPr>
            </a:pPr>
            <a:r>
              <a:rPr sz="2175" b="1">
                <a:solidFill>
                  <a:srgbClr val="25485A"/>
                </a:solidFill>
                <a:latin typeface="Pretendard"/>
                <a:ea typeface="Pretendard"/>
                <a:cs typeface="Pretendard"/>
              </a:rPr>
              <a:t>메일함</a:t>
            </a:r>
          </a:p>
        </p:txBody>
      </p:sp>
      <p:sp>
        <p:nvSpPr>
          <p:cNvPr id="9" name="">
            <a:extLst xmlns:a="http://schemas.openxmlformats.org/drawingml/2006/main">
              <a:ext uri="{FF2B5EF4-FFF2-40B4-BE49-F238E27FC236}">
                <a16:creationId xmlns:a16="http://schemas.microsoft.com/office/drawing/2014/main" id="{A44FA84C-A2F7-4823-B18D-412A384C89A5}"/>
              </a:ext>
            </a:extLst>
          </p:cNvPr>
          <p:cNvSpPr>
            <a:spLocks xmlns:a="http://schemas.openxmlformats.org/drawingml/2006/main" noGrp="1"/>
          </p:cNvSpPr>
          <p:nvPr/>
        </p:nvSpPr>
        <p:spPr>
          <a:xfrm xmlns:a="http://schemas.openxmlformats.org/drawingml/2006/main">
            <a:off x="6096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06C70"/>
                </a:solidFill>
                <a:latin typeface="Pretendard"/>
                <a:ea typeface="Pretendard"/>
                <a:cs typeface="Pretendard"/>
              </a:defRPr>
            </a:defPPr>
          </a:lstStyle>
          <a:p xmlns:a="http://schemas.openxmlformats.org/drawingml/2006/main">
            <a:pPr>
              <a:buNone/>
              <a:defRPr sz="1800" b="0">
                <a:solidFill>
                  <a:srgbClr val="606C70"/>
                </a:solidFill>
                <a:latin typeface="Pretendard"/>
                <a:ea typeface="Pretendard"/>
                <a:cs typeface="Pretendard"/>
              </a:defRPr>
            </a:pPr>
            <a:r>
              <a:rPr sz="1800" b="0">
                <a:solidFill>
                  <a:srgbClr val="606C70"/>
                </a:solidFill>
                <a:latin typeface="Pretendard"/>
                <a:ea typeface="Pretendard"/>
                <a:cs typeface="Pretendard"/>
              </a:rPr>
              <a:t>예약 시간·환불 규정</a:t>
            </a:r>
          </a:p>
        </p:txBody>
      </p:sp>
      <p:sp>
        <p:nvSpPr>
          <p:cNvPr id="10" name="">
            <a:extLst xmlns:a="http://schemas.openxmlformats.org/drawingml/2006/main">
              <a:ext uri="{FF2B5EF4-FFF2-40B4-BE49-F238E27FC236}">
                <a16:creationId xmlns:a16="http://schemas.microsoft.com/office/drawing/2014/main" id="{540D5831-F94C-4E5F-A21D-1B070D3816E4}"/>
              </a:ext>
            </a:extLst>
          </p:cNvPr>
          <p:cNvSpPr>
            <a:spLocks xmlns:a="http://schemas.openxmlformats.org/drawingml/2006/main" noGrp="1"/>
          </p:cNvSpPr>
          <p:nvPr/>
        </p:nvSpPr>
        <p:spPr>
          <a:xfrm xmlns:a="http://schemas.openxmlformats.org/drawingml/2006/main">
            <a:off x="43434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5485A"/>
                </a:solidFill>
                <a:latin typeface="Pretendard"/>
                <a:ea typeface="Pretendard"/>
                <a:cs typeface="Pretendard"/>
              </a:defRPr>
            </a:defPPr>
          </a:lstStyle>
          <a:p xmlns:a="http://schemas.openxmlformats.org/drawingml/2006/main">
            <a:pPr>
              <a:buNone/>
              <a:defRPr sz="2175" b="1">
                <a:solidFill>
                  <a:srgbClr val="25485A"/>
                </a:solidFill>
                <a:latin typeface="Pretendard"/>
                <a:ea typeface="Pretendard"/>
                <a:cs typeface="Pretendard"/>
              </a:defRPr>
            </a:pPr>
            <a:r>
              <a:rPr sz="2175" b="1">
                <a:solidFill>
                  <a:srgbClr val="25485A"/>
                </a:solidFill>
                <a:latin typeface="Pretendard"/>
                <a:ea typeface="Pretendard"/>
                <a:cs typeface="Pretendard"/>
              </a:rPr>
              <a:t>지도</a:t>
            </a:r>
          </a:p>
        </p:txBody>
      </p:sp>
      <p:sp>
        <p:nvSpPr>
          <p:cNvPr id="11" name="">
            <a:extLst xmlns:a="http://schemas.openxmlformats.org/drawingml/2006/main">
              <a:ext uri="{FF2B5EF4-FFF2-40B4-BE49-F238E27FC236}">
                <a16:creationId xmlns:a16="http://schemas.microsoft.com/office/drawing/2014/main" id="{873EDE4E-A635-40E9-B4F7-F408B85A2A67}"/>
              </a:ext>
            </a:extLst>
          </p:cNvPr>
          <p:cNvSpPr>
            <a:spLocks xmlns:a="http://schemas.openxmlformats.org/drawingml/2006/main" noGrp="1"/>
          </p:cNvSpPr>
          <p:nvPr/>
        </p:nvSpPr>
        <p:spPr>
          <a:xfrm xmlns:a="http://schemas.openxmlformats.org/drawingml/2006/main">
            <a:off x="43434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06C70"/>
                </a:solidFill>
                <a:latin typeface="Pretendard"/>
                <a:ea typeface="Pretendard"/>
                <a:cs typeface="Pretendard"/>
              </a:defRPr>
            </a:defPPr>
          </a:lstStyle>
          <a:p xmlns:a="http://schemas.openxmlformats.org/drawingml/2006/main">
            <a:pPr>
              <a:buNone/>
              <a:defRPr sz="1800" b="0">
                <a:solidFill>
                  <a:srgbClr val="606C70"/>
                </a:solidFill>
                <a:latin typeface="Pretendard"/>
                <a:ea typeface="Pretendard"/>
                <a:cs typeface="Pretendard"/>
              </a:defRPr>
            </a:pPr>
            <a:r>
              <a:rPr sz="1800" b="0">
                <a:solidFill>
                  <a:srgbClr val="606C70"/>
                </a:solidFill>
                <a:latin typeface="Pretendard"/>
                <a:ea typeface="Pretendard"/>
                <a:cs typeface="Pretendard"/>
              </a:rPr>
              <a:t>위치·이동·장소 비교</a:t>
            </a:r>
          </a:p>
        </p:txBody>
      </p:sp>
      <p:sp>
        <p:nvSpPr>
          <p:cNvPr id="12" name="">
            <a:extLst xmlns:a="http://schemas.openxmlformats.org/drawingml/2006/main">
              <a:ext uri="{FF2B5EF4-FFF2-40B4-BE49-F238E27FC236}">
                <a16:creationId xmlns:a16="http://schemas.microsoft.com/office/drawing/2014/main" id="{D987E155-A9D5-4294-BB9C-8473ABF87C46}"/>
              </a:ext>
            </a:extLst>
          </p:cNvPr>
          <p:cNvSpPr>
            <a:spLocks xmlns:a="http://schemas.openxmlformats.org/drawingml/2006/main" noGrp="1"/>
          </p:cNvSpPr>
          <p:nvPr/>
        </p:nvSpPr>
        <p:spPr>
          <a:xfrm xmlns:a="http://schemas.openxmlformats.org/drawingml/2006/main">
            <a:off x="80772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5485A"/>
                </a:solidFill>
                <a:latin typeface="Pretendard"/>
                <a:ea typeface="Pretendard"/>
                <a:cs typeface="Pretendard"/>
              </a:defRPr>
            </a:defPPr>
          </a:lstStyle>
          <a:p xmlns:a="http://schemas.openxmlformats.org/drawingml/2006/main">
            <a:pPr>
              <a:buNone/>
              <a:defRPr sz="2175" b="1">
                <a:solidFill>
                  <a:srgbClr val="25485A"/>
                </a:solidFill>
                <a:latin typeface="Pretendard"/>
                <a:ea typeface="Pretendard"/>
                <a:cs typeface="Pretendard"/>
              </a:defRPr>
            </a:pPr>
            <a:r>
              <a:rPr sz="2175" b="1">
                <a:solidFill>
                  <a:srgbClr val="25485A"/>
                </a:solidFill>
                <a:latin typeface="Pretendard"/>
                <a:ea typeface="Pretendard"/>
                <a:cs typeface="Pretendard"/>
              </a:rPr>
              <a:t>메모</a:t>
            </a:r>
          </a:p>
        </p:txBody>
      </p:sp>
      <p:sp>
        <p:nvSpPr>
          <p:cNvPr id="13" name="">
            <a:extLst xmlns:a="http://schemas.openxmlformats.org/drawingml/2006/main">
              <a:ext uri="{FF2B5EF4-FFF2-40B4-BE49-F238E27FC236}">
                <a16:creationId xmlns:a16="http://schemas.microsoft.com/office/drawing/2014/main" id="{80A7438F-32AF-49B1-98B4-0405820CD792}"/>
              </a:ext>
            </a:extLst>
          </p:cNvPr>
          <p:cNvSpPr>
            <a:spLocks xmlns:a="http://schemas.openxmlformats.org/drawingml/2006/main" noGrp="1"/>
          </p:cNvSpPr>
          <p:nvPr/>
        </p:nvSpPr>
        <p:spPr>
          <a:xfrm xmlns:a="http://schemas.openxmlformats.org/drawingml/2006/main">
            <a:off x="80772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06C70"/>
                </a:solidFill>
                <a:latin typeface="Pretendard"/>
                <a:ea typeface="Pretendard"/>
                <a:cs typeface="Pretendard"/>
              </a:defRPr>
            </a:defPPr>
          </a:lstStyle>
          <a:p xmlns:a="http://schemas.openxmlformats.org/drawingml/2006/main">
            <a:pPr>
              <a:buNone/>
              <a:defRPr sz="1800" b="0">
                <a:solidFill>
                  <a:srgbClr val="606C70"/>
                </a:solidFill>
                <a:latin typeface="Pretendard"/>
                <a:ea typeface="Pretendard"/>
                <a:cs typeface="Pretendard"/>
              </a:defRPr>
            </a:pPr>
            <a:r>
              <a:rPr sz="1800" b="0">
                <a:solidFill>
                  <a:srgbClr val="606C70"/>
                </a:solidFill>
                <a:latin typeface="Pretendard"/>
                <a:ea typeface="Pretendard"/>
                <a:cs typeface="Pretendard"/>
              </a:rPr>
              <a:t>일정과 예약을 다시 대조</a:t>
            </a:r>
          </a:p>
        </p:txBody>
      </p:sp>
    </p:spTree>
    <p:extLst>
      <p:ext uri="{BB962C8B-B14F-4D97-AF65-F5344CB8AC3E}">
        <p14:creationId xmlns:p14="http://schemas.microsoft.com/office/powerpoint/2010/main" val="1296355517"/>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05357AF-D00A-48C9-810E-AC5F612099F2}"/>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사용 흐름</a:t>
            </a:r>
          </a:p>
        </p:txBody>
      </p:sp>
      <p:sp>
        <p:nvSpPr>
          <p:cNvPr id="2" name="">
            <a:extLst xmlns:a="http://schemas.openxmlformats.org/drawingml/2006/main">
              <a:ext uri="{FF2B5EF4-FFF2-40B4-BE49-F238E27FC236}">
                <a16:creationId xmlns:a16="http://schemas.microsoft.com/office/drawing/2014/main" id="{D54BF1B3-066C-41F6-9390-D1D8DB873070}"/>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여행 하나를 중심으로</a:t>
            </a:r>
          </a:p>
        </p:txBody>
      </p:sp>
      <p:sp>
        <p:nvSpPr>
          <p:cNvPr id="3" name="">
            <a:extLst xmlns:a="http://schemas.openxmlformats.org/drawingml/2006/main">
              <a:ext uri="{FF2B5EF4-FFF2-40B4-BE49-F238E27FC236}">
                <a16:creationId xmlns:a16="http://schemas.microsoft.com/office/drawing/2014/main" id="{7B41256C-B3F1-4F66-BE69-985B12457055}"/>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도시와 날짜를 한 번 입력하면 다음 화면이 이어받습니다</a:t>
            </a:r>
          </a:p>
        </p:txBody>
      </p:sp>
      <p:sp>
        <p:nvSpPr>
          <p:cNvPr id="4" name="">
            <a:extLst xmlns:a="http://schemas.openxmlformats.org/drawingml/2006/main">
              <a:ext uri="{FF2B5EF4-FFF2-40B4-BE49-F238E27FC236}">
                <a16:creationId xmlns:a16="http://schemas.microsoft.com/office/drawing/2014/main" id="{24E2AFFF-D2CC-4CA8-B74F-ECCB95C5D0B7}"/>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03</a:t>
            </a:r>
          </a:p>
        </p:txBody>
      </p:sp>
      <p:sp>
        <p:nvSpPr>
          <p:cNvPr id="5" name="">
            <a:extLst xmlns:a="http://schemas.openxmlformats.org/drawingml/2006/main">
              <a:ext uri="{FF2B5EF4-FFF2-40B4-BE49-F238E27FC236}">
                <a16:creationId xmlns:a16="http://schemas.microsoft.com/office/drawing/2014/main" id="{486F5CD1-6770-4493-B79F-6F16EFE57B54}"/>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0432BDDD-7049-4C18-9BF6-BD8E78D593B4}"/>
              </a:ext>
            </a:extLst>
          </p:cNvPr>
          <p:cNvSpPr>
            <a:spLocks xmlns:a="http://schemas.openxmlformats.org/drawingml/2006/main" noGrp="1"/>
          </p:cNvSpPr>
          <p:nvPr/>
        </p:nvSpPr>
        <p:spPr>
          <a:xfrm xmlns:a="http://schemas.openxmlformats.org/drawingml/2006/main">
            <a:off x="609600" y="24193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도시·날짜를 먼저</a:t>
            </a:r>
          </a:p>
        </p:txBody>
      </p:sp>
      <p:sp>
        <p:nvSpPr>
          <p:cNvPr id="7" name="">
            <a:extLst xmlns:a="http://schemas.openxmlformats.org/drawingml/2006/main">
              <a:ext uri="{FF2B5EF4-FFF2-40B4-BE49-F238E27FC236}">
                <a16:creationId xmlns:a16="http://schemas.microsoft.com/office/drawing/2014/main" id="{3320DF5A-BF97-4482-9EA7-12D2EF9BFEDC}"/>
              </a:ext>
            </a:extLst>
          </p:cNvPr>
          <p:cNvSpPr>
            <a:spLocks xmlns:a="http://schemas.openxmlformats.org/drawingml/2006/main" noGrp="1"/>
          </p:cNvSpPr>
          <p:nvPr/>
        </p:nvSpPr>
        <p:spPr>
          <a:xfrm xmlns:a="http://schemas.openxmlformats.org/drawingml/2006/main">
            <a:off x="609600" y="3105150"/>
            <a:ext cx="331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252B2C"/>
                </a:solidFill>
                <a:latin typeface="Pretendard"/>
                <a:ea typeface="Pretendard"/>
                <a:cs typeface="Pretendard"/>
              </a:defRPr>
            </a:defPPr>
          </a:lstStyle>
          <a:p xmlns:a="http://schemas.openxmlformats.org/drawingml/2006/main">
            <a:pPr>
              <a:buNone/>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예약 · 탐색 · 일정에서</a:t>
            </a:r>
          </a:p>
          <a:p xmlns:a="http://schemas.openxmlformats.org/drawingml/2006/main">
            <a:pPr>
              <a:buNone/>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같은 여행 정보를 재사용</a:t>
            </a:r>
          </a:p>
        </p:txBody>
      </p:sp>
      <p:sp>
        <p:nvSpPr>
          <p:cNvPr id="8" name="">
            <a:extLst xmlns:a="http://schemas.openxmlformats.org/drawingml/2006/main">
              <a:ext uri="{FF2B5EF4-FFF2-40B4-BE49-F238E27FC236}">
                <a16:creationId xmlns:a16="http://schemas.microsoft.com/office/drawing/2014/main" id="{16A9EDFB-9773-42E6-9AC6-123EFE323F09}"/>
              </a:ext>
            </a:extLst>
          </p:cNvPr>
          <p:cNvSpPr>
            <a:spLocks xmlns:a="http://schemas.openxmlformats.org/drawingml/2006/main" noGrp="1"/>
          </p:cNvSpPr>
          <p:nvPr/>
        </p:nvSpPr>
        <p:spPr>
          <a:xfrm xmlns:a="http://schemas.openxmlformats.org/drawingml/2006/main">
            <a:off x="609600" y="4619625"/>
            <a:ext cx="331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숙소가 없어도 시작</a:t>
            </a:r>
          </a:p>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필요한 조건만 나중에 추가</a:t>
            </a:r>
          </a:p>
        </p:txBody>
      </p:sp>
      <p:pic>
        <p:nvPicPr>
          <p:cNvPr id="9" name="">
            <a:extLst xmlns:a="http://schemas.openxmlformats.org/drawingml/2006/main">
              <a:ext uri="{FF2B5EF4-FFF2-40B4-BE49-F238E27FC236}">
                <a16:creationId xmlns:a16="http://schemas.microsoft.com/office/drawing/2014/main" id="{68180F65-2821-4FC7-A348-FBD709B6AF98}"/>
              </a:ext>
            </a:extLst>
          </p:cNvPr>
          <p:cNvPicPr>
            <a:picLocks xmlns:a="http://schemas.openxmlformats.org/drawingml/2006/main" noChangeAspect="1"/>
          </p:cNvPicPr>
          <p:nvPr/>
        </p:nvPicPr>
        <p:blipFill>
          <a:blip xmlns:r="http://schemas.openxmlformats.org/officeDocument/2006/relationships" xmlns:a="http://schemas.openxmlformats.org/drawingml/2006/main" r:embed="Rf62ed2ee935c4c19"/>
          <a:stretch xmlns:a="http://schemas.openxmlformats.org/drawingml/2006/main"/>
        </p:blipFill>
        <p:spPr>
          <a:xfrm xmlns:a="http://schemas.openxmlformats.org/drawingml/2006/main">
            <a:off x="4520021" y="2105025"/>
            <a:ext cx="6866709" cy="4343400"/>
          </a:xfrm>
          <a:prstGeom xmlns:a="http://schemas.openxmlformats.org/drawingml/2006/main" prst="rect">
            <a:avLst/>
          </a:prstGeom>
        </p:spPr>
      </p:pic>
    </p:spTree>
    <p:extLst>
      <p:ext uri="{BB962C8B-B14F-4D97-AF65-F5344CB8AC3E}">
        <p14:creationId xmlns:p14="http://schemas.microsoft.com/office/powerpoint/2010/main" val="6912243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8F7A33-3E2E-469D-9AE3-229124375267}"/>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메일 분석</a:t>
            </a:r>
          </a:p>
        </p:txBody>
      </p:sp>
      <p:sp>
        <p:nvSpPr>
          <p:cNvPr id="2" name="">
            <a:extLst xmlns:a="http://schemas.openxmlformats.org/drawingml/2006/main">
              <a:ext uri="{FF2B5EF4-FFF2-40B4-BE49-F238E27FC236}">
                <a16:creationId xmlns:a16="http://schemas.microsoft.com/office/drawing/2014/main" id="{E1F06F25-63C5-4A59-912F-B6B5913C673B}"/>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메일을 예약으로 정리하기</a:t>
            </a:r>
          </a:p>
        </p:txBody>
      </p:sp>
      <p:sp>
        <p:nvSpPr>
          <p:cNvPr id="3" name="">
            <a:extLst xmlns:a="http://schemas.openxmlformats.org/drawingml/2006/main">
              <a:ext uri="{FF2B5EF4-FFF2-40B4-BE49-F238E27FC236}">
                <a16:creationId xmlns:a16="http://schemas.microsoft.com/office/drawing/2014/main" id="{8BA6E6D5-238D-4490-BD78-841E8E7F3811}"/>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한 메일의 여러 예약과 왕복 항공편을 나눠 보관합니다</a:t>
            </a:r>
          </a:p>
        </p:txBody>
      </p:sp>
      <p:sp>
        <p:nvSpPr>
          <p:cNvPr id="4" name="">
            <a:extLst xmlns:a="http://schemas.openxmlformats.org/drawingml/2006/main">
              <a:ext uri="{FF2B5EF4-FFF2-40B4-BE49-F238E27FC236}">
                <a16:creationId xmlns:a16="http://schemas.microsoft.com/office/drawing/2014/main" id="{5A1214AD-4BD9-4D7E-B015-CBF90FCD4DD2}"/>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04</a:t>
            </a:r>
          </a:p>
        </p:txBody>
      </p:sp>
      <p:sp>
        <p:nvSpPr>
          <p:cNvPr id="5" name="">
            <a:extLst xmlns:a="http://schemas.openxmlformats.org/drawingml/2006/main">
              <a:ext uri="{FF2B5EF4-FFF2-40B4-BE49-F238E27FC236}">
                <a16:creationId xmlns:a16="http://schemas.microsoft.com/office/drawing/2014/main" id="{35DD2A2A-4A22-49D9-B2C5-9B8801FB411D}"/>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A63751FF-4DEC-4C85-AEAA-EDCA679F34FA}"/>
              </a:ext>
            </a:extLst>
          </p:cNvPr>
          <p:cNvSpPr>
            <a:spLocks xmlns:a="http://schemas.openxmlformats.org/drawingml/2006/main" noGrp="1"/>
          </p:cNvSpPr>
          <p:nvPr/>
        </p:nvSpPr>
        <p:spPr>
          <a:xfrm xmlns:a="http://schemas.openxmlformats.org/drawingml/2006/main">
            <a:off x="609600" y="2390775"/>
            <a:ext cx="5381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추출값과 교정값을 분리</a:t>
            </a:r>
          </a:p>
        </p:txBody>
      </p:sp>
      <p:sp>
        <p:nvSpPr>
          <p:cNvPr id="7" name="">
            <a:extLst xmlns:a="http://schemas.openxmlformats.org/drawingml/2006/main">
              <a:ext uri="{FF2B5EF4-FFF2-40B4-BE49-F238E27FC236}">
                <a16:creationId xmlns:a16="http://schemas.microsoft.com/office/drawing/2014/main" id="{2092BA3C-DEB1-431D-BD24-B4C8D3187C9C}"/>
              </a:ext>
            </a:extLst>
          </p:cNvPr>
          <p:cNvSpPr>
            <a:spLocks xmlns:a="http://schemas.openxmlformats.org/drawingml/2006/main" noGrp="1"/>
          </p:cNvSpPr>
          <p:nvPr/>
        </p:nvSpPr>
        <p:spPr>
          <a:xfrm xmlns:a="http://schemas.openxmlformats.org/drawingml/2006/main">
            <a:off x="609600" y="3086100"/>
            <a:ext cx="552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52B2C"/>
                </a:solidFill>
                <a:latin typeface="Pretendard"/>
                <a:ea typeface="Pretendard"/>
                <a:cs typeface="Pretendard"/>
              </a:defRPr>
            </a:defPPr>
          </a:lstStyle>
          <a:p xmlns:a="http://schemas.openxmlformats.org/drawingml/2006/main">
            <a:pPr>
              <a:buNone/>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AI가 읽고, 사용자가 확인합니다</a:t>
            </a:r>
          </a:p>
        </p:txBody>
      </p:sp>
      <p:sp>
        <p:nvSpPr>
          <p:cNvPr id="8" name="">
            <a:extLst xmlns:a="http://schemas.openxmlformats.org/drawingml/2006/main">
              <a:ext uri="{FF2B5EF4-FFF2-40B4-BE49-F238E27FC236}">
                <a16:creationId xmlns:a16="http://schemas.microsoft.com/office/drawing/2014/main" id="{C12F34DB-0977-405D-A9BE-5D76D7857F2D}"/>
              </a:ext>
            </a:extLst>
          </p:cNvPr>
          <p:cNvSpPr>
            <a:spLocks xmlns:a="http://schemas.openxmlformats.org/drawingml/2006/main" noGrp="1"/>
          </p:cNvSpPr>
          <p:nvPr/>
        </p:nvSpPr>
        <p:spPr>
          <a:xfrm xmlns:a="http://schemas.openxmlformats.org/drawingml/2006/main">
            <a:off x="609600" y="4019550"/>
            <a:ext cx="5619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52B2C"/>
                </a:solidFill>
                <a:latin typeface="Pretendard"/>
                <a:ea typeface="Pretendard"/>
                <a:cs typeface="Pretendard"/>
              </a:defRPr>
            </a:defPPr>
          </a:lstStyle>
          <a:p xmlns:a="http://schemas.openxmlformats.org/drawingml/2006/main">
            <a:pPr>
              <a:buNone/>
              <a:defRPr sz="2025" b="0">
                <a:solidFill>
                  <a:srgbClr val="252B2C"/>
                </a:solidFill>
                <a:latin typeface="Pretendard"/>
                <a:ea typeface="Pretendard"/>
                <a:cs typeface="Pretendard"/>
              </a:defRPr>
            </a:pPr>
            <a:r>
              <a:rPr sz="2025" b="0">
                <a:solidFill>
                  <a:srgbClr val="252B2C"/>
                </a:solidFill>
                <a:latin typeface="Pretendard"/>
                <a:ea typeface="Pretendard"/>
                <a:cs typeface="Pretendard"/>
              </a:rPr>
              <a:t>복수 예약과 왕복편을 각각 저장</a:t>
            </a:r>
          </a:p>
          <a:p xmlns:a="http://schemas.openxmlformats.org/drawingml/2006/main">
            <a:pPr>
              <a:buNone/>
              <a:defRPr sz="2025" b="0">
                <a:solidFill>
                  <a:srgbClr val="252B2C"/>
                </a:solidFill>
                <a:latin typeface="Pretendard"/>
                <a:ea typeface="Pretendard"/>
                <a:cs typeface="Pretendard"/>
              </a:defRPr>
            </a:pPr>
            <a:r>
              <a:rPr sz="2025" b="0">
                <a:solidFill>
                  <a:srgbClr val="252B2C"/>
                </a:solidFill>
                <a:latin typeface="Pretendard"/>
                <a:ea typeface="Pretendard"/>
                <a:cs typeface="Pretendard"/>
              </a:rPr>
              <a:t>교정한 값은 재분석 후에도 보존</a:t>
            </a:r>
          </a:p>
        </p:txBody>
      </p:sp>
      <p:sp>
        <p:nvSpPr>
          <p:cNvPr id="9" name="">
            <a:extLst xmlns:a="http://schemas.openxmlformats.org/drawingml/2006/main">
              <a:ext uri="{FF2B5EF4-FFF2-40B4-BE49-F238E27FC236}">
                <a16:creationId xmlns:a16="http://schemas.microsoft.com/office/drawing/2014/main" id="{2441B31F-01B7-4D1A-99AA-84398D35DA23}"/>
              </a:ext>
            </a:extLst>
          </p:cNvPr>
          <p:cNvSpPr>
            <a:spLocks xmlns:a="http://schemas.openxmlformats.org/drawingml/2006/main" noGrp="1"/>
          </p:cNvSpPr>
          <p:nvPr/>
        </p:nvSpPr>
        <p:spPr>
          <a:xfrm xmlns:a="http://schemas.openxmlformats.org/drawingml/2006/main">
            <a:off x="609600" y="5505450"/>
            <a:ext cx="5524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606C70"/>
                </a:solidFill>
                <a:latin typeface="Pretendard"/>
                <a:ea typeface="Pretendard"/>
                <a:cs typeface="Pretendard"/>
              </a:defRPr>
            </a:defPPr>
          </a:lstStyle>
          <a:p xmlns:a="http://schemas.openxmlformats.org/drawingml/2006/main">
            <a:pPr>
              <a:buNone/>
              <a:defRPr sz="1575" b="0">
                <a:solidFill>
                  <a:srgbClr val="606C70"/>
                </a:solidFill>
                <a:latin typeface="Pretendard"/>
                <a:ea typeface="Pretendard"/>
                <a:cs typeface="Pretendard"/>
              </a:defRPr>
            </a:pPr>
            <a:r>
              <a:rPr sz="1575" b="0">
                <a:solidFill>
                  <a:srgbClr val="606C70"/>
                </a:solidFill>
                <a:latin typeface="Pretendard"/>
                <a:ea typeface="Pretendard"/>
                <a:cs typeface="Pretendard"/>
              </a:rPr>
              <a:t>운영: gpt-5-mini + 검색 임베딩</a:t>
            </a:r>
          </a:p>
          <a:p xmlns:a="http://schemas.openxmlformats.org/drawingml/2006/main">
            <a:pPr>
              <a:buNone/>
              <a:defRPr sz="1575" b="0">
                <a:solidFill>
                  <a:srgbClr val="606C70"/>
                </a:solidFill>
                <a:latin typeface="Pretendard"/>
                <a:ea typeface="Pretendard"/>
                <a:cs typeface="Pretendard"/>
              </a:defRPr>
            </a:pPr>
            <a:r>
              <a:rPr sz="1575" b="0">
                <a:solidFill>
                  <a:srgbClr val="606C70"/>
                </a:solidFill>
                <a:latin typeface="Pretendard"/>
                <a:ea typeface="Pretendard"/>
                <a:cs typeface="Pretendard"/>
              </a:rPr>
              <a:t>화면: 가상 메일을 기본 분석한 예시</a:t>
            </a:r>
          </a:p>
        </p:txBody>
      </p:sp>
      <p:pic>
        <p:nvPicPr>
          <p:cNvPr id="10" name="">
            <a:extLst xmlns:a="http://schemas.openxmlformats.org/drawingml/2006/main">
              <a:ext uri="{FF2B5EF4-FFF2-40B4-BE49-F238E27FC236}">
                <a16:creationId xmlns:a16="http://schemas.microsoft.com/office/drawing/2014/main" id="{672E5BF4-B7AA-4E30-8C9F-56A530FDD559}"/>
              </a:ext>
            </a:extLst>
          </p:cNvPr>
          <p:cNvPicPr>
            <a:picLocks xmlns:a="http://schemas.openxmlformats.org/drawingml/2006/main" noChangeAspect="1"/>
          </p:cNvPicPr>
          <p:nvPr/>
        </p:nvPicPr>
        <p:blipFill>
          <a:blip xmlns:r="http://schemas.openxmlformats.org/officeDocument/2006/relationships" xmlns:a="http://schemas.openxmlformats.org/drawingml/2006/main" r:embed="Rf4a1d5331a14480d"/>
          <a:stretch xmlns:a="http://schemas.openxmlformats.org/drawingml/2006/main"/>
        </p:blipFill>
        <p:spPr>
          <a:xfrm xmlns:a="http://schemas.openxmlformats.org/drawingml/2006/main">
            <a:off x="6495677" y="2028825"/>
            <a:ext cx="4887070" cy="4257675"/>
          </a:xfrm>
          <a:prstGeom xmlns:a="http://schemas.openxmlformats.org/drawingml/2006/main" prst="rect">
            <a:avLst/>
          </a:prstGeom>
        </p:spPr>
      </p:pic>
    </p:spTree>
    <p:extLst>
      <p:ext uri="{BB962C8B-B14F-4D97-AF65-F5344CB8AC3E}">
        <p14:creationId xmlns:p14="http://schemas.microsoft.com/office/powerpoint/2010/main" val="1185529375"/>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299058-1B53-48E9-BDD4-CC490120233E}"/>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근거 기반 답변</a:t>
            </a:r>
          </a:p>
        </p:txBody>
      </p:sp>
      <p:sp>
        <p:nvSpPr>
          <p:cNvPr id="2" name="">
            <a:extLst xmlns:a="http://schemas.openxmlformats.org/drawingml/2006/main">
              <a:ext uri="{FF2B5EF4-FFF2-40B4-BE49-F238E27FC236}">
                <a16:creationId xmlns:a16="http://schemas.microsoft.com/office/drawing/2014/main" id="{2A935C54-AD06-4233-B851-BC496BC98FF0}"/>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하루 예약은 빠짐없이, 답변은 근거와 함께</a:t>
            </a:r>
          </a:p>
        </p:txBody>
      </p:sp>
      <p:sp>
        <p:nvSpPr>
          <p:cNvPr id="3" name="">
            <a:extLst xmlns:a="http://schemas.openxmlformats.org/drawingml/2006/main">
              <a:ext uri="{FF2B5EF4-FFF2-40B4-BE49-F238E27FC236}">
                <a16:creationId xmlns:a16="http://schemas.microsoft.com/office/drawing/2014/main" id="{2CFFA54E-72BD-4FC6-862D-2768F04BC449}"/>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날짜 전체 조회와 본문 검색을 구분합니다</a:t>
            </a:r>
          </a:p>
        </p:txBody>
      </p:sp>
      <p:sp>
        <p:nvSpPr>
          <p:cNvPr id="4" name="">
            <a:extLst xmlns:a="http://schemas.openxmlformats.org/drawingml/2006/main">
              <a:ext uri="{FF2B5EF4-FFF2-40B4-BE49-F238E27FC236}">
                <a16:creationId xmlns:a16="http://schemas.microsoft.com/office/drawing/2014/main" id="{BD1FFE26-FDDA-4E19-9C9D-DA2C5DD0558C}"/>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05</a:t>
            </a:r>
          </a:p>
        </p:txBody>
      </p:sp>
      <p:sp>
        <p:nvSpPr>
          <p:cNvPr id="5" name="">
            <a:extLst xmlns:a="http://schemas.openxmlformats.org/drawingml/2006/main">
              <a:ext uri="{FF2B5EF4-FFF2-40B4-BE49-F238E27FC236}">
                <a16:creationId xmlns:a16="http://schemas.microsoft.com/office/drawing/2014/main" id="{E86282BC-1ADA-4A5A-B7D9-0F359758417A}"/>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pic>
        <p:nvPicPr>
          <p:cNvPr id="6" name="">
            <a:extLst xmlns:a="http://schemas.openxmlformats.org/drawingml/2006/main">
              <a:ext uri="{FF2B5EF4-FFF2-40B4-BE49-F238E27FC236}">
                <a16:creationId xmlns:a16="http://schemas.microsoft.com/office/drawing/2014/main" id="{037199FF-8EEA-40A6-A535-9406EF33B4AC}"/>
              </a:ext>
            </a:extLst>
          </p:cNvPr>
          <p:cNvPicPr>
            <a:picLocks xmlns:a="http://schemas.openxmlformats.org/drawingml/2006/main" noChangeAspect="1"/>
          </p:cNvPicPr>
          <p:nvPr/>
        </p:nvPicPr>
        <p:blipFill>
          <a:blip xmlns:r="http://schemas.openxmlformats.org/officeDocument/2006/relationships" xmlns:a="http://schemas.openxmlformats.org/drawingml/2006/main" r:embed="Rc09ad5a526d94cc0"/>
          <a:stretch xmlns:a="http://schemas.openxmlformats.org/drawingml/2006/main"/>
        </p:blipFill>
        <p:spPr>
          <a:xfrm xmlns:a="http://schemas.openxmlformats.org/drawingml/2006/main">
            <a:off x="877071" y="2295525"/>
            <a:ext cx="6018259" cy="38004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FCCC2C05-8F34-497C-8745-4ACCB5B089BC}"/>
              </a:ext>
            </a:extLst>
          </p:cNvPr>
          <p:cNvPicPr>
            <a:picLocks xmlns:a="http://schemas.openxmlformats.org/drawingml/2006/main" noChangeAspect="1"/>
          </p:cNvPicPr>
          <p:nvPr/>
        </p:nvPicPr>
        <p:blipFill>
          <a:blip xmlns:r="http://schemas.openxmlformats.org/officeDocument/2006/relationships" xmlns:a="http://schemas.openxmlformats.org/drawingml/2006/main" r:embed="Rbe346d9918f04f10"/>
          <a:stretch xmlns:a="http://schemas.openxmlformats.org/drawingml/2006/main"/>
        </p:blipFill>
        <p:spPr>
          <a:xfrm xmlns:a="http://schemas.openxmlformats.org/drawingml/2006/main">
            <a:off x="7870452" y="2152650"/>
            <a:ext cx="3690095" cy="3952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F4B9649-CC71-4CC4-955F-BC7AFC7286BE}"/>
              </a:ext>
            </a:extLst>
          </p:cNvPr>
          <p:cNvSpPr>
            <a:spLocks xmlns:a="http://schemas.openxmlformats.org/drawingml/2006/main" noGrp="1"/>
          </p:cNvSpPr>
          <p:nvPr/>
        </p:nvSpPr>
        <p:spPr>
          <a:xfrm xmlns:a="http://schemas.openxmlformats.org/drawingml/2006/main">
            <a:off x="609600" y="6134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5485A"/>
                </a:solidFill>
                <a:latin typeface="Pretendard"/>
                <a:ea typeface="Pretendard"/>
                <a:cs typeface="Pretendard"/>
              </a:defRPr>
            </a:defPPr>
          </a:lstStyle>
          <a:p xmlns:a="http://schemas.openxmlformats.org/drawingml/2006/main">
            <a:pPr>
              <a:buNone/>
              <a:defRPr sz="1800" b="1">
                <a:solidFill>
                  <a:srgbClr val="25485A"/>
                </a:solidFill>
                <a:latin typeface="Pretendard"/>
                <a:ea typeface="Pretendard"/>
                <a:cs typeface="Pretendard"/>
              </a:defRPr>
            </a:pPr>
            <a:r>
              <a:rPr sz="1800" b="1">
                <a:solidFill>
                  <a:srgbClr val="25485A"/>
                </a:solidFill>
                <a:latin typeface="Pretendard"/>
                <a:ea typeface="Pretendard"/>
                <a:cs typeface="Pretendard"/>
              </a:rPr>
              <a:t>날짜 전체는 SQL 조회 · 본문 설명은 근거 검색</a:t>
            </a:r>
          </a:p>
        </p:txBody>
      </p:sp>
    </p:spTree>
    <p:extLst>
      <p:ext uri="{BB962C8B-B14F-4D97-AF65-F5344CB8AC3E}">
        <p14:creationId xmlns:p14="http://schemas.microsoft.com/office/powerpoint/2010/main" val="681199828"/>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06E8D5-1218-4450-A52B-E8C36FFBC2CA}"/>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장소 탐색</a:t>
            </a:r>
          </a:p>
        </p:txBody>
      </p:sp>
      <p:sp>
        <p:nvSpPr>
          <p:cNvPr id="2" name="">
            <a:extLst xmlns:a="http://schemas.openxmlformats.org/drawingml/2006/main">
              <a:ext uri="{FF2B5EF4-FFF2-40B4-BE49-F238E27FC236}">
                <a16:creationId xmlns:a16="http://schemas.microsoft.com/office/drawing/2014/main" id="{D62AAA96-1618-44BB-A985-52FA170B15E9}"/>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장소를 찾고 비교하기</a:t>
            </a:r>
          </a:p>
        </p:txBody>
      </p:sp>
      <p:sp>
        <p:nvSpPr>
          <p:cNvPr id="3" name="">
            <a:extLst xmlns:a="http://schemas.openxmlformats.org/drawingml/2006/main">
              <a:ext uri="{FF2B5EF4-FFF2-40B4-BE49-F238E27FC236}">
                <a16:creationId xmlns:a16="http://schemas.microsoft.com/office/drawing/2014/main" id="{D1677554-126D-4483-BECF-6A773377CF9E}"/>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현지 탐색과 대표 명소를 나눠 살펴봅니다</a:t>
            </a:r>
          </a:p>
        </p:txBody>
      </p:sp>
      <p:sp>
        <p:nvSpPr>
          <p:cNvPr id="4" name="">
            <a:extLst xmlns:a="http://schemas.openxmlformats.org/drawingml/2006/main">
              <a:ext uri="{FF2B5EF4-FFF2-40B4-BE49-F238E27FC236}">
                <a16:creationId xmlns:a16="http://schemas.microsoft.com/office/drawing/2014/main" id="{BC3705DE-3E0A-41ED-8DA8-02A7FC355E01}"/>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06</a:t>
            </a:r>
          </a:p>
        </p:txBody>
      </p:sp>
      <p:sp>
        <p:nvSpPr>
          <p:cNvPr id="5" name="">
            <a:extLst xmlns:a="http://schemas.openxmlformats.org/drawingml/2006/main">
              <a:ext uri="{FF2B5EF4-FFF2-40B4-BE49-F238E27FC236}">
                <a16:creationId xmlns:a16="http://schemas.microsoft.com/office/drawing/2014/main" id="{1FA92EB6-CCE7-4520-A62F-D8C6603424B8}"/>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65A8405A-F38A-4557-80A3-39C8CFC29A8A}"/>
              </a:ext>
            </a:extLst>
          </p:cNvPr>
          <p:cNvSpPr>
            <a:spLocks xmlns:a="http://schemas.openxmlformats.org/drawingml/2006/main" noGrp="1"/>
          </p:cNvSpPr>
          <p:nvPr/>
        </p:nvSpPr>
        <p:spPr>
          <a:xfrm xmlns:a="http://schemas.openxmlformats.org/drawingml/2006/main">
            <a:off x="609600" y="23622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현지 탐색 / 대표 명소</a:t>
            </a:r>
          </a:p>
        </p:txBody>
      </p:sp>
      <p:sp>
        <p:nvSpPr>
          <p:cNvPr id="7" name="">
            <a:extLst xmlns:a="http://schemas.openxmlformats.org/drawingml/2006/main">
              <a:ext uri="{FF2B5EF4-FFF2-40B4-BE49-F238E27FC236}">
                <a16:creationId xmlns:a16="http://schemas.microsoft.com/office/drawing/2014/main" id="{1DFBE246-D346-416A-8E6D-2E59A380F707}"/>
              </a:ext>
            </a:extLst>
          </p:cNvPr>
          <p:cNvSpPr>
            <a:spLocks xmlns:a="http://schemas.openxmlformats.org/drawingml/2006/main" noGrp="1"/>
          </p:cNvSpPr>
          <p:nvPr/>
        </p:nvSpPr>
        <p:spPr>
          <a:xfrm xmlns:a="http://schemas.openxmlformats.org/drawingml/2006/main">
            <a:off x="609600" y="313372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52B2C"/>
                </a:solidFill>
                <a:latin typeface="Pretendard"/>
                <a:ea typeface="Pretendard"/>
                <a:cs typeface="Pretendard"/>
              </a:defRPr>
            </a:defPPr>
          </a:lstStyle>
          <a:p xmlns:a="http://schemas.openxmlformats.org/drawingml/2006/main">
            <a:pPr>
              <a:buNone/>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사진 · 출처 · 확인할 조건</a:t>
            </a:r>
          </a:p>
          <a:p xmlns:a="http://schemas.openxmlformats.org/drawingml/2006/main">
            <a:pPr>
              <a:buNone/>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서로 다른 최대 3곳 비교</a:t>
            </a:r>
          </a:p>
        </p:txBody>
      </p:sp>
      <p:sp>
        <p:nvSpPr>
          <p:cNvPr id="8" name="">
            <a:extLst xmlns:a="http://schemas.openxmlformats.org/drawingml/2006/main">
              <a:ext uri="{FF2B5EF4-FFF2-40B4-BE49-F238E27FC236}">
                <a16:creationId xmlns:a16="http://schemas.microsoft.com/office/drawing/2014/main" id="{EB456675-8FDD-4D23-A447-6A7A389F578C}"/>
              </a:ext>
            </a:extLst>
          </p:cNvPr>
          <p:cNvSpPr>
            <a:spLocks xmlns:a="http://schemas.openxmlformats.org/drawingml/2006/main" noGrp="1"/>
          </p:cNvSpPr>
          <p:nvPr/>
        </p:nvSpPr>
        <p:spPr>
          <a:xfrm xmlns:a="http://schemas.openxmlformats.org/drawingml/2006/main">
            <a:off x="609600" y="46482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숙소 기준 거리 조건</a:t>
            </a:r>
          </a:p>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직선거리와 도보시간은 구분</a:t>
            </a:r>
          </a:p>
        </p:txBody>
      </p:sp>
      <p:sp>
        <p:nvSpPr>
          <p:cNvPr id="9" name="">
            <a:extLst xmlns:a="http://schemas.openxmlformats.org/drawingml/2006/main">
              <a:ext uri="{FF2B5EF4-FFF2-40B4-BE49-F238E27FC236}">
                <a16:creationId xmlns:a16="http://schemas.microsoft.com/office/drawing/2014/main" id="{787B4FE1-E79D-47B1-B116-E3D17E473DBD}"/>
              </a:ext>
            </a:extLst>
          </p:cNvPr>
          <p:cNvSpPr>
            <a:spLocks xmlns:a="http://schemas.openxmlformats.org/drawingml/2006/main" noGrp="1"/>
          </p:cNvSpPr>
          <p:nvPr/>
        </p:nvSpPr>
        <p:spPr>
          <a:xfrm xmlns:a="http://schemas.openxmlformats.org/drawingml/2006/main">
            <a:off x="609600" y="586740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마드리드 실제 장소 자료 · 방문 적합성 확인 필요</a:t>
            </a:r>
          </a:p>
        </p:txBody>
      </p:sp>
      <p:pic>
        <p:nvPicPr>
          <p:cNvPr id="10" name="">
            <a:extLst xmlns:a="http://schemas.openxmlformats.org/drawingml/2006/main">
              <a:ext uri="{FF2B5EF4-FFF2-40B4-BE49-F238E27FC236}">
                <a16:creationId xmlns:a16="http://schemas.microsoft.com/office/drawing/2014/main" id="{B2DFE606-F84A-420E-9F34-C77E85F76105}"/>
              </a:ext>
            </a:extLst>
          </p:cNvPr>
          <p:cNvPicPr>
            <a:picLocks xmlns:a="http://schemas.openxmlformats.org/drawingml/2006/main" noChangeAspect="1"/>
          </p:cNvPicPr>
          <p:nvPr/>
        </p:nvPicPr>
        <p:blipFill>
          <a:blip xmlns:r="http://schemas.openxmlformats.org/officeDocument/2006/relationships" xmlns:a="http://schemas.openxmlformats.org/drawingml/2006/main" r:embed="R85e4734dc968485c"/>
          <a:stretch xmlns:a="http://schemas.openxmlformats.org/drawingml/2006/main"/>
        </p:blipFill>
        <p:spPr>
          <a:xfrm xmlns:a="http://schemas.openxmlformats.org/drawingml/2006/main">
            <a:off x="6452489" y="2114550"/>
            <a:ext cx="4849622" cy="4210050"/>
          </a:xfrm>
          <a:prstGeom xmlns:a="http://schemas.openxmlformats.org/drawingml/2006/main" prst="rect">
            <a:avLst/>
          </a:prstGeom>
        </p:spPr>
      </p:pic>
    </p:spTree>
    <p:extLst>
      <p:ext uri="{BB962C8B-B14F-4D97-AF65-F5344CB8AC3E}">
        <p14:creationId xmlns:p14="http://schemas.microsoft.com/office/powerpoint/2010/main" val="1205183315"/>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3E8BBE-3412-42E9-AE63-5B2F776AF9B5}"/>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추천의 기준</a:t>
            </a:r>
          </a:p>
        </p:txBody>
      </p:sp>
      <p:sp>
        <p:nvSpPr>
          <p:cNvPr id="2" name="">
            <a:extLst xmlns:a="http://schemas.openxmlformats.org/drawingml/2006/main">
              <a:ext uri="{FF2B5EF4-FFF2-40B4-BE49-F238E27FC236}">
                <a16:creationId xmlns:a16="http://schemas.microsoft.com/office/drawing/2014/main" id="{A724E73E-034A-4A27-89E4-A11221E5DE08}"/>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모르는 정보는 남겨 두기</a:t>
            </a:r>
          </a:p>
        </p:txBody>
      </p:sp>
      <p:sp>
        <p:nvSpPr>
          <p:cNvPr id="3" name="">
            <a:extLst xmlns:a="http://schemas.openxmlformats.org/drawingml/2006/main">
              <a:ext uri="{FF2B5EF4-FFF2-40B4-BE49-F238E27FC236}">
                <a16:creationId xmlns:a16="http://schemas.microsoft.com/office/drawing/2014/main" id="{EBA23210-5BCF-4BA3-90DA-651787F0A2B7}"/>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리뷰 언어와 현지 주민 비율은 다른 정보입니다</a:t>
            </a:r>
          </a:p>
        </p:txBody>
      </p:sp>
      <p:sp>
        <p:nvSpPr>
          <p:cNvPr id="4" name="">
            <a:extLst xmlns:a="http://schemas.openxmlformats.org/drawingml/2006/main">
              <a:ext uri="{FF2B5EF4-FFF2-40B4-BE49-F238E27FC236}">
                <a16:creationId xmlns:a16="http://schemas.microsoft.com/office/drawing/2014/main" id="{F6941BB6-04D0-46D4-BEAD-E8AC4F742554}"/>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07</a:t>
            </a:r>
          </a:p>
        </p:txBody>
      </p:sp>
      <p:sp>
        <p:nvSpPr>
          <p:cNvPr id="5" name="">
            <a:extLst xmlns:a="http://schemas.openxmlformats.org/drawingml/2006/main">
              <a:ext uri="{FF2B5EF4-FFF2-40B4-BE49-F238E27FC236}">
                <a16:creationId xmlns:a16="http://schemas.microsoft.com/office/drawing/2014/main" id="{2E8F4E45-8D88-4A95-B6FE-D78055167154}"/>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E15620DB-A5A8-4DC8-8B02-2692222AC7A2}"/>
              </a:ext>
            </a:extLst>
          </p:cNvPr>
          <p:cNvSpPr>
            <a:spLocks xmlns:a="http://schemas.openxmlformats.org/drawingml/2006/main" noGrp="1"/>
          </p:cNvSpPr>
          <p:nvPr/>
        </p:nvSpPr>
        <p:spPr>
          <a:xfrm xmlns:a="http://schemas.openxmlformats.org/drawingml/2006/main">
            <a:off x="609600" y="242887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25485A"/>
                </a:solidFill>
                <a:latin typeface="Pretendard"/>
                <a:ea typeface="Pretendard"/>
                <a:cs typeface="Pretendard"/>
              </a:defRPr>
            </a:defPPr>
          </a:lstStyle>
          <a:p xmlns:a="http://schemas.openxmlformats.org/drawingml/2006/main">
            <a:pPr>
              <a:buNone/>
              <a:defRPr sz="2925" b="1">
                <a:solidFill>
                  <a:srgbClr val="25485A"/>
                </a:solidFill>
                <a:latin typeface="Pretendard"/>
                <a:ea typeface="Pretendard"/>
                <a:cs typeface="Pretendard"/>
              </a:defRPr>
            </a:pPr>
            <a:r>
              <a:rPr sz="2925" b="1">
                <a:solidFill>
                  <a:srgbClr val="25485A"/>
                </a:solidFill>
                <a:latin typeface="Pretendard"/>
                <a:ea typeface="Pretendard"/>
                <a:cs typeface="Pretendard"/>
              </a:rPr>
              <a:t>관측한 리뷰에서 계산합니다</a:t>
            </a:r>
          </a:p>
        </p:txBody>
      </p:sp>
      <p:sp>
        <p:nvSpPr>
          <p:cNvPr id="7" name="">
            <a:extLst xmlns:a="http://schemas.openxmlformats.org/drawingml/2006/main">
              <a:ext uri="{FF2B5EF4-FFF2-40B4-BE49-F238E27FC236}">
                <a16:creationId xmlns:a16="http://schemas.microsoft.com/office/drawing/2014/main" id="{AA0FF2F7-87A8-4E1F-941E-41CAEC84269B}"/>
              </a:ext>
            </a:extLst>
          </p:cNvPr>
          <p:cNvSpPr>
            <a:spLocks xmlns:a="http://schemas.openxmlformats.org/drawingml/2006/main" noGrp="1"/>
          </p:cNvSpPr>
          <p:nvPr/>
        </p:nvSpPr>
        <p:spPr>
          <a:xfrm xmlns:a="http://schemas.openxmlformats.org/drawingml/2006/main">
            <a:off x="609600" y="3209925"/>
            <a:ext cx="11001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52B2C"/>
                </a:solidFill>
                <a:latin typeface="Pretendard"/>
                <a:ea typeface="Pretendard"/>
                <a:cs typeface="Pretendard"/>
              </a:defRPr>
            </a:defPPr>
          </a:lstStyle>
          <a:p xmlns:a="http://schemas.openxmlformats.org/drawingml/2006/main">
            <a:pPr>
              <a:buNone/>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현지 언어 리뷰가 많아도 주민 비율을 뜻하지 않습니다.</a:t>
            </a:r>
          </a:p>
        </p:txBody>
      </p:sp>
      <p:sp>
        <p:nvSpPr>
          <p:cNvPr id="8" name="">
            <a:extLst xmlns:a="http://schemas.openxmlformats.org/drawingml/2006/main">
              <a:ext uri="{FF2B5EF4-FFF2-40B4-BE49-F238E27FC236}">
                <a16:creationId xmlns:a16="http://schemas.microsoft.com/office/drawing/2014/main" id="{B06F662E-33AC-4186-A530-DDC0F6CD695A}"/>
              </a:ext>
            </a:extLst>
          </p:cNvPr>
          <p:cNvSpPr>
            <a:spLocks xmlns:a="http://schemas.openxmlformats.org/drawingml/2006/main" noGrp="1"/>
          </p:cNvSpPr>
          <p:nvPr/>
        </p:nvSpPr>
        <p:spPr>
          <a:xfrm xmlns:a="http://schemas.openxmlformats.org/drawingml/2006/main">
            <a:off x="609600" y="41052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252B2C"/>
                </a:solidFill>
                <a:latin typeface="Pretendard"/>
                <a:ea typeface="Pretendard"/>
                <a:cs typeface="Pretendard"/>
              </a:defRPr>
            </a:defPPr>
          </a:lstStyle>
          <a:p xmlns:a="http://schemas.openxmlformats.org/drawingml/2006/main">
            <a:pPr>
              <a:buNone/>
              <a:defRPr sz="2400" b="0">
                <a:solidFill>
                  <a:srgbClr val="252B2C"/>
                </a:solidFill>
                <a:latin typeface="Pretendard"/>
                <a:ea typeface="Pretendard"/>
                <a:cs typeface="Pretendard"/>
              </a:defRPr>
            </a:pPr>
            <a:r>
              <a:rPr sz="2400" b="0">
                <a:solidFill>
                  <a:srgbClr val="252B2C"/>
                </a:solidFill>
                <a:latin typeface="Pretendard"/>
                <a:ea typeface="Pretendard"/>
                <a:cs typeface="Pretendard"/>
              </a:rPr>
              <a:t>원문 확보 · 판별 수 · 미판별 수 · 관측 기간</a:t>
            </a:r>
          </a:p>
        </p:txBody>
      </p:sp>
      <p:sp>
        <p:nvSpPr>
          <p:cNvPr id="9" name="">
            <a:extLst xmlns:a="http://schemas.openxmlformats.org/drawingml/2006/main">
              <a:ext uri="{FF2B5EF4-FFF2-40B4-BE49-F238E27FC236}">
                <a16:creationId xmlns:a16="http://schemas.microsoft.com/office/drawing/2014/main" id="{6C9CD5EA-33FF-4F36-9412-4618FB385AC3}"/>
              </a:ext>
            </a:extLst>
          </p:cNvPr>
          <p:cNvSpPr>
            <a:spLocks xmlns:a="http://schemas.openxmlformats.org/drawingml/2006/main" noGrp="1"/>
          </p:cNvSpPr>
          <p:nvPr/>
        </p:nvSpPr>
        <p:spPr>
          <a:xfrm xmlns:a="http://schemas.openxmlformats.org/drawingml/2006/main">
            <a:off x="609600" y="5200650"/>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87662A"/>
                </a:solidFill>
                <a:latin typeface="Pretendard"/>
                <a:ea typeface="Pretendard"/>
                <a:cs typeface="Pretendard"/>
              </a:defRPr>
            </a:defPPr>
          </a:lstStyle>
          <a:p xmlns:a="http://schemas.openxmlformats.org/drawingml/2006/main">
            <a:pPr>
              <a:buNone/>
              <a:defRPr sz="2400" b="1">
                <a:solidFill>
                  <a:srgbClr val="87662A"/>
                </a:solidFill>
                <a:latin typeface="Pretendard"/>
                <a:ea typeface="Pretendard"/>
                <a:cs typeface="Pretendard"/>
              </a:defRPr>
            </a:pPr>
            <a:r>
              <a:rPr sz="2400" b="1">
                <a:solidFill>
                  <a:srgbClr val="87662A"/>
                </a:solidFill>
                <a:latin typeface="Pretendard"/>
                <a:ea typeface="Pretendard"/>
                <a:cs typeface="Pretendard"/>
              </a:rPr>
              <a:t>엄격 리뷰 추천 OFF</a:t>
            </a:r>
          </a:p>
        </p:txBody>
      </p:sp>
      <p:sp>
        <p:nvSpPr>
          <p:cNvPr id="10" name="">
            <a:extLst xmlns:a="http://schemas.openxmlformats.org/drawingml/2006/main">
              <a:ext uri="{FF2B5EF4-FFF2-40B4-BE49-F238E27FC236}">
                <a16:creationId xmlns:a16="http://schemas.microsoft.com/office/drawing/2014/main" id="{84C133FF-F327-4734-9303-46756543E501}"/>
              </a:ext>
            </a:extLst>
          </p:cNvPr>
          <p:cNvSpPr>
            <a:spLocks xmlns:a="http://schemas.openxmlformats.org/drawingml/2006/main" noGrp="1"/>
          </p:cNvSpPr>
          <p:nvPr/>
        </p:nvSpPr>
        <p:spPr>
          <a:xfrm xmlns:a="http://schemas.openxmlformats.org/drawingml/2006/main">
            <a:off x="609600" y="579120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실제 수집·이용 범위·언어 품질 검증 전에는 켜지 않습니다.</a:t>
            </a:r>
          </a:p>
        </p:txBody>
      </p:sp>
    </p:spTree>
    <p:extLst>
      <p:ext uri="{BB962C8B-B14F-4D97-AF65-F5344CB8AC3E}">
        <p14:creationId xmlns:p14="http://schemas.microsoft.com/office/powerpoint/2010/main" val="885065910"/>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0A1BDE-AD82-4C01-9FA9-09CFC5CC494F}"/>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일정 편집</a:t>
            </a:r>
          </a:p>
        </p:txBody>
      </p:sp>
      <p:sp>
        <p:nvSpPr>
          <p:cNvPr id="2" name="">
            <a:extLst xmlns:a="http://schemas.openxmlformats.org/drawingml/2006/main">
              <a:ext uri="{FF2B5EF4-FFF2-40B4-BE49-F238E27FC236}">
                <a16:creationId xmlns:a16="http://schemas.microsoft.com/office/drawing/2014/main" id="{1DEA3431-5971-48D8-8470-38A12A3B9343}"/>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두 시간의 빈칸에 넣을 수 있을까?</a:t>
            </a:r>
          </a:p>
        </p:txBody>
      </p:sp>
      <p:sp>
        <p:nvSpPr>
          <p:cNvPr id="3" name="">
            <a:extLst xmlns:a="http://schemas.openxmlformats.org/drawingml/2006/main">
              <a:ext uri="{FF2B5EF4-FFF2-40B4-BE49-F238E27FC236}">
                <a16:creationId xmlns:a16="http://schemas.microsoft.com/office/drawing/2014/main" id="{9600C559-CC94-4739-9C1A-D3D372390133}"/>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체류시간과 양쪽 이동을 모두 계산합니다</a:t>
            </a:r>
          </a:p>
        </p:txBody>
      </p:sp>
      <p:sp>
        <p:nvSpPr>
          <p:cNvPr id="4" name="">
            <a:extLst xmlns:a="http://schemas.openxmlformats.org/drawingml/2006/main">
              <a:ext uri="{FF2B5EF4-FFF2-40B4-BE49-F238E27FC236}">
                <a16:creationId xmlns:a16="http://schemas.microsoft.com/office/drawing/2014/main" id="{2291B408-2001-4283-B10A-DB33CE1B0E96}"/>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08</a:t>
            </a:r>
          </a:p>
        </p:txBody>
      </p:sp>
      <p:sp>
        <p:nvSpPr>
          <p:cNvPr id="5" name="">
            <a:extLst xmlns:a="http://schemas.openxmlformats.org/drawingml/2006/main">
              <a:ext uri="{FF2B5EF4-FFF2-40B4-BE49-F238E27FC236}">
                <a16:creationId xmlns:a16="http://schemas.microsoft.com/office/drawing/2014/main" id="{F21F9559-FA6F-407A-87F7-12021C9B8419}"/>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4294ABCC-1137-4736-ABD8-0D53D7911A24}"/>
              </a:ext>
            </a:extLst>
          </p:cNvPr>
          <p:cNvSpPr>
            <a:spLocks xmlns:a="http://schemas.openxmlformats.org/drawingml/2006/main" noGrp="1"/>
          </p:cNvSpPr>
          <p:nvPr/>
        </p:nvSpPr>
        <p:spPr>
          <a:xfrm xmlns:a="http://schemas.openxmlformats.org/drawingml/2006/main">
            <a:off x="609600" y="22764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5485A"/>
                </a:solidFill>
                <a:latin typeface="Pretendard"/>
                <a:ea typeface="Pretendard"/>
                <a:cs typeface="Pretendard"/>
              </a:defRPr>
            </a:defPPr>
          </a:lstStyle>
          <a:p xmlns:a="http://schemas.openxmlformats.org/drawingml/2006/main">
            <a:pPr>
              <a:buNone/>
              <a:defRPr sz="3000" b="1">
                <a:solidFill>
                  <a:srgbClr val="25485A"/>
                </a:solidFill>
                <a:latin typeface="Pretendard"/>
                <a:ea typeface="Pretendard"/>
                <a:cs typeface="Pretendard"/>
              </a:defRPr>
            </a:pPr>
            <a:r>
              <a:rPr sz="3000" b="1">
                <a:solidFill>
                  <a:srgbClr val="25485A"/>
                </a:solidFill>
                <a:latin typeface="Pretendard"/>
                <a:ea typeface="Pretendard"/>
                <a:cs typeface="Pretendard"/>
              </a:rPr>
              <a:t>13:00 → 15:00</a:t>
            </a:r>
          </a:p>
        </p:txBody>
      </p:sp>
      <p:sp>
        <p:nvSpPr>
          <p:cNvPr id="7" name="">
            <a:extLst xmlns:a="http://schemas.openxmlformats.org/drawingml/2006/main">
              <a:ext uri="{FF2B5EF4-FFF2-40B4-BE49-F238E27FC236}">
                <a16:creationId xmlns:a16="http://schemas.microsoft.com/office/drawing/2014/main" id="{761EAF88-E77A-4087-9CA2-36FD4EEFD200}"/>
              </a:ext>
            </a:extLst>
          </p:cNvPr>
          <p:cNvSpPr>
            <a:spLocks xmlns:a="http://schemas.openxmlformats.org/drawingml/2006/main" noGrp="1"/>
          </p:cNvSpPr>
          <p:nvPr/>
        </p:nvSpPr>
        <p:spPr>
          <a:xfrm xmlns:a="http://schemas.openxmlformats.org/drawingml/2006/main">
            <a:off x="609600" y="3000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점심 종료부터 다음 예약까지 120분</a:t>
            </a:r>
          </a:p>
        </p:txBody>
      </p:sp>
      <p:pic>
        <p:nvPicPr>
          <p:cNvPr id="8" name="">
            <a:extLst xmlns:a="http://schemas.openxmlformats.org/drawingml/2006/main">
              <a:ext uri="{FF2B5EF4-FFF2-40B4-BE49-F238E27FC236}">
                <a16:creationId xmlns:a16="http://schemas.microsoft.com/office/drawing/2014/main" id="{C39391D7-6BC7-4DAE-ADA0-0E9782F426B3}"/>
              </a:ext>
            </a:extLst>
          </p:cNvPr>
          <p:cNvPicPr>
            <a:picLocks xmlns:a="http://schemas.openxmlformats.org/drawingml/2006/main" noChangeAspect="1"/>
          </p:cNvPicPr>
          <p:nvPr/>
        </p:nvPicPr>
        <p:blipFill>
          <a:blip xmlns:r="http://schemas.openxmlformats.org/officeDocument/2006/relationships" xmlns:a="http://schemas.openxmlformats.org/drawingml/2006/main" r:embed="Rdb7444ceadcb40c0"/>
          <a:srcRect xmlns:a="http://schemas.openxmlformats.org/drawingml/2006/main" l="0" t="0" r="0" b="0"/>
          <a:stretch xmlns:a="http://schemas.openxmlformats.org/drawingml/2006/main"/>
        </p:blipFill>
        <p:spPr>
          <a:xfrm xmlns:a="http://schemas.openxmlformats.org/drawingml/2006/main">
            <a:off x="6391275" y="2647950"/>
            <a:ext cx="5095875" cy="26955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0672445-7A07-4678-B3E2-C5B9F0E98093}"/>
              </a:ext>
            </a:extLst>
          </p:cNvPr>
          <p:cNvSpPr>
            <a:spLocks xmlns:a="http://schemas.openxmlformats.org/drawingml/2006/main" noGrp="1"/>
          </p:cNvSpPr>
          <p:nvPr/>
        </p:nvSpPr>
        <p:spPr>
          <a:xfrm xmlns:a="http://schemas.openxmlformats.org/drawingml/2006/main">
            <a:off x="609600" y="3762375"/>
            <a:ext cx="54768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52B2C"/>
                </a:solidFill>
                <a:latin typeface="Pretendard"/>
                <a:ea typeface="Pretendard"/>
                <a:cs typeface="Pretendard"/>
              </a:defRPr>
            </a:defPPr>
          </a:lstStyle>
          <a:p xmlns:a="http://schemas.openxmlformats.org/drawingml/2006/main">
            <a:pPr>
              <a:buNone/>
              <a:defRPr sz="2625" b="1">
                <a:solidFill>
                  <a:srgbClr val="252B2C"/>
                </a:solidFill>
                <a:latin typeface="Pretendard"/>
                <a:ea typeface="Pretendard"/>
                <a:cs typeface="Pretendard"/>
              </a:defRPr>
            </a:pPr>
            <a:r>
              <a:rPr sz="2625" b="1">
                <a:solidFill>
                  <a:srgbClr val="252B2C"/>
                </a:solidFill>
                <a:latin typeface="Pretendard"/>
                <a:ea typeface="Pretendard"/>
                <a:cs typeface="Pretendard"/>
              </a:rPr>
              <a:t>30 + 90 + 30 = 150분</a:t>
            </a:r>
          </a:p>
        </p:txBody>
      </p:sp>
      <p:sp>
        <p:nvSpPr>
          <p:cNvPr id="10" name="">
            <a:extLst xmlns:a="http://schemas.openxmlformats.org/drawingml/2006/main">
              <a:ext uri="{FF2B5EF4-FFF2-40B4-BE49-F238E27FC236}">
                <a16:creationId xmlns:a16="http://schemas.microsoft.com/office/drawing/2014/main" id="{4A3A6970-2140-4EFD-97DF-ACEDA1F15F69}"/>
              </a:ext>
            </a:extLst>
          </p:cNvPr>
          <p:cNvSpPr>
            <a:spLocks xmlns:a="http://schemas.openxmlformats.org/drawingml/2006/main" noGrp="1"/>
          </p:cNvSpPr>
          <p:nvPr/>
        </p:nvSpPr>
        <p:spPr>
          <a:xfrm xmlns:a="http://schemas.openxmlformats.org/drawingml/2006/main">
            <a:off x="609600" y="4562475"/>
            <a:ext cx="5476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252B2C"/>
                </a:solidFill>
                <a:latin typeface="Pretendard"/>
                <a:ea typeface="Pretendard"/>
                <a:cs typeface="Pretendard"/>
              </a:defRPr>
            </a:defPPr>
          </a:lstStyle>
          <a:p xmlns:a="http://schemas.openxmlformats.org/drawingml/2006/main">
            <a:pPr>
              <a:buNone/>
              <a:defRPr sz="1875" b="0">
                <a:solidFill>
                  <a:srgbClr val="252B2C"/>
                </a:solidFill>
                <a:latin typeface="Pretendard"/>
                <a:ea typeface="Pretendard"/>
                <a:cs typeface="Pretendard"/>
              </a:defRPr>
            </a:pPr>
            <a:r>
              <a:rPr sz="1875" b="0">
                <a:solidFill>
                  <a:srgbClr val="252B2C"/>
                </a:solidFill>
                <a:latin typeface="Pretendard"/>
                <a:ea typeface="Pretendard"/>
                <a:cs typeface="Pretendard"/>
              </a:rPr>
              <a:t>이동 + 체류 + 이동 → 30분 부족</a:t>
            </a:r>
          </a:p>
          <a:p xmlns:a="http://schemas.openxmlformats.org/drawingml/2006/main">
            <a:pPr>
              <a:buNone/>
              <a:defRPr sz="1875" b="0">
                <a:solidFill>
                  <a:srgbClr val="252B2C"/>
                </a:solidFill>
                <a:latin typeface="Pretendard"/>
                <a:ea typeface="Pretendard"/>
                <a:cs typeface="Pretendard"/>
              </a:defRPr>
            </a:pPr>
            <a:r>
              <a:rPr sz="1875" b="0">
                <a:solidFill>
                  <a:srgbClr val="252B2C"/>
                </a:solidFill>
                <a:latin typeface="Pretendard"/>
                <a:ea typeface="Pretendard"/>
                <a:cs typeface="Pretendard"/>
              </a:rPr>
              <a:t>확정 예약을 옮겨서 끼워 넣지 않습니다</a:t>
            </a:r>
          </a:p>
        </p:txBody>
      </p:sp>
      <p:sp>
        <p:nvSpPr>
          <p:cNvPr id="12" name="">
            <a:extLst xmlns:a="http://schemas.openxmlformats.org/drawingml/2006/main">
              <a:ext uri="{FF2B5EF4-FFF2-40B4-BE49-F238E27FC236}">
                <a16:creationId xmlns:a16="http://schemas.microsoft.com/office/drawing/2014/main" id="{2CE87796-D301-44ED-92AF-E3EE75E5645B}"/>
              </a:ext>
            </a:extLst>
          </p:cNvPr>
          <p:cNvSpPr>
            <a:spLocks xmlns:a="http://schemas.openxmlformats.org/drawingml/2006/main" noGrp="1"/>
          </p:cNvSpPr>
          <p:nvPr/>
        </p:nvSpPr>
        <p:spPr>
          <a:xfrm xmlns:a="http://schemas.openxmlformats.org/drawingml/2006/main">
            <a:off x="609600" y="5591175"/>
            <a:ext cx="4953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606C70"/>
                </a:solidFill>
                <a:latin typeface="Pretendard"/>
                <a:ea typeface="Pretendard"/>
                <a:cs typeface="Pretendard"/>
              </a:defRPr>
            </a:defPPr>
          </a:lstStyle>
          <a:p xmlns:a="http://schemas.openxmlformats.org/drawingml/2006/main">
            <a:pPr>
              <a:defRPr sz="1425" b="0">
                <a:solidFill>
                  <a:srgbClr val="606C70"/>
                </a:solidFill>
                <a:latin typeface="Pretendard"/>
                <a:ea typeface="Pretendard"/>
                <a:cs typeface="Pretendard"/>
              </a:defRPr>
            </a:pPr>
            <a:r>
              <a:rPr sz="1425" b="0">
                <a:solidFill>
                  <a:srgbClr val="606C70"/>
                </a:solidFill>
                <a:latin typeface="Pretendard"/>
                <a:ea typeface="Pretendard"/>
                <a:cs typeface="Pretendard"/>
              </a:rPr>
              <a:t>합성 계산 예시</a:t>
            </a:r>
          </a:p>
        </p:txBody>
      </p:sp>
      <p:sp>
        <p:nvSpPr>
          <p:cNvPr id="13" name="">
            <a:extLst xmlns:a="http://schemas.openxmlformats.org/drawingml/2006/main">
              <a:ext uri="{FF2B5EF4-FFF2-40B4-BE49-F238E27FC236}">
                <a16:creationId xmlns:a16="http://schemas.microsoft.com/office/drawing/2014/main" id="{E568EEA8-603E-4F64-8975-C62BFDB9382F}"/>
              </a:ext>
            </a:extLst>
          </p:cNvPr>
          <p:cNvSpPr>
            <a:spLocks xmlns:a="http://schemas.openxmlformats.org/drawingml/2006/main" noGrp="1"/>
          </p:cNvSpPr>
          <p:nvPr/>
        </p:nvSpPr>
        <p:spPr>
          <a:xfrm xmlns:a="http://schemas.openxmlformats.org/drawingml/2006/main">
            <a:off x="6515100" y="2276475"/>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06C70"/>
                </a:solidFill>
                <a:latin typeface="Pretendard"/>
                <a:ea typeface="Pretendard"/>
                <a:cs typeface="Pretendard"/>
              </a:defRPr>
            </a:defPPr>
          </a:lstStyle>
          <a:p xmlns:a="http://schemas.openxmlformats.org/drawingml/2006/main">
            <a:pPr>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앱 화면: 고정 예약과 충돌 표시</a:t>
            </a:r>
          </a:p>
        </p:txBody>
      </p:sp>
      <p:sp>
        <p:nvSpPr>
          <p:cNvPr id="14" name="">
            <a:extLst xmlns:a="http://schemas.openxmlformats.org/drawingml/2006/main">
              <a:ext uri="{FF2B5EF4-FFF2-40B4-BE49-F238E27FC236}">
                <a16:creationId xmlns:a16="http://schemas.microsoft.com/office/drawing/2014/main" id="{F09F7083-BEB3-4ED7-A409-9A6F93090A1A}"/>
              </a:ext>
            </a:extLst>
          </p:cNvPr>
          <p:cNvSpPr>
            <a:spLocks xmlns:a="http://schemas.openxmlformats.org/drawingml/2006/main" noGrp="1"/>
          </p:cNvSpPr>
          <p:nvPr/>
        </p:nvSpPr>
        <p:spPr>
          <a:xfrm xmlns:a="http://schemas.openxmlformats.org/drawingml/2006/main">
            <a:off x="6486525" y="560070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5485A"/>
                </a:solidFill>
                <a:latin typeface="Pretendard"/>
                <a:ea typeface="Pretendard"/>
                <a:cs typeface="Pretendard"/>
              </a:defRPr>
            </a:defPPr>
          </a:lstStyle>
          <a:p xmlns:a="http://schemas.openxmlformats.org/drawingml/2006/main">
            <a:pPr>
              <a:defRPr sz="2025" b="1">
                <a:solidFill>
                  <a:srgbClr val="25485A"/>
                </a:solidFill>
                <a:latin typeface="Pretendard"/>
                <a:ea typeface="Pretendard"/>
                <a:cs typeface="Pretendard"/>
              </a:defRPr>
            </a:pPr>
            <a:r>
              <a:rPr sz="2025" b="1">
                <a:solidFill>
                  <a:srgbClr val="25485A"/>
                </a:solidFill>
                <a:latin typeface="Pretendard"/>
                <a:ea typeface="Pretendard"/>
                <a:cs typeface="Pretendard"/>
              </a:rPr>
              <a:t>미리보기 → 적용 → 되돌리기</a:t>
            </a:r>
          </a:p>
        </p:txBody>
      </p:sp>
    </p:spTree>
    <p:extLst>
      <p:ext uri="{BB962C8B-B14F-4D97-AF65-F5344CB8AC3E}">
        <p14:creationId xmlns:p14="http://schemas.microsoft.com/office/powerpoint/2010/main" val="975248785"/>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382B12-F19A-44FA-9C51-CEEC25BD20E5}"/>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운영과 복구</a:t>
            </a:r>
          </a:p>
        </p:txBody>
      </p:sp>
      <p:sp>
        <p:nvSpPr>
          <p:cNvPr id="2" name="">
            <a:extLst xmlns:a="http://schemas.openxmlformats.org/drawingml/2006/main">
              <a:ext uri="{FF2B5EF4-FFF2-40B4-BE49-F238E27FC236}">
                <a16:creationId xmlns:a16="http://schemas.microsoft.com/office/drawing/2014/main" id="{8B4F1907-DE2F-4A82-ACFD-691B2B47870C}"/>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실패해도 다시 이어서 쓸 수 있게</a:t>
            </a:r>
          </a:p>
        </p:txBody>
      </p:sp>
      <p:sp>
        <p:nvSpPr>
          <p:cNvPr id="3" name="">
            <a:extLst xmlns:a="http://schemas.openxmlformats.org/drawingml/2006/main">
              <a:ext uri="{FF2B5EF4-FFF2-40B4-BE49-F238E27FC236}">
                <a16:creationId xmlns:a16="http://schemas.microsoft.com/office/drawing/2014/main" id="{930F20CF-0FF6-4D08-BE9C-3B0BDB4CA133}"/>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새로고침 · 서버 재시작 · 지도 검색 장애</a:t>
            </a:r>
          </a:p>
        </p:txBody>
      </p:sp>
      <p:sp>
        <p:nvSpPr>
          <p:cNvPr id="4" name="">
            <a:extLst xmlns:a="http://schemas.openxmlformats.org/drawingml/2006/main">
              <a:ext uri="{FF2B5EF4-FFF2-40B4-BE49-F238E27FC236}">
                <a16:creationId xmlns:a16="http://schemas.microsoft.com/office/drawing/2014/main" id="{DD7A908F-7096-4D24-BC5B-86F314BA7116}"/>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09</a:t>
            </a:r>
          </a:p>
        </p:txBody>
      </p:sp>
      <p:sp>
        <p:nvSpPr>
          <p:cNvPr id="5" name="">
            <a:extLst xmlns:a="http://schemas.openxmlformats.org/drawingml/2006/main">
              <a:ext uri="{FF2B5EF4-FFF2-40B4-BE49-F238E27FC236}">
                <a16:creationId xmlns:a16="http://schemas.microsoft.com/office/drawing/2014/main" id="{1F448F71-F6E2-4A80-AD6B-CFCFED034184}"/>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8A1BF342-B26A-4E71-8437-3904ACC2DA7E}"/>
              </a:ext>
            </a:extLst>
          </p:cNvPr>
          <p:cNvSpPr>
            <a:spLocks xmlns:a="http://schemas.openxmlformats.org/drawingml/2006/main" noGrp="1"/>
          </p:cNvSpPr>
          <p:nvPr/>
        </p:nvSpPr>
        <p:spPr>
          <a:xfrm xmlns:a="http://schemas.openxmlformats.org/drawingml/2006/main">
            <a:off x="609600" y="229552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5485A"/>
                </a:solidFill>
                <a:latin typeface="Pretendard"/>
                <a:ea typeface="Pretendard"/>
                <a:cs typeface="Pretendard"/>
              </a:defRPr>
            </a:defPPr>
          </a:lstStyle>
          <a:p xmlns:a="http://schemas.openxmlformats.org/drawingml/2006/main">
            <a:pPr>
              <a:buNone/>
              <a:defRPr sz="2325" b="1">
                <a:solidFill>
                  <a:srgbClr val="25485A"/>
                </a:solidFill>
                <a:latin typeface="Pretendard"/>
                <a:ea typeface="Pretendard"/>
                <a:cs typeface="Pretendard"/>
              </a:defRPr>
            </a:pPr>
            <a:r>
              <a:rPr sz="2325" b="1">
                <a:solidFill>
                  <a:srgbClr val="25485A"/>
                </a:solidFill>
                <a:latin typeface="Pretendard"/>
                <a:ea typeface="Pretendard"/>
                <a:cs typeface="Pretendard"/>
              </a:rPr>
              <a:t>새로고침해도 작업을 찾습니다</a:t>
            </a:r>
          </a:p>
        </p:txBody>
      </p:sp>
      <p:sp>
        <p:nvSpPr>
          <p:cNvPr id="7" name="">
            <a:extLst xmlns:a="http://schemas.openxmlformats.org/drawingml/2006/main">
              <a:ext uri="{FF2B5EF4-FFF2-40B4-BE49-F238E27FC236}">
                <a16:creationId xmlns:a16="http://schemas.microsoft.com/office/drawing/2014/main" id="{EF6B800D-9DBA-44EC-88D1-9CFEF201A37A}"/>
              </a:ext>
            </a:extLst>
          </p:cNvPr>
          <p:cNvSpPr>
            <a:spLocks xmlns:a="http://schemas.openxmlformats.org/drawingml/2006/main" noGrp="1"/>
          </p:cNvSpPr>
          <p:nvPr/>
        </p:nvSpPr>
        <p:spPr>
          <a:xfrm xmlns:a="http://schemas.openxmlformats.org/drawingml/2006/main">
            <a:off x="609600" y="277177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buNone/>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작업 번호·진행 상태를 DB에 저장하고 다시 조회</a:t>
            </a:r>
          </a:p>
        </p:txBody>
      </p:sp>
      <p:sp>
        <p:nvSpPr>
          <p:cNvPr id="8" name="">
            <a:extLst xmlns:a="http://schemas.openxmlformats.org/drawingml/2006/main">
              <a:ext uri="{FF2B5EF4-FFF2-40B4-BE49-F238E27FC236}">
                <a16:creationId xmlns:a16="http://schemas.microsoft.com/office/drawing/2014/main" id="{9834AD9E-C4E3-4CF5-813F-A37706E3FF9E}"/>
              </a:ext>
            </a:extLst>
          </p:cNvPr>
          <p:cNvSpPr>
            <a:spLocks xmlns:a="http://schemas.openxmlformats.org/drawingml/2006/main" noGrp="1"/>
          </p:cNvSpPr>
          <p:nvPr/>
        </p:nvSpPr>
        <p:spPr>
          <a:xfrm xmlns:a="http://schemas.openxmlformats.org/drawingml/2006/main">
            <a:off x="609600" y="3429000"/>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5485A"/>
                </a:solidFill>
                <a:latin typeface="Pretendard"/>
                <a:ea typeface="Pretendard"/>
                <a:cs typeface="Pretendard"/>
              </a:defRPr>
            </a:defPPr>
          </a:lstStyle>
          <a:p xmlns:a="http://schemas.openxmlformats.org/drawingml/2006/main">
            <a:pPr>
              <a:buNone/>
              <a:defRPr sz="2325" b="1">
                <a:solidFill>
                  <a:srgbClr val="25485A"/>
                </a:solidFill>
                <a:latin typeface="Pretendard"/>
                <a:ea typeface="Pretendard"/>
                <a:cs typeface="Pretendard"/>
              </a:defRPr>
            </a:pPr>
            <a:r>
              <a:rPr sz="2325" b="1">
                <a:solidFill>
                  <a:srgbClr val="25485A"/>
                </a:solidFill>
                <a:latin typeface="Pretendard"/>
                <a:ea typeface="Pretendard"/>
                <a:cs typeface="Pretendard"/>
              </a:rPr>
              <a:t>서버가 재시작돼도 자료를 보관합니다</a:t>
            </a:r>
          </a:p>
        </p:txBody>
      </p:sp>
      <p:sp>
        <p:nvSpPr>
          <p:cNvPr id="9" name="">
            <a:extLst xmlns:a="http://schemas.openxmlformats.org/drawingml/2006/main">
              <a:ext uri="{FF2B5EF4-FFF2-40B4-BE49-F238E27FC236}">
                <a16:creationId xmlns:a16="http://schemas.microsoft.com/office/drawing/2014/main" id="{2A93E71E-2C6F-47FF-8D8F-30F1477DA39E}"/>
              </a:ext>
            </a:extLst>
          </p:cNvPr>
          <p:cNvSpPr>
            <a:spLocks xmlns:a="http://schemas.openxmlformats.org/drawingml/2006/main" noGrp="1"/>
          </p:cNvSpPr>
          <p:nvPr/>
        </p:nvSpPr>
        <p:spPr>
          <a:xfrm xmlns:a="http://schemas.openxmlformats.org/drawingml/2006/main">
            <a:off x="609600" y="3905250"/>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buNone/>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Render Free + Supabase SQL · 비공개 파일 · 검색</a:t>
            </a:r>
          </a:p>
        </p:txBody>
      </p:sp>
      <p:sp>
        <p:nvSpPr>
          <p:cNvPr id="10" name="">
            <a:extLst xmlns:a="http://schemas.openxmlformats.org/drawingml/2006/main">
              <a:ext uri="{FF2B5EF4-FFF2-40B4-BE49-F238E27FC236}">
                <a16:creationId xmlns:a16="http://schemas.microsoft.com/office/drawing/2014/main" id="{1446E490-B18C-4682-829A-2B1A56FF09C9}"/>
              </a:ext>
            </a:extLst>
          </p:cNvPr>
          <p:cNvSpPr>
            <a:spLocks xmlns:a="http://schemas.openxmlformats.org/drawingml/2006/main" noGrp="1"/>
          </p:cNvSpPr>
          <p:nvPr/>
        </p:nvSpPr>
        <p:spPr>
          <a:xfrm xmlns:a="http://schemas.openxmlformats.org/drawingml/2006/main">
            <a:off x="609600" y="456247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5485A"/>
                </a:solidFill>
                <a:latin typeface="Pretendard"/>
                <a:ea typeface="Pretendard"/>
                <a:cs typeface="Pretendard"/>
              </a:defRPr>
            </a:defPPr>
          </a:lstStyle>
          <a:p xmlns:a="http://schemas.openxmlformats.org/drawingml/2006/main">
            <a:pPr>
              <a:buNone/>
              <a:defRPr sz="2325" b="1">
                <a:solidFill>
                  <a:srgbClr val="25485A"/>
                </a:solidFill>
                <a:latin typeface="Pretendard"/>
                <a:ea typeface="Pretendard"/>
                <a:cs typeface="Pretendard"/>
              </a:defRPr>
            </a:pPr>
            <a:r>
              <a:rPr sz="2325" b="1">
                <a:solidFill>
                  <a:srgbClr val="25485A"/>
                </a:solidFill>
                <a:latin typeface="Pretendard"/>
                <a:ea typeface="Pretendard"/>
                <a:cs typeface="Pretendard"/>
              </a:rPr>
              <a:t>지도 실패는 실제 오류부터 확인했습니다</a:t>
            </a:r>
          </a:p>
        </p:txBody>
      </p:sp>
      <p:sp>
        <p:nvSpPr>
          <p:cNvPr id="11" name="">
            <a:extLst xmlns:a="http://schemas.openxmlformats.org/drawingml/2006/main">
              <a:ext uri="{FF2B5EF4-FFF2-40B4-BE49-F238E27FC236}">
                <a16:creationId xmlns:a16="http://schemas.microsoft.com/office/drawing/2014/main" id="{17B6E080-F6AD-448A-9C68-C1AA2E34710F}"/>
              </a:ext>
            </a:extLst>
          </p:cNvPr>
          <p:cNvSpPr>
            <a:spLocks xmlns:a="http://schemas.openxmlformats.org/drawingml/2006/main" noGrp="1"/>
          </p:cNvSpPr>
          <p:nvPr/>
        </p:nvSpPr>
        <p:spPr>
          <a:xfrm xmlns:a="http://schemas.openxmlformats.org/drawingml/2006/main">
            <a:off x="609600" y="503872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buNone/>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연결 거절 확인 → Photon 적용 → 런던 후보 12곳</a:t>
            </a:r>
          </a:p>
        </p:txBody>
      </p:sp>
      <p:sp>
        <p:nvSpPr>
          <p:cNvPr id="12" name="">
            <a:extLst xmlns:a="http://schemas.openxmlformats.org/drawingml/2006/main">
              <a:ext uri="{FF2B5EF4-FFF2-40B4-BE49-F238E27FC236}">
                <a16:creationId xmlns:a16="http://schemas.microsoft.com/office/drawing/2014/main" id="{BB6C79F2-BF5D-4F9E-8766-2F26BA26CEC2}"/>
              </a:ext>
            </a:extLst>
          </p:cNvPr>
          <p:cNvSpPr>
            <a:spLocks xmlns:a="http://schemas.openxmlformats.org/drawingml/2006/main" noGrp="1"/>
          </p:cNvSpPr>
          <p:nvPr/>
        </p:nvSpPr>
        <p:spPr>
          <a:xfrm xmlns:a="http://schemas.openxmlformats.org/drawingml/2006/main">
            <a:off x="609600" y="5895975"/>
            <a:ext cx="10934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06C70"/>
                </a:solidFill>
                <a:latin typeface="Pretendard"/>
                <a:ea typeface="Pretendard"/>
                <a:cs typeface="Pretendard"/>
              </a:defRPr>
            </a:defPPr>
          </a:lstStyle>
          <a:p xmlns:a="http://schemas.openxmlformats.org/drawingml/2006/main">
            <a:pPr>
              <a:buNone/>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재조회 추가 지도 호출 0회 · 방문 조건까지 검증한 추천 수와는 다릅니다.</a:t>
            </a:r>
          </a:p>
        </p:txBody>
      </p:sp>
    </p:spTree>
    <p:extLst>
      <p:ext uri="{BB962C8B-B14F-4D97-AF65-F5344CB8AC3E}">
        <p14:creationId xmlns:p14="http://schemas.microsoft.com/office/powerpoint/2010/main" val="1064254562"/>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6B4441-B029-49EF-AD4E-A9EBEBA6FC66}"/>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검증과 다음 과제</a:t>
            </a:r>
          </a:p>
        </p:txBody>
      </p:sp>
      <p:sp>
        <p:nvSpPr>
          <p:cNvPr id="2" name="">
            <a:extLst xmlns:a="http://schemas.openxmlformats.org/drawingml/2006/main">
              <a:ext uri="{FF2B5EF4-FFF2-40B4-BE49-F238E27FC236}">
                <a16:creationId xmlns:a16="http://schemas.microsoft.com/office/drawing/2014/main" id="{2B52ADD2-AB2B-4644-828E-D90C18447DFB}"/>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buNone/>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만든 것, 확인한 것, 다음에 할 것</a:t>
            </a:r>
          </a:p>
        </p:txBody>
      </p:sp>
      <p:sp>
        <p:nvSpPr>
          <p:cNvPr id="3" name="">
            <a:extLst xmlns:a="http://schemas.openxmlformats.org/drawingml/2006/main">
              <a:ext uri="{FF2B5EF4-FFF2-40B4-BE49-F238E27FC236}">
                <a16:creationId xmlns:a16="http://schemas.microsoft.com/office/drawing/2014/main" id="{883371E6-32FA-4862-BD61-A874BBC301E4}"/>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buNone/>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예약에서 일정까지 연결한 비공개 베타</a:t>
            </a:r>
          </a:p>
        </p:txBody>
      </p:sp>
      <p:sp>
        <p:nvSpPr>
          <p:cNvPr id="4" name="">
            <a:extLst xmlns:a="http://schemas.openxmlformats.org/drawingml/2006/main">
              <a:ext uri="{FF2B5EF4-FFF2-40B4-BE49-F238E27FC236}">
                <a16:creationId xmlns:a16="http://schemas.microsoft.com/office/drawing/2014/main" id="{50547D28-8D39-4094-9D32-F750406A7B73}"/>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10</a:t>
            </a:r>
          </a:p>
        </p:txBody>
      </p:sp>
      <p:sp>
        <p:nvSpPr>
          <p:cNvPr id="5" name="">
            <a:extLst xmlns:a="http://schemas.openxmlformats.org/drawingml/2006/main">
              <a:ext uri="{FF2B5EF4-FFF2-40B4-BE49-F238E27FC236}">
                <a16:creationId xmlns:a16="http://schemas.microsoft.com/office/drawing/2014/main" id="{82C0AE45-F49C-4D42-8EC9-547EFE1B6AAF}"/>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buNone/>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
            </a:r>
          </a:p>
        </p:txBody>
      </p:sp>
      <p:sp>
        <p:nvSpPr>
          <p:cNvPr id="6" name="">
            <a:extLst xmlns:a="http://schemas.openxmlformats.org/drawingml/2006/main">
              <a:ext uri="{FF2B5EF4-FFF2-40B4-BE49-F238E27FC236}">
                <a16:creationId xmlns:a16="http://schemas.microsoft.com/office/drawing/2014/main" id="{7162F4E3-4941-4205-AE82-A024C8E6418F}"/>
              </a:ext>
            </a:extLst>
          </p:cNvPr>
          <p:cNvSpPr>
            <a:spLocks xmlns:a="http://schemas.openxmlformats.org/drawingml/2006/main" noGrp="1"/>
          </p:cNvSpPr>
          <p:nvPr/>
        </p:nvSpPr>
        <p:spPr>
          <a:xfrm xmlns:a="http://schemas.openxmlformats.org/drawingml/2006/main">
            <a:off x="609600" y="232410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연결한 흐름</a:t>
            </a:r>
          </a:p>
        </p:txBody>
      </p:sp>
      <p:sp>
        <p:nvSpPr>
          <p:cNvPr id="7" name="">
            <a:extLst xmlns:a="http://schemas.openxmlformats.org/drawingml/2006/main">
              <a:ext uri="{FF2B5EF4-FFF2-40B4-BE49-F238E27FC236}">
                <a16:creationId xmlns:a16="http://schemas.microsoft.com/office/drawing/2014/main" id="{568213EA-0733-426E-AD34-3B4CC5D31C7B}"/>
              </a:ext>
            </a:extLst>
          </p:cNvPr>
          <p:cNvSpPr>
            <a:spLocks xmlns:a="http://schemas.openxmlformats.org/drawingml/2006/main" noGrp="1"/>
          </p:cNvSpPr>
          <p:nvPr/>
        </p:nvSpPr>
        <p:spPr>
          <a:xfrm xmlns:a="http://schemas.openxmlformats.org/drawingml/2006/main">
            <a:off x="609600" y="3000375"/>
            <a:ext cx="5191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252B2C"/>
                </a:solidFill>
                <a:latin typeface="Pretendard"/>
                <a:ea typeface="Pretendard"/>
                <a:cs typeface="Pretendard"/>
              </a:defRPr>
            </a:defPPr>
          </a:lstStyle>
          <a:p xmlns:a="http://schemas.openxmlformats.org/drawingml/2006/main">
            <a:pPr>
              <a:buNone/>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예약 정리 → 질문 → 장소 탐색</a:t>
            </a:r>
          </a:p>
          <a:p xmlns:a="http://schemas.openxmlformats.org/drawingml/2006/main">
            <a:pPr>
              <a:buNone/>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 일정 생성·편집</a:t>
            </a:r>
          </a:p>
        </p:txBody>
      </p:sp>
      <p:sp>
        <p:nvSpPr>
          <p:cNvPr id="8" name="">
            <a:extLst xmlns:a="http://schemas.openxmlformats.org/drawingml/2006/main">
              <a:ext uri="{FF2B5EF4-FFF2-40B4-BE49-F238E27FC236}">
                <a16:creationId xmlns:a16="http://schemas.microsoft.com/office/drawing/2014/main" id="{EDF4AA79-1727-4042-86F9-45B1397E3A63}"/>
              </a:ext>
            </a:extLst>
          </p:cNvPr>
          <p:cNvSpPr>
            <a:spLocks xmlns:a="http://schemas.openxmlformats.org/drawingml/2006/main" noGrp="1"/>
          </p:cNvSpPr>
          <p:nvPr/>
        </p:nvSpPr>
        <p:spPr>
          <a:xfrm xmlns:a="http://schemas.openxmlformats.org/drawingml/2006/main">
            <a:off x="6619875" y="23241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아직 확인할 것</a:t>
            </a:r>
          </a:p>
        </p:txBody>
      </p:sp>
      <p:sp>
        <p:nvSpPr>
          <p:cNvPr id="9" name="">
            <a:extLst xmlns:a="http://schemas.openxmlformats.org/drawingml/2006/main">
              <a:ext uri="{FF2B5EF4-FFF2-40B4-BE49-F238E27FC236}">
                <a16:creationId xmlns:a16="http://schemas.microsoft.com/office/drawing/2014/main" id="{500D2C1E-0FE8-41DD-A740-0F899337CCC5}"/>
              </a:ext>
            </a:extLst>
          </p:cNvPr>
          <p:cNvSpPr>
            <a:spLocks xmlns:a="http://schemas.openxmlformats.org/drawingml/2006/main" noGrp="1"/>
          </p:cNvSpPr>
          <p:nvPr/>
        </p:nvSpPr>
        <p:spPr>
          <a:xfrm xmlns:a="http://schemas.openxmlformats.org/drawingml/2006/main">
            <a:off x="6619875" y="3000375"/>
            <a:ext cx="4857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252B2C"/>
                </a:solidFill>
                <a:latin typeface="Pretendard"/>
                <a:ea typeface="Pretendard"/>
                <a:cs typeface="Pretendard"/>
              </a:defRPr>
            </a:defPPr>
          </a:lstStyle>
          <a:p xmlns:a="http://schemas.openxmlformats.org/drawingml/2006/main">
            <a:pPr>
              <a:buNone/>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도시별 자료의 충분함</a:t>
            </a:r>
          </a:p>
          <a:p xmlns:a="http://schemas.openxmlformats.org/drawingml/2006/main">
            <a:pPr>
              <a:buNone/>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실제 사용자의 만족도</a:t>
            </a:r>
          </a:p>
        </p:txBody>
      </p:sp>
      <p:sp>
        <p:nvSpPr>
          <p:cNvPr id="10" name="">
            <a:extLst xmlns:a="http://schemas.openxmlformats.org/drawingml/2006/main">
              <a:ext uri="{FF2B5EF4-FFF2-40B4-BE49-F238E27FC236}">
                <a16:creationId xmlns:a16="http://schemas.microsoft.com/office/drawing/2014/main" id="{363EA3DA-3390-424A-BB61-6199AB979263}"/>
              </a:ext>
            </a:extLst>
          </p:cNvPr>
          <p:cNvSpPr>
            <a:spLocks xmlns:a="http://schemas.openxmlformats.org/drawingml/2006/main" noGrp="1"/>
          </p:cNvSpPr>
          <p:nvPr/>
        </p:nvSpPr>
        <p:spPr>
          <a:xfrm xmlns:a="http://schemas.openxmlformats.org/drawingml/2006/main">
            <a:off x="609600" y="449580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52B2C"/>
                </a:solidFill>
                <a:latin typeface="Pretendard"/>
                <a:ea typeface="Pretendard"/>
                <a:cs typeface="Pretendard"/>
              </a:defRPr>
            </a:defPPr>
          </a:lstStyle>
          <a:p xmlns:a="http://schemas.openxmlformats.org/drawingml/2006/main">
            <a:pPr>
              <a:buNone/>
              <a:defRPr sz="2700" b="1">
                <a:solidFill>
                  <a:srgbClr val="252B2C"/>
                </a:solidFill>
                <a:latin typeface="Pretendard"/>
                <a:ea typeface="Pretendard"/>
                <a:cs typeface="Pretendard"/>
              </a:defRPr>
            </a:pPr>
            <a:r>
              <a:rPr sz="2700" b="1">
                <a:solidFill>
                  <a:srgbClr val="252B2C"/>
                </a:solidFill>
                <a:latin typeface="Pretendard"/>
                <a:ea typeface="Pretendard"/>
                <a:cs typeface="Pretendard"/>
              </a:rPr>
              <a:t>다음 목표: 검색 대기와 불편한 입력 줄이기</a:t>
            </a:r>
          </a:p>
        </p:txBody>
      </p:sp>
      <p:sp>
        <p:nvSpPr>
          <p:cNvPr id="11" name="">
            <a:extLst xmlns:a="http://schemas.openxmlformats.org/drawingml/2006/main">
              <a:ext uri="{FF2B5EF4-FFF2-40B4-BE49-F238E27FC236}">
                <a16:creationId xmlns:a16="http://schemas.microsoft.com/office/drawing/2014/main" id="{4D067403-5087-46DE-9D3C-F0DFC10DEF50}"/>
              </a:ext>
            </a:extLst>
          </p:cNvPr>
          <p:cNvSpPr>
            <a:spLocks xmlns:a="http://schemas.openxmlformats.org/drawingml/2006/main" noGrp="1"/>
          </p:cNvSpPr>
          <p:nvPr/>
        </p:nvSpPr>
        <p:spPr>
          <a:xfrm xmlns:a="http://schemas.openxmlformats.org/drawingml/2006/main">
            <a:off x="609600" y="5229225"/>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25485A"/>
                </a:solidFill>
                <a:latin typeface="Pretendard"/>
                <a:ea typeface="Pretendard"/>
                <a:cs typeface="Pretendard"/>
              </a:defRPr>
            </a:defPPr>
          </a:lstStyle>
          <a:p xmlns:a="http://schemas.openxmlformats.org/drawingml/2006/main">
            <a:pPr>
              <a:buNone/>
              <a:defRPr sz="2100" b="0">
                <a:solidFill>
                  <a:srgbClr val="25485A"/>
                </a:solidFill>
                <a:latin typeface="Pretendard"/>
                <a:ea typeface="Pretendard"/>
                <a:cs typeface="Pretendard"/>
              </a:defRPr>
            </a:pPr>
            <a:r>
              <a:rPr sz="2100" b="0">
                <a:solidFill>
                  <a:srgbClr val="25485A"/>
                </a:solidFill>
                <a:latin typeface="Pretendard"/>
                <a:ea typeface="Pretendard"/>
                <a:cs typeface="Pretendard"/>
              </a:rPr>
              <a:t>AI의 답변뿐 아니라 근거와 실패 이후까지 설계했습니다.</a:t>
            </a:r>
          </a:p>
        </p:txBody>
      </p:sp>
      <p:sp>
        <p:nvSpPr>
          <p:cNvPr id="12" name="">
            <a:extLst xmlns:a="http://schemas.openxmlformats.org/drawingml/2006/main">
              <a:ext uri="{FF2B5EF4-FFF2-40B4-BE49-F238E27FC236}">
                <a16:creationId xmlns:a16="http://schemas.microsoft.com/office/drawing/2014/main" id="{D9CFF031-3450-4022-9F6E-F2E7BD41279A}"/>
              </a:ext>
            </a:extLst>
          </p:cNvPr>
          <p:cNvSpPr>
            <a:spLocks xmlns:a="http://schemas.openxmlformats.org/drawingml/2006/main" noGrp="1"/>
          </p:cNvSpPr>
          <p:nvPr/>
        </p:nvSpPr>
        <p:spPr>
          <a:xfrm xmlns:a="http://schemas.openxmlformats.org/drawingml/2006/main">
            <a:off x="609600" y="6057900"/>
            <a:ext cx="1071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606C70"/>
                </a:solidFill>
                <a:latin typeface="Pretendard"/>
                <a:ea typeface="Pretendard"/>
                <a:cs typeface="Pretendard"/>
              </a:defRPr>
            </a:defPPr>
          </a:lstStyle>
          <a:p xmlns:a="http://schemas.openxmlformats.org/drawingml/2006/main">
            <a:pPr>
              <a:buNone/>
              <a:defRPr sz="1500" b="0">
                <a:solidFill>
                  <a:srgbClr val="606C70"/>
                </a:solidFill>
                <a:latin typeface="Pretendard"/>
                <a:ea typeface="Pretendard"/>
                <a:cs typeface="Pretendard"/>
              </a:defRPr>
            </a:pPr>
            <a:r>
              <a:rPr sz="1500" b="0">
                <a:solidFill>
                  <a:srgbClr val="606C70"/>
                </a:solidFill>
                <a:latin typeface="Pretendard"/>
                <a:ea typeface="Pretendard"/>
                <a:cs typeface="Pretendard"/>
              </a:rPr>
              <a:t>기존 회귀 시험: Python 1,039 · JS 124 통과 / Python 15 skip · 2026-10-07</a:t>
            </a:r>
          </a:p>
        </p:txBody>
      </p:sp>
    </p:spTree>
    <p:extLst>
      <p:ext uri="{BB962C8B-B14F-4D97-AF65-F5344CB8AC3E}">
        <p14:creationId xmlns:p14="http://schemas.microsoft.com/office/powerpoint/2010/main" val="1020334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2026-10-07T03:56:30.4260000Z</dcterms:created>
  <dcterms:modified xsi:type="dcterms:W3CDTF">2026-10-07T03:56:30.4260000Z</dcterms:modified>
</coreProperties>
</file>