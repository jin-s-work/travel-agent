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6462cc5e7c4435" /><Relationship Type="http://schemas.openxmlformats.org/officeDocument/2006/relationships/extended-properties" Target="/docProps/app.xml" Id="R4c4fd1e3ad1f4283" /><Relationship Type="http://schemas.openxmlformats.org/officeDocument/2006/relationships/officeDocument" Target="/ppt/presentation.xml" Id="R1cb61f05c2fc42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e6556b388c4738"/>
  </p:sldMasterIdLst>
  <p:notesMasterIdLst>
    <p:notesMasterId xmlns:r="http://schemas.openxmlformats.org/officeDocument/2006/relationships" r:id="R4c5ce75d1dae42d9"/>
  </p:notesMasterIdLst>
  <p:sldIdLst>
    <p:sldId xmlns:r="http://schemas.openxmlformats.org/officeDocument/2006/relationships" id="256" r:id="R3330154420a24a3d"/>
    <p:sldId xmlns:r="http://schemas.openxmlformats.org/officeDocument/2006/relationships" id="257" r:id="Rba814a6841424972"/>
    <p:sldId xmlns:r="http://schemas.openxmlformats.org/officeDocument/2006/relationships" id="258" r:id="Re0d8f18d46724f40"/>
    <p:sldId xmlns:r="http://schemas.openxmlformats.org/officeDocument/2006/relationships" id="259" r:id="Rcd5c3b043c27454e"/>
    <p:sldId xmlns:r="http://schemas.openxmlformats.org/officeDocument/2006/relationships" id="260" r:id="Rbe50e3ffa9f24378"/>
    <p:sldId xmlns:r="http://schemas.openxmlformats.org/officeDocument/2006/relationships" id="261" r:id="Ra5c6c78d088b4141"/>
    <p:sldId xmlns:r="http://schemas.openxmlformats.org/officeDocument/2006/relationships" id="262" r:id="R3ea01a868c364dbc"/>
    <p:sldId xmlns:r="http://schemas.openxmlformats.org/officeDocument/2006/relationships" id="263" r:id="Rce99f3ad2b1a4fea"/>
    <p:sldId xmlns:r="http://schemas.openxmlformats.org/officeDocument/2006/relationships" id="264" r:id="Ra07ec12f513641ca"/>
    <p:sldId xmlns:r="http://schemas.openxmlformats.org/officeDocument/2006/relationships" id="265" r:id="Ra24fc868343748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bb2559444e4510" /><Relationship Type="http://schemas.openxmlformats.org/officeDocument/2006/relationships/slideMaster" Target="/ppt/slideMasters/slideMaster1.xml" Id="R80e6556b388c4738" /><Relationship Type="http://schemas.openxmlformats.org/officeDocument/2006/relationships/notesMaster" Target="/ppt/notesMasters/notesMaster1.xml" Id="R4c5ce75d1dae42d9" /><Relationship Type="http://schemas.openxmlformats.org/officeDocument/2006/relationships/presProps" Target="/ppt/presProps.xml" Id="R9df7cdb5902b4c5a" /><Relationship Type="http://schemas.openxmlformats.org/officeDocument/2006/relationships/tableStyles" Target="/ppt/tableStyles.xml" Id="R0d7ee631a65a438c" /><Relationship Type="http://schemas.openxmlformats.org/officeDocument/2006/relationships/slide" Target="/ppt/slides/slide1.xml" Id="R3330154420a24a3d" /><Relationship Type="http://schemas.openxmlformats.org/officeDocument/2006/relationships/slide" Target="/ppt/slides/slide2.xml" Id="Rba814a6841424972" /><Relationship Type="http://schemas.openxmlformats.org/officeDocument/2006/relationships/slide" Target="/ppt/slides/slide3.xml" Id="Re0d8f18d46724f40" /><Relationship Type="http://schemas.openxmlformats.org/officeDocument/2006/relationships/slide" Target="/ppt/slides/slide4.xml" Id="Rcd5c3b043c27454e" /><Relationship Type="http://schemas.openxmlformats.org/officeDocument/2006/relationships/slide" Target="/ppt/slides/slide5.xml" Id="Rbe50e3ffa9f24378" /><Relationship Type="http://schemas.openxmlformats.org/officeDocument/2006/relationships/slide" Target="/ppt/slides/slide6.xml" Id="Ra5c6c78d088b4141" /><Relationship Type="http://schemas.openxmlformats.org/officeDocument/2006/relationships/slide" Target="/ppt/slides/slide7.xml" Id="R3ea01a868c364dbc" /><Relationship Type="http://schemas.openxmlformats.org/officeDocument/2006/relationships/slide" Target="/ppt/slides/slide8.xml" Id="Rce99f3ad2b1a4fea" /><Relationship Type="http://schemas.openxmlformats.org/officeDocument/2006/relationships/slide" Target="/ppt/slides/slide9.xml" Id="Ra07ec12f513641ca" /><Relationship Type="http://schemas.openxmlformats.org/officeDocument/2006/relationships/slide" Target="/ppt/slides/slide10.xml" Id="Ra24fc868343748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b2747aaedc48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809ba763384bf8" /><Relationship Type="http://schemas.openxmlformats.org/officeDocument/2006/relationships/notesMaster" Target="/ppt/notesMasters/notesMaster1.xml" Id="R8d756bf0f9df46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d0a435342145bc" /><Relationship Type="http://schemas.openxmlformats.org/officeDocument/2006/relationships/notesMaster" Target="/ppt/notesMasters/notesMaster1.xml" Id="R81c80c35146643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2ba3460d394922" /><Relationship Type="http://schemas.openxmlformats.org/officeDocument/2006/relationships/notesMaster" Target="/ppt/notesMasters/notesMaster1.xml" Id="R4b7b4cc7addb4f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47688018fb420f" /><Relationship Type="http://schemas.openxmlformats.org/officeDocument/2006/relationships/notesMaster" Target="/ppt/notesMasters/notesMaster1.xml" Id="R1a0464f19eca4a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5d22fde5904444" /><Relationship Type="http://schemas.openxmlformats.org/officeDocument/2006/relationships/notesMaster" Target="/ppt/notesMasters/notesMaster1.xml" Id="R4fefe6c2560447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c01c571bac4063" /><Relationship Type="http://schemas.openxmlformats.org/officeDocument/2006/relationships/notesMaster" Target="/ppt/notesMasters/notesMaster1.xml" Id="R0a3af257794240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53cb777a4e42cf" /><Relationship Type="http://schemas.openxmlformats.org/officeDocument/2006/relationships/notesMaster" Target="/ppt/notesMasters/notesMaster1.xml" Id="Rf371f3f309564f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6b89d3ecc14cae" /><Relationship Type="http://schemas.openxmlformats.org/officeDocument/2006/relationships/notesMaster" Target="/ppt/notesMasters/notesMaster1.xml" Id="R0d3422a3082247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eb61128aa24ffe" /><Relationship Type="http://schemas.openxmlformats.org/officeDocument/2006/relationships/notesMaster" Target="/ppt/notesMasters/notesMaster1.xml" Id="Rec2c050e90a046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733dda78114e81" /><Relationship Type="http://schemas.openxmlformats.org/officeDocument/2006/relationships/notesMaster" Target="/ppt/notesMasters/notesMaster1.xml" Id="R04b93f9f02824b9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f840fe9384f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92c3a299544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d7596c8714b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df9cdf9d04e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b9b51f5f14c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1a6ef531d241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4E4114-B2A3-4067-A4E1-769163CAF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D8EC17-C825-4379-A852-73FC182AD7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FFF7CA-6C05-4311-AF46-0EF53F002F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FB140E-588C-4044-BD56-3E807960F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01E70C-1AA9-43AD-B499-AE795857F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97B3B1-3F6C-4B83-91FC-DB1B21AE18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314714-53B1-408C-ADBC-D6643F254C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4D8653-0983-4699-BDED-6B52101AEB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2CC6FE-944F-4122-8DE0-2A0641DA04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1FA363-3A55-4685-BCF5-AB267F442C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f1a238e75444bb" /><Relationship Type="http://schemas.openxmlformats.org/officeDocument/2006/relationships/slideLayout" Target="/ppt/slideLayouts/slideLayout1.xml" Id="Rc68f80a63b1846bd" /><Relationship Type="http://schemas.openxmlformats.org/officeDocument/2006/relationships/slideLayout" Target="/ppt/slideLayouts/slideLayout2.xml" Id="R72dce30f1ba4477f" /><Relationship Type="http://schemas.openxmlformats.org/officeDocument/2006/relationships/slideLayout" Target="/ppt/slideLayouts/slideLayout3.xml" Id="Rb086d47d842442d6" /><Relationship Type="http://schemas.openxmlformats.org/officeDocument/2006/relationships/slideLayout" Target="/ppt/slideLayouts/slideLayout4.xml" Id="R0639cded81b1476b" /><Relationship Type="http://schemas.openxmlformats.org/officeDocument/2006/relationships/slideLayout" Target="/ppt/slideLayouts/slideLayout5.xml" Id="Rd8fa5fc3f7584926" /><Relationship Type="http://schemas.openxmlformats.org/officeDocument/2006/relationships/slideLayout" Target="/ppt/slideLayouts/slideLayout6.xml" Id="R5aecf3b6af1843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8f80a63b1846bd"/>
    <p:sldLayoutId xmlns:r="http://schemas.openxmlformats.org/officeDocument/2006/relationships" id="2147483650" r:id="R72dce30f1ba4477f"/>
    <p:sldLayoutId xmlns:r="http://schemas.openxmlformats.org/officeDocument/2006/relationships" id="2147483651" r:id="Rb086d47d842442d6"/>
    <p:sldLayoutId xmlns:r="http://schemas.openxmlformats.org/officeDocument/2006/relationships" id="2147483652" r:id="R0639cded81b1476b"/>
    <p:sldLayoutId xmlns:r="http://schemas.openxmlformats.org/officeDocument/2006/relationships" id="2147483653" r:id="Rd8fa5fc3f7584926"/>
    <p:sldLayoutId xmlns:r="http://schemas.openxmlformats.org/officeDocument/2006/relationships" id="2147483654" r:id="R5aecf3b6af1843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4d3a810f54235" /><Relationship Type="http://schemas.openxmlformats.org/officeDocument/2006/relationships/image" Target="/ppt/media/image.png" Id="R64f80ed9daf6406a" /><Relationship Type="http://schemas.openxmlformats.org/officeDocument/2006/relationships/notesSlide" Target="/ppt/notesSlides/notesSlide1.xml" Id="R57538a5d2b2e46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07f65ee1374f80" /><Relationship Type="http://schemas.openxmlformats.org/officeDocument/2006/relationships/image" Target="/ppt/media/image2.png" Id="R213f6c6768194850" /><Relationship Type="http://schemas.openxmlformats.org/officeDocument/2006/relationships/notesSlide" Target="/ppt/notesSlides/notesSlide2.xml" Id="R03f725b5c0d34a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347a2a11a47f3" /><Relationship Type="http://schemas.openxmlformats.org/officeDocument/2006/relationships/image" Target="/ppt/media/image3.png" Id="R9c5611e82a934744" /><Relationship Type="http://schemas.openxmlformats.org/officeDocument/2006/relationships/notesSlide" Target="/ppt/notesSlides/notesSlide3.xml" Id="R2236a9f192f44d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55dc67492e41bc" /><Relationship Type="http://schemas.openxmlformats.org/officeDocument/2006/relationships/notesSlide" Target="/ppt/notesSlides/notesSlide4.xml" Id="Redc0303f28d342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8ed25acd424506" /><Relationship Type="http://schemas.openxmlformats.org/officeDocument/2006/relationships/image" Target="/ppt/media/image4.png" Id="R36a6939e099347d2" /><Relationship Type="http://schemas.openxmlformats.org/officeDocument/2006/relationships/notesSlide" Target="/ppt/notesSlides/notesSlide5.xml" Id="Rb28fc39109da46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068c1a47243d6" /><Relationship Type="http://schemas.openxmlformats.org/officeDocument/2006/relationships/notesSlide" Target="/ppt/notesSlides/notesSlide6.xml" Id="R47ec4edea0514f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ff4f80f3748b6" /><Relationship Type="http://schemas.openxmlformats.org/officeDocument/2006/relationships/image" Target="/ppt/media/image5.png" Id="R11726dc6cdee4d27" /><Relationship Type="http://schemas.openxmlformats.org/officeDocument/2006/relationships/notesSlide" Target="/ppt/notesSlides/notesSlide7.xml" Id="Rbd936d16837e40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694ece6374c73" /><Relationship Type="http://schemas.openxmlformats.org/officeDocument/2006/relationships/chart" Target="/ppt/slides/charts/chart1.xml" Id="R0d5fbfb639c24b5d" /><Relationship Type="http://schemas.openxmlformats.org/officeDocument/2006/relationships/notesSlide" Target="/ppt/notesSlides/notesSlide8.xml" Id="Re30e9cf1b69d4f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589cc7f0e406f" /><Relationship Type="http://schemas.openxmlformats.org/officeDocument/2006/relationships/notesSlide" Target="/ppt/notesSlides/notesSlide9.xml" Id="R312e7a3e057f41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74689e0484261" /><Relationship Type="http://schemas.openxmlformats.org/officeDocument/2006/relationships/notesSlide" Target="/ppt/notesSlides/notesSlide10.xml" Id="R09599a6114fc457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NDCG@3</c:v>
          </c:tx>
          <c:dPt>
            <c:idx val="0"/>
            <c:invertIfNegative val="0"/>
            <c:spPr>
              <a:solidFill>
                <a:srgbClr val="A5B3B7"/>
              </a:solidFill>
            </c:spPr>
          </c:dPt>
          <c:dPt>
            <c:idx val="1"/>
            <c:invertIfNegative val="0"/>
            <c:spPr>
              <a:solidFill>
                <a:srgbClr val="25485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이전 general_v3</c:v>
                </c:pt>
                <c:pt idx="1">
                  <c:v>현재 hybrid_v4</c:v>
                </c:pt>
              </c:strCache>
            </c:strRef>
          </c:cat>
          <c:val>
            <c:numRef>
              <c:f>'Chart Data'!$B$2:$B$3</c:f>
              <c:numCache>
                <c:formatCode>0.0000</c:formatCode>
                <c:ptCount val="2"/>
                <c:pt idx="0">
                  <c:v>0.4155</c:v>
                </c:pt>
                <c:pt idx="1">
                  <c:v>0.9954</c:v>
                </c:pt>
              </c:numCache>
            </c:numRef>
          </c:val>
        </c:ser>
        <c:dLbls>
          <c:numFmt formatCode="0.0000" sourceLinked="0"/>
          <c:txPr>
            <a:bodyPr anchorCtr="1"/>
            <a:lstStyle/>
            <a:p>
              <a:pPr>
                <a:defRPr sz="2025" b="1"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b"/>
        <c:majorGridlines>
          <c:spPr>
            <a:ln w="9525">
              <a:solidFill>
                <a:srgbClr val="DCE2DF"/>
              </a:solidFill>
            </a:ln>
          </c:spPr>
        </c:majorGridlines>
        <c:numFmt formatCode="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crossBetween val="between"/>
        <c:majorUnit val="0.2"/>
      </c:valAx>
      <c:spPr>
        <a:solidFill>
          <a:srgbClr val="FAF9F6"/>
        </a:solidFill>
      </c:spPr>
    </c:plotArea>
    <c:plotVisOnly val="1"/>
  </c:chart>
  <c:spPr>
    <a:solidFill>
      <a:srgbClr val="FAF9F6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548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D8425-247E-46DC-880E-89D4CE7E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8191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8850" b="1">
                <a:solidFill>
                  <a:srgbClr val="FFFFFF"/>
                </a:solidFill>
              </a:defRPr>
            </a:pPr>
            <a:r>
              <a:rPr sz="88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34A2F-0790-4E65-8437-CB30FA96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0">
                <a:solidFill>
                  <a:srgbClr val="E9EFEC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E9EFEC"/>
                </a:solidFill>
              </a:defRPr>
            </a:pPr>
            <a:r>
              <a:rPr sz="3150" b="0">
                <a:solidFill>
                  <a:srgbClr val="E9EFEC"/>
                </a:solidFill>
                <a:latin typeface="Pretendard"/>
                <a:ea typeface="Pretendard"/>
                <a:cs typeface="Pretendard"/>
              </a:rPr>
              <a:t>내 여행의 예약과 가고 싶은 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317A4-00D0-48D7-991D-C77ABB23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BFD4D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BFD4D3"/>
                </a:solidFill>
              </a:defRPr>
            </a:pPr>
            <a:r>
              <a:rPr sz="2100" b="0">
                <a:solidFill>
                  <a:srgbClr val="BFD4D3"/>
                </a:solidFill>
                <a:latin typeface="Pretendard"/>
                <a:ea typeface="Pretendard"/>
                <a:cs typeface="Pretendard"/>
              </a:rPr>
              <a:t>GOING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7D017-F3C7-4DD9-9869-CAEEED3C37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80ed9daf6406a"/>
          <a:stretch xmlns:a="http://schemas.openxmlformats.org/drawingml/2006/main"/>
        </p:blipFill>
        <p:spPr>
          <a:xfrm xmlns:a="http://schemas.openxmlformats.org/drawingml/2006/main">
            <a:off x="9334500" y="2190750"/>
            <a:ext cx="1714500" cy="1714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8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4896C-C7B6-4226-83A1-E5AD3BAF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5485A"/>
                </a:solidFill>
              </a:defRPr>
            </a:pPr>
            <a:r>
              <a:rPr sz="33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여행 하나를 중심으로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F20B4-5702-43F1-B36D-7528392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86970"/>
                </a:solidFill>
              </a:defRPr>
            </a:pPr>
            <a:r>
              <a:rPr sz="202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도시와 날짜를 입력하면 다음 화면에서도 이어서 사용합니다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4BD13-C65A-4368-8604-35724C2E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970"/>
                </a:solidFill>
              </a:defRPr>
            </a:pPr>
            <a:r>
              <a:rPr sz="1500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2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7CA5A-7B27-44C9-A6C8-3ACA04C5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5485A"/>
                </a:solidFill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여행 정보 한 번 입력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571B7-B041-4026-937B-8C31A64E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5485A"/>
                </a:solidFill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메일 없이도 시작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F88CF-E3FB-41BA-9599-2B834B6A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3810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86970"/>
                </a:solidFill>
              </a:defRPr>
            </a:pPr>
            <a:r>
              <a:rPr sz="217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필요할 때 숙소와</a:t>
            </a:r>
            <a:br>
              <a:rPr sz="217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</a:br>
            <a:r>
              <a:rPr sz="217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취향을 추가합니다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6B356-1615-44F0-AFBF-7A7DD15A7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f6c6768194850"/>
          <a:stretch xmlns:a="http://schemas.openxmlformats.org/drawingml/2006/main"/>
        </p:blipFill>
        <p:spPr>
          <a:xfrm xmlns:a="http://schemas.openxmlformats.org/drawingml/2006/main">
            <a:off x="4905375" y="2059753"/>
            <a:ext cx="6648450" cy="42053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22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67A52-3A57-46E1-B4CF-6AB53B4C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5485A"/>
                </a:solidFill>
              </a:defRPr>
            </a:pPr>
            <a:r>
              <a:rPr sz="33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예약 메일과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F449E-1531-4A8E-9146-73B29E4E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86970"/>
                </a:solidFill>
              </a:defRPr>
            </a:pPr>
            <a:r>
              <a:rPr sz="202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메일을 올리고, 필요한 정보를 물어봅니다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8853B-FB4A-4A50-AB6B-FCB3CFDC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970"/>
                </a:solidFill>
              </a:defRPr>
            </a:pPr>
            <a:r>
              <a:rPr sz="1500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3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50294-A816-4BC9-8A52-3EB26679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5485A"/>
                </a:solidFill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메일에서 예약 추출</a:t>
            </a:r>
            <a:b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</a:b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잘못 읽은 값은 수정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12C0F-E7D7-43A9-A4AA-832F8444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2C31"/>
                </a:solidFill>
              </a:defRPr>
            </a:pPr>
            <a:r>
              <a:rPr sz="232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“2일차 예약을</a:t>
            </a:r>
            <a:br>
              <a:rPr sz="232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</a:br>
            <a:r>
              <a:rPr sz="232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전부 알려줘”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C3D28-C7DC-46A8-8F8E-4AE32E27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6970"/>
                </a:solidFill>
              </a:defRPr>
            </a:pPr>
            <a:r>
              <a:rPr sz="1950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답변에서 원문 근거 확인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ECD7F-5278-4C3F-AD8B-02442B728F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611e82a934744"/>
          <a:stretch xmlns:a="http://schemas.openxmlformats.org/drawingml/2006/main"/>
        </p:blipFill>
        <p:spPr>
          <a:xfrm xmlns:a="http://schemas.openxmlformats.org/drawingml/2006/main">
            <a:off x="4602389" y="1933575"/>
            <a:ext cx="6625771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42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B0A62-4DE4-470C-9C60-A711C104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5485A"/>
                </a:solidFill>
              </a:defRPr>
            </a:pPr>
            <a:r>
              <a:rPr sz="33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현지어 리뷰와 유명한 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3F642-073E-4B79-9849-EC8589FC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86970"/>
                </a:solidFill>
              </a:defRPr>
            </a:pPr>
            <a:r>
              <a:rPr sz="202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여행에서 가고 싶은 곳을 두 방식으로 찾습니다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B6EFD-9114-44EA-B03E-96C722B1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970"/>
                </a:solidFill>
              </a:defRPr>
            </a:pPr>
            <a:r>
              <a:rPr sz="1500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4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3AE0F-4922-46F8-9273-FB79F9CD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3F706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3F706F"/>
                </a:solidFill>
              </a:defRPr>
            </a:pPr>
            <a:r>
              <a:rPr sz="2850" b="1">
                <a:solidFill>
                  <a:srgbClr val="3F706F"/>
                </a:solidFill>
                <a:latin typeface="Pretendard"/>
                <a:ea typeface="Pretendard"/>
                <a:cs typeface="Pretendard"/>
              </a:rPr>
              <a:t>현지어 리뷰로 찾기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E2302-3F66-48F2-B56D-8344EDAE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095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2C31"/>
                </a:solidFill>
              </a:defRPr>
            </a:pPr>
            <a:r>
              <a:rPr sz="232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현지어 많고 한국어 적은 곳</a:t>
            </a:r>
            <a:br>
              <a:rPr sz="232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</a:br>
            <a:r>
              <a:rPr sz="232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미판별 리뷰도 함께 계산</a:t>
            </a:r>
            <a:br>
              <a:rPr sz="232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</a:br>
            <a:r>
              <a:rPr sz="232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주민 비율로 단정하지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9B5A3-B1D7-4BBD-92F3-BEBFE8D6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516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5485A"/>
                </a:solidFill>
              </a:defRPr>
            </a:pPr>
            <a:r>
              <a: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유명한 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087A2-F8CE-45FD-AC07-0082A3F1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51625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2C31"/>
                </a:solidFill>
              </a:defRPr>
            </a:pPr>
            <a:r>
              <a:rPr sz="232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공식적으로 소개된 명소</a:t>
            </a:r>
            <a:br>
              <a:rPr sz="232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</a:br>
            <a:r>
              <a:rPr sz="232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같은 플랫폼의 평가 규모</a:t>
            </a:r>
            <a:br>
              <a:rPr sz="232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</a:br>
            <a:r>
              <a:rPr sz="232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편집 자료의 선정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6E29C-034B-4351-BE24-0CB91306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996D5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996D50"/>
                </a:solidFill>
              </a:defRPr>
            </a:pPr>
            <a:r>
              <a:rPr sz="1950" b="0">
                <a:solidFill>
                  <a:srgbClr val="996D50"/>
                </a:solidFill>
                <a:latin typeface="Pretendard"/>
                <a:ea typeface="Pretendard"/>
                <a:cs typeface="Pretendard"/>
              </a:rPr>
              <a:t>엄격한 현지어 추천은 실제 리뷰·언어 품질 검증 전 OFF</a:t>
            </a:r>
          </a:p>
        </p:txBody>
      </p:sp>
    </p:spTree>
    <p:extLst>
      <p:ext uri="{BB962C8B-B14F-4D97-AF65-F5344CB8AC3E}">
        <p14:creationId xmlns:p14="http://schemas.microsoft.com/office/powerpoint/2010/main" val="1599887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C4829-69D4-43F7-B0E9-86BC0F73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5485A"/>
                </a:solidFill>
              </a:defRPr>
            </a:pPr>
            <a:r>
              <a:rPr sz="33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살펴보고, 저장하고, 비교하기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36657-9FBA-481F-AB0B-C6D67DF7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86970"/>
                </a:solidFill>
              </a:defRPr>
            </a:pPr>
            <a:r>
              <a:rPr sz="202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사진뿐 아니라 방문 조건과 정보의 출처도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92081-8AF8-4979-93B1-A146BCC1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970"/>
                </a:solidFill>
              </a:defRPr>
            </a:pPr>
            <a:r>
              <a:rPr sz="1500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5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0265B-A2B8-45C6-B2A9-7230A8E6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04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5485A"/>
                </a:solidFill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사진과 추천 이유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5982A-DC11-4E4E-929D-FF2F8C1D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04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C31"/>
                </a:solidFill>
              </a:defRPr>
            </a:pPr>
            <a:r>
              <a:rPr sz="217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영업·예약·가격의 출처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2B675-A42F-4BA0-8E6A-8AC82FB6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048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C31"/>
                </a:solidFill>
              </a:defRPr>
            </a:pPr>
            <a:r>
              <a:rPr sz="217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저장하고 최대 3곳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E8488-D3A3-456F-9703-F6444BD2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4048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C31"/>
                </a:solidFill>
              </a:defRPr>
            </a:pPr>
            <a:r>
              <a:rPr sz="217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숙소 거리와 확인할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5E22B-6B5E-4D1D-902D-C3CA9ECE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81275"/>
            <a:ext cx="5143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500" b="1">
                <a:solidFill>
                  <a:srgbClr val="996D50"/>
                </a:solidFill>
              </a:defRPr>
            </a:defPPr>
          </a:lstStyle>
          <a:p xmlns:a="http://schemas.openxmlformats.org/drawingml/2006/main">
            <a:pPr>
              <a:buNone/>
              <a:defRPr sz="7500" b="1">
                <a:solidFill>
                  <a:srgbClr val="996D50"/>
                </a:solidFill>
              </a:defRPr>
            </a:pPr>
            <a:r>
              <a:rPr sz="7500" b="1">
                <a:solidFill>
                  <a:srgbClr val="996D5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408E9-CF6D-43C8-9D21-B851BB44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02C31"/>
                </a:solidFill>
              </a:defRPr>
            </a:pPr>
            <a: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FD1C1-0074-4268-B6CB-36C4A2E3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86970"/>
                </a:solidFill>
              </a:defRPr>
            </a:pPr>
            <a:r>
              <a:rPr sz="202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70353-51E9-4AE5-BC5E-AB89E75A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86970"/>
                </a:solidFill>
              </a:defRPr>
            </a:pPr>
            <a:r>
              <a:rPr sz="1800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D9E22-2D46-4599-ACE2-64825B963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6939e099347d2"/>
          <a:stretch xmlns:a="http://schemas.openxmlformats.org/drawingml/2006/main"/>
        </p:blipFill>
        <p:spPr>
          <a:xfrm xmlns:a="http://schemas.openxmlformats.org/drawingml/2006/main">
            <a:off x="5846085" y="1971675"/>
            <a:ext cx="4728930" cy="4105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67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C8B5B-67AF-473D-9955-513115FD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5485A"/>
                </a:solidFill>
              </a:defRPr>
            </a:pPr>
            <a:r>
              <a:rPr sz="33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추천 순위를 계산하는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433EF-9910-440A-919C-9EBB4D76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86970"/>
                </a:solidFill>
              </a:defRPr>
            </a:pPr>
            <a:r>
              <a:rPr sz="202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hybrid_v4 · 장소 정보와 여행 조건을 함께 사용하는 모델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11DC4-94CC-410C-B2BF-793D99E9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970"/>
                </a:solidFill>
              </a:defRPr>
            </a:pPr>
            <a:r>
              <a:rPr sz="1500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6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88187-5A9E-46EF-AA6C-E52985C9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5485A"/>
                </a:solidFill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취향 유사도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E75A5-88A6-4D0B-B078-FB9A66EC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52650"/>
            <a:ext cx="76485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C31"/>
                </a:solidFill>
              </a:defRPr>
            </a:pPr>
            <a:r>
              <a:rPr sz="217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취향·장소 태그의 TF-IDF 코사인 유사도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2B615-8FB7-4478-A07A-7D395137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5485A"/>
                </a:solidFill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보정 평점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3E8AC-EF58-41E9-A577-AA2A992B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90900"/>
            <a:ext cx="76485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C31"/>
                </a:solidFill>
              </a:defRPr>
            </a:pPr>
            <a:r>
              <a:rPr sz="217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평가가 적으면 같은 비교 집단의 평균으로 보정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E3F2E-B578-4120-8A88-265B8EF6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5485A"/>
                </a:solidFill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숙소와의 거리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49D60-94EB-4917-BC39-EF931E2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29150"/>
            <a:ext cx="76485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C31"/>
                </a:solidFill>
              </a:defRPr>
            </a:pPr>
            <a:r>
              <a:rPr sz="2175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위치가 확인된 출발점의 직선거리 반영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7EFC2-2306-4E7A-B72F-51E235C6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970"/>
                </a:solidFill>
              </a:defRPr>
            </a:pPr>
            <a:r>
              <a:rPr sz="1800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필수 조건을 먼저 검사 · 행동 학습 없음 · 초기 가중치는 검증 대상</a:t>
            </a:r>
          </a:p>
        </p:txBody>
      </p:sp>
    </p:spTree>
    <p:extLst>
      <p:ext uri="{BB962C8B-B14F-4D97-AF65-F5344CB8AC3E}">
        <p14:creationId xmlns:p14="http://schemas.microsoft.com/office/powerpoint/2010/main" val="18476051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0AEF1-A27C-4C71-93BC-950BF35D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5485A"/>
                </a:solidFill>
              </a:defRPr>
            </a:pPr>
            <a:r>
              <a:rPr sz="33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확정 예약을 지키는 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FA738-75FF-4CAE-BD79-85D9B013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86970"/>
                </a:solidFill>
              </a:defRPr>
            </a:pPr>
            <a:r>
              <a:rPr sz="202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변경 내용을 먼저 보고, 적용하거나 되돌립니다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C8F18-68F8-4C6D-AA56-7422B2BC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970"/>
                </a:solidFill>
              </a:defRPr>
            </a:pPr>
            <a:r>
              <a:rPr sz="1500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7 / 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AC3DF-1935-4E7B-841D-A762DD28E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26dc6cdee4d27"/>
          <a:stretch xmlns:a="http://schemas.openxmlformats.org/drawingml/2006/main"/>
        </p:blipFill>
        <p:spPr>
          <a:xfrm xmlns:a="http://schemas.openxmlformats.org/drawingml/2006/main">
            <a:off x="611831" y="2095500"/>
            <a:ext cx="7767938" cy="4038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3D4B7-B1D5-4FEB-8B5C-EDC11586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526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25485A"/>
                </a:solidFill>
              </a:defRPr>
            </a:pPr>
            <a:r>
              <a:rPr sz="22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빈 시간 120분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FA1CA-6B93-4CD5-BCBC-1F067269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02C31"/>
                </a:solidFill>
              </a:defRPr>
            </a:pPr>
            <a: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체류 90분</a:t>
            </a:r>
            <a:b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양쪽 이동 60분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E52D7-4F50-4DED-A48C-DB5A5060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24375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996D50"/>
                </a:solidFill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996D50"/>
                </a:solidFill>
              </a:defRPr>
            </a:pPr>
            <a:r>
              <a:rPr sz="2325" b="1">
                <a:solidFill>
                  <a:srgbClr val="996D50"/>
                </a:solidFill>
                <a:latin typeface="Pretendard"/>
                <a:ea typeface="Pretendard"/>
                <a:cs typeface="Pretendard"/>
              </a:rPr>
              <a:t>총 150분</a:t>
            </a:r>
            <a:br>
              <a:rPr sz="2325" b="1">
                <a:solidFill>
                  <a:srgbClr val="996D50"/>
                </a:solidFill>
                <a:latin typeface="Pretendard"/>
                <a:ea typeface="Pretendard"/>
                <a:cs typeface="Pretendard"/>
              </a:rPr>
            </a:br>
            <a:r>
              <a:rPr sz="2325" b="1">
                <a:solidFill>
                  <a:srgbClr val="996D50"/>
                </a:solidFill>
                <a:latin typeface="Pretendard"/>
                <a:ea typeface="Pretendard"/>
                <a:cs typeface="Pretendard"/>
              </a:rPr>
              <a:t>배치할 수 없음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E059A-01D9-4E4E-AFA4-646BCC6E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970"/>
                </a:solidFill>
              </a:defRPr>
            </a:pPr>
            <a:r>
              <a:rPr sz="172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고정 예약은 유지 · 변경 미리보기 → 적용 → 되돌리기</a:t>
            </a:r>
          </a:p>
        </p:txBody>
      </p:sp>
    </p:spTree>
    <p:extLst>
      <p:ext uri="{BB962C8B-B14F-4D97-AF65-F5344CB8AC3E}">
        <p14:creationId xmlns:p14="http://schemas.microsoft.com/office/powerpoint/2010/main" val="1728296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6917F-8FAF-4E91-B1E2-9A3184EA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5485A"/>
                </a:solidFill>
              </a:defRPr>
            </a:pPr>
            <a:r>
              <a:rPr sz="33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이전 모델과 비교한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52032-98B3-4619-B467-BD807E3A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86970"/>
                </a:solidFill>
              </a:defRPr>
            </a:pPr>
            <a:r>
              <a:rPr sz="202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동일한 조건과 후보 · 합성 개발 시나리오 12개 · 상위 3개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D3166-6A7E-435B-8FE3-7592600C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970"/>
                </a:solidFill>
              </a:defRPr>
            </a:pPr>
            <a:r>
              <a:rPr sz="1500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8 / 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65BD5E0-AE03-4D30-B112-216B1951EA06}"/>
              </a:ext>
            </a:extLst>
          </p:cNvPr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7305675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5fbfb639c24b5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6803A-8471-4533-84AD-22D80813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1457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5485A"/>
                </a:solidFill>
              </a:defRPr>
            </a:pPr>
            <a:r>
              <a:rPr sz="30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NDCG@3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CF012-4710-41F9-98A2-491DD5D9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315277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C31"/>
                </a:solidFill>
              </a:defRPr>
            </a:pPr>
            <a: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적합한 후보가</a:t>
            </a:r>
            <a:b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앞에 오는 정도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C37C8-C07D-4D77-B871-84A8105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996D5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96D50"/>
                </a:solidFill>
              </a:defRPr>
            </a:pPr>
            <a:r>
              <a:rPr sz="1875" b="0">
                <a:solidFill>
                  <a:srgbClr val="996D50"/>
                </a:solidFill>
                <a:latin typeface="Pretendard"/>
                <a:ea typeface="Pretendard"/>
                <a:cs typeface="Pretendard"/>
              </a:rPr>
              <a:t>합성 개발 평가 · 독립 평가 0개 · 실제 사용자 정확도·만족도 미측정</a:t>
            </a:r>
          </a:p>
        </p:txBody>
      </p:sp>
    </p:spTree>
    <p:extLst>
      <p:ext uri="{BB962C8B-B14F-4D97-AF65-F5344CB8AC3E}">
        <p14:creationId xmlns:p14="http://schemas.microsoft.com/office/powerpoint/2010/main" val="9763211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ADCEC-D860-43E6-B1BE-26B06E61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5485A"/>
                </a:solidFill>
              </a:defRPr>
            </a:pPr>
            <a:r>
              <a:rPr sz="33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여행 전과 여행 중에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7DB3B-A582-4B82-B5F0-84990745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86970"/>
                </a:solidFill>
              </a:defRPr>
            </a:pPr>
            <a:r>
              <a:rPr sz="202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장소를 고른 다음의 준비도 같은 여행 안에서 이어갑니다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C7FC6-D4CD-4578-8434-F7BA4A2A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970"/>
                </a:solidFill>
              </a:defRPr>
            </a:pPr>
            <a:r>
              <a:rPr sz="1500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9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7D447-4F4E-4B25-87C7-C9E6B08C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501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25485A"/>
                </a:solidFill>
              </a:defRPr>
            </a:pPr>
            <a:r>
              <a:rPr sz="27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여행 준비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4FD0B-9D72-45CE-B20C-A199AFC0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5095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C31"/>
                </a:solidFill>
              </a:defRPr>
            </a:pPr>
            <a: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예약 오픈일과 할 일</a:t>
            </a:r>
            <a:b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캘린더 ICS · 문의문 초안</a:t>
            </a:r>
            <a:b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통화별 예상 지출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514FB-B89D-4408-9D47-A5E9852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62175"/>
            <a:ext cx="516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 b="1">
                <a:solidFill>
                  <a:srgbClr val="3F706F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3F706F"/>
                </a:solidFill>
              </a:defRPr>
            </a:pPr>
            <a:r>
              <a:rPr sz="2775" b="1">
                <a:solidFill>
                  <a:srgbClr val="3F706F"/>
                </a:solidFill>
                <a:latin typeface="Pretendard"/>
                <a:ea typeface="Pretendard"/>
                <a:cs typeface="Pretendard"/>
              </a:rPr>
              <a:t>여행 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AAE3D-D49E-4500-9D8E-6604971A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33725"/>
            <a:ext cx="51625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C31"/>
                </a:solidFill>
              </a:defRPr>
            </a:pPr>
            <a: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비·휴무·피로에 따른 Plan B</a:t>
            </a:r>
            <a:b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현지 날짜 기준 오늘 보기</a:t>
            </a:r>
            <a:b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선택한 여행의 오프라인 읽기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A6945-9634-48D7-B8A3-3EC0978A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34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970"/>
                </a:solidFill>
              </a:defRPr>
            </a:pPr>
            <a:r>
              <a:rPr sz="187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자동 예약·결제·메시지 발송 없음 · 오프라인 기기별 검증은 별도</a:t>
            </a:r>
          </a:p>
        </p:txBody>
      </p:sp>
    </p:spTree>
    <p:extLst>
      <p:ext uri="{BB962C8B-B14F-4D97-AF65-F5344CB8AC3E}">
        <p14:creationId xmlns:p14="http://schemas.microsoft.com/office/powerpoint/2010/main" val="8131296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A8A05-6BA9-4393-A607-B5C23B59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5485A"/>
                </a:solidFill>
              </a:defRPr>
            </a:pPr>
            <a:r>
              <a:rPr sz="33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앞으로의 개발 방향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BE623-10EB-4634-9C37-CC5A65D6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86970"/>
                </a:solidFill>
              </a:defRPr>
            </a:pPr>
            <a:r>
              <a:rPr sz="2025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실제 자료와 사용 경험으로 추천을 검증하려고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F42B1-3BD8-4E17-848A-D9A94946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8697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970"/>
                </a:solidFill>
              </a:defRPr>
            </a:pPr>
            <a:r>
              <a:rPr sz="1500" b="0">
                <a:solidFill>
                  <a:srgbClr val="586970"/>
                </a:solidFill>
                <a:latin typeface="Pretendard"/>
                <a:ea typeface="Pretendard"/>
                <a:cs typeface="Pretendard"/>
              </a:rPr>
              <a:t>10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84060-A78A-436B-B0E1-B10FBCDC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59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25485A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5485A"/>
                </a:solidFill>
              </a:defRPr>
            </a:pPr>
            <a:r>
              <a:rPr sz="29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실제 리뷰와 언어 품질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A7902-96F9-4C17-B4CB-2624BA08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6203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202C31"/>
                </a:solidFill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C31"/>
                </a:solidFill>
              </a:defRPr>
            </a:pPr>
            <a:r>
              <a:rPr sz="240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순위를 숨긴 독립 평가 · 충분한 자료 이후 개인화</a:t>
            </a:r>
            <a:br>
              <a:rPr sz="240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</a:br>
            <a:r>
              <a:rPr sz="2400" b="0">
                <a:solidFill>
                  <a:srgbClr val="202C31"/>
                </a:solidFill>
                <a:latin typeface="Pretendard"/>
                <a:ea typeface="Pretendard"/>
                <a:cs typeface="Pretendard"/>
              </a:rPr>
              <a:t>도시별 정보 보강 · 모바일과 오프라인 현장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A7EF5-4358-4DDB-B0F6-15F3AFB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952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3F706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F706F"/>
                </a:solidFill>
              </a:defRPr>
            </a:pPr>
            <a:r>
              <a:rPr sz="1875" b="0">
                <a:solidFill>
                  <a:srgbClr val="3F706F"/>
                </a:solidFill>
                <a:latin typeface="Pretendard"/>
                <a:ea typeface="Pretendard"/>
                <a:cs typeface="Pretendard"/>
              </a:rPr>
              <a:t>github.com/Jin-s-work/Travel-Agent</a:t>
            </a:r>
          </a:p>
        </p:txBody>
      </p:sp>
    </p:spTree>
    <p:extLst>
      <p:ext uri="{BB962C8B-B14F-4D97-AF65-F5344CB8AC3E}">
        <p14:creationId xmlns:p14="http://schemas.microsoft.com/office/powerpoint/2010/main" val="1243975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2026-10-08T01:46:11.9280000Z</dcterms:created>
  <dcterms:modified xsi:type="dcterms:W3CDTF">2026-10-08T01:46:11.9280000Z</dcterms:modified>
</coreProperties>
</file>