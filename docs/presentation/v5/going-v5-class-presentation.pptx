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c6462cc5e7c4435" /><Relationship Type="http://schemas.openxmlformats.org/officeDocument/2006/relationships/extended-properties" Target="/docProps/app.xml" Id="R4c4fd1e3ad1f4283" /><Relationship Type="http://schemas.openxmlformats.org/officeDocument/2006/relationships/officeDocument" Target="/ppt/presentation.xml" Id="R1cb61f05c2fc429d" /></Relationships>
</file>

<file path=ppt/presentation.xml><?xml version="1.0" encoding="utf-8"?>
<p:presentation xmlns:p="http://schemas.openxmlformats.org/presentationml/2006/main">
  <p:sldMasterIdLst>
    <p:sldMasterId xmlns:r="http://schemas.openxmlformats.org/officeDocument/2006/relationships" id="2147483648" r:id="R80e6556b388c4738"/>
  </p:sldMasterIdLst>
  <p:notesMasterIdLst>
    <p:notesMasterId xmlns:r="http://schemas.openxmlformats.org/officeDocument/2006/relationships" r:id="R4c5ce75d1dae42d9"/>
  </p:notesMasterIdLst>
  <p:sldIdLst>
    <p:sldId xmlns:r="http://schemas.openxmlformats.org/officeDocument/2006/relationships" id="256" r:id="R3330154420a24a3d"/>
    <p:sldId xmlns:r="http://schemas.openxmlformats.org/officeDocument/2006/relationships" id="257" r:id="Rba814a6841424972"/>
    <p:sldId xmlns:r="http://schemas.openxmlformats.org/officeDocument/2006/relationships" id="258" r:id="Re0d8f18d46724f40"/>
    <p:sldId xmlns:r="http://schemas.openxmlformats.org/officeDocument/2006/relationships" id="259" r:id="Rcd5c3b043c27454e"/>
    <p:sldId xmlns:r="http://schemas.openxmlformats.org/officeDocument/2006/relationships" id="260" r:id="Rbe50e3ffa9f24378"/>
    <p:sldId xmlns:r="http://schemas.openxmlformats.org/officeDocument/2006/relationships" id="261" r:id="Ra5c6c78d088b4141"/>
    <p:sldId xmlns:r="http://schemas.openxmlformats.org/officeDocument/2006/relationships" id="262" r:id="R3ea01a868c364dbc"/>
    <p:sldId xmlns:r="http://schemas.openxmlformats.org/officeDocument/2006/relationships" id="263" r:id="Rce99f3ad2b1a4fea"/>
    <p:sldId xmlns:r="http://schemas.openxmlformats.org/officeDocument/2006/relationships" id="264" r:id="Ra07ec12f513641ca"/>
    <p:sldId xmlns:r="http://schemas.openxmlformats.org/officeDocument/2006/relationships" id="265" r:id="Ra24fc8683437486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4bb2559444e4510" /><Relationship Type="http://schemas.openxmlformats.org/officeDocument/2006/relationships/slideMaster" Target="/ppt/slideMasters/slideMaster1.xml" Id="R80e6556b388c4738" /><Relationship Type="http://schemas.openxmlformats.org/officeDocument/2006/relationships/notesMaster" Target="/ppt/notesMasters/notesMaster1.xml" Id="R4c5ce75d1dae42d9" /><Relationship Type="http://schemas.openxmlformats.org/officeDocument/2006/relationships/presProps" Target="/ppt/presProps.xml" Id="R9df7cdb5902b4c5a" /><Relationship Type="http://schemas.openxmlformats.org/officeDocument/2006/relationships/tableStyles" Target="/ppt/tableStyles.xml" Id="R0d7ee631a65a438c" /><Relationship Type="http://schemas.openxmlformats.org/officeDocument/2006/relationships/slide" Target="/ppt/slides/slide1.xml" Id="R3330154420a24a3d" /><Relationship Type="http://schemas.openxmlformats.org/officeDocument/2006/relationships/slide" Target="/ppt/slides/slide2.xml" Id="Rba814a6841424972" /><Relationship Type="http://schemas.openxmlformats.org/officeDocument/2006/relationships/slide" Target="/ppt/slides/slide3.xml" Id="Re0d8f18d46724f40" /><Relationship Type="http://schemas.openxmlformats.org/officeDocument/2006/relationships/slide" Target="/ppt/slides/slide4.xml" Id="Rcd5c3b043c27454e" /><Relationship Type="http://schemas.openxmlformats.org/officeDocument/2006/relationships/slide" Target="/ppt/slides/slide5.xml" Id="Rbe50e3ffa9f24378" /><Relationship Type="http://schemas.openxmlformats.org/officeDocument/2006/relationships/slide" Target="/ppt/slides/slide6.xml" Id="Ra5c6c78d088b4141" /><Relationship Type="http://schemas.openxmlformats.org/officeDocument/2006/relationships/slide" Target="/ppt/slides/slide7.xml" Id="R3ea01a868c364dbc" /><Relationship Type="http://schemas.openxmlformats.org/officeDocument/2006/relationships/slide" Target="/ppt/slides/slide8.xml" Id="Rce99f3ad2b1a4fea" /><Relationship Type="http://schemas.openxmlformats.org/officeDocument/2006/relationships/slide" Target="/ppt/slides/slide9.xml" Id="Ra07ec12f513641ca" /><Relationship Type="http://schemas.openxmlformats.org/officeDocument/2006/relationships/slide" Target="/ppt/slides/slide10.xml" Id="Ra24fc868343748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9b2747aaedc48a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1809ba763384bf8" /><Relationship Type="http://schemas.openxmlformats.org/officeDocument/2006/relationships/notesMaster" Target="/ppt/notesMasters/notesMaster1.xml" Id="R8d756bf0f9df46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3d0a435342145bc" /><Relationship Type="http://schemas.openxmlformats.org/officeDocument/2006/relationships/notesMaster" Target="/ppt/notesMasters/notesMaster1.xml" Id="R81c80c35146643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2ba3460d394922" /><Relationship Type="http://schemas.openxmlformats.org/officeDocument/2006/relationships/notesMaster" Target="/ppt/notesMasters/notesMaster1.xml" Id="R4b7b4cc7addb4f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47688018fb420f" /><Relationship Type="http://schemas.openxmlformats.org/officeDocument/2006/relationships/notesMaster" Target="/ppt/notesMasters/notesMaster1.xml" Id="R1a0464f19eca4ae3" /></Relationships>
</file>

<file path=ppt/notesSlides/_rels/notesSlide5.xml.rels>&#65279;<?xml version="1.0" encoding="utf-8"?><Relationships xmlns="http://schemas.openxmlformats.org/package/2006/relationships"><Relationship Type="http://schemas.openxmlformats.org/officeDocument/2006/relationships/slide" Target="/ppt/slides/slide5.xml" Id="R4f5d22fde5904444" /><Relationship Type="http://schemas.openxmlformats.org/officeDocument/2006/relationships/notesMaster" Target="/ppt/notesMasters/notesMaster1.xml" Id="R4fefe6c25604479b" /></Relationships>
</file>

<file path=ppt/notesSlides/_rels/notesSlide6.xml.rels>&#65279;<?xml version="1.0" encoding="utf-8"?><Relationships xmlns="http://schemas.openxmlformats.org/package/2006/relationships"><Relationship Type="http://schemas.openxmlformats.org/officeDocument/2006/relationships/slide" Target="/ppt/slides/slide6.xml" Id="R4dc01c571bac4063" /><Relationship Type="http://schemas.openxmlformats.org/officeDocument/2006/relationships/notesMaster" Target="/ppt/notesMasters/notesMaster1.xml" Id="R0a3af25779424041" /></Relationships>
</file>

<file path=ppt/notesSlides/_rels/notesSlide7.xml.rels>&#65279;<?xml version="1.0" encoding="utf-8"?><Relationships xmlns="http://schemas.openxmlformats.org/package/2006/relationships"><Relationship Type="http://schemas.openxmlformats.org/officeDocument/2006/relationships/slide" Target="/ppt/slides/slide7.xml" Id="Rae53cb777a4e42cf" /><Relationship Type="http://schemas.openxmlformats.org/officeDocument/2006/relationships/notesMaster" Target="/ppt/notesMasters/notesMaster1.xml" Id="Rf371f3f309564ff7" /></Relationships>
</file>

<file path=ppt/notesSlides/_rels/notesSlide8.xml.rels>&#65279;<?xml version="1.0" encoding="utf-8"?><Relationships xmlns="http://schemas.openxmlformats.org/package/2006/relationships"><Relationship Type="http://schemas.openxmlformats.org/officeDocument/2006/relationships/slide" Target="/ppt/slides/slide8.xml" Id="R206b89d3ecc14cae" /><Relationship Type="http://schemas.openxmlformats.org/officeDocument/2006/relationships/notesMaster" Target="/ppt/notesMasters/notesMaster1.xml" Id="R0d3422a3082247dd" /></Relationships>
</file>

<file path=ppt/notesSlides/_rels/notesSlide9.xml.rels>&#65279;<?xml version="1.0" encoding="utf-8"?><Relationships xmlns="http://schemas.openxmlformats.org/package/2006/relationships"><Relationship Type="http://schemas.openxmlformats.org/officeDocument/2006/relationships/slide" Target="/ppt/slides/slide9.xml" Id="R79eb61128aa24ffe" /><Relationship Type="http://schemas.openxmlformats.org/officeDocument/2006/relationships/notesMaster" Target="/ppt/notesMasters/notesMaster1.xml" Id="Rec2c050e90a046c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c733dda78114e81" /><Relationship Type="http://schemas.openxmlformats.org/officeDocument/2006/relationships/notesMaster" Target="/ppt/notesMasters/notesMaster1.xml" Id="R04b93f9f02824b9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45초]</a:t>
            </a:r>
          </a:p>
          <a:p xmlns:a="http://schemas.openxmlformats.org/drawingml/2006/main">
            <a:r>
              <a:t/>
            </a:r>
          </a:p>
          <a:p xmlns:a="http://schemas.openxmlformats.org/drawingml/2006/main">
            <a:r>
              <a:t>안녕하세요. 제가 만든 여행 서비스 고잉을 소개하겠습니다.</a:t>
            </a:r>
          </a:p>
          <a:p xmlns:a="http://schemas.openxmlformats.org/drawingml/2006/main">
            <a:r>
              <a:t/>
            </a:r>
          </a:p>
          <a:p xmlns:a="http://schemas.openxmlformats.org/drawingml/2006/main">
            <a:r>
              <a:t>저는 여행하는 것도 좋아하고, 새로운 음식점을 찾아다니는 것도 좋아합니다. 그런데 여행을 갈 때마다 어디를 가야 할지 다시 검색하고, 리뷰를 읽고, 숙소에서 얼마나 먼지 비교하는 게 생각보다 번거로웠습니다. 예약을 해 놓고도 시간이 기억나지 않아서 메일함을 다시 찾는 일도 있었고요.</a:t>
            </a:r>
          </a:p>
          <a:p xmlns:a="http://schemas.openxmlformats.org/drawingml/2006/main">
            <a:r>
              <a:t/>
            </a:r>
          </a:p>
          <a:p xmlns:a="http://schemas.openxmlformats.org/drawingml/2006/main">
            <a:r>
              <a:t>그래서 제가 여행을 준비할 때 직접 쓰고 싶은 서비스를 만들어 봤습니다. 예약 메일을 정리하는 기능에서 시작해서, 지금은 식당을 찾고 일정에 넣는 과정까지 연결했습니다. 오늘은 어떤 기능이 있는지 먼저 보여드리고, 추천은 어떻게 계산하는지 설명드리겠습니다.</a:t>
            </a:r>
          </a:p>
          <a:p xmlns:a="http://schemas.openxmlformats.org/drawingml/2006/main">
            <a:r>
              <a:t/>
            </a:r>
          </a:p>
          <a:p xmlns:a="http://schemas.openxmlformats.org/drawingml/2006/main">
            <a:r>
              <a:t>화면 안내: 제목과 여행 가방 로고를 보여주고, 만든 계기부터 이야기합니다.</a:t>
            </a:r>
          </a:p>
          <a:p xmlns:a="http://schemas.openxmlformats.org/drawingml/2006/main">
            <a:r>
              <a:t/>
            </a:r>
          </a:p>
          <a:p xmlns:a="http://schemas.openxmlformats.org/drawingml/2006/main">
            <a:r>
              <a:t>낭독하지 않음</a:t>
            </a:r>
          </a:p>
          <a:p xmlns:a="http://schemas.openxmlformats.org/drawingml/2006/main">
            <a:r>
              <a:t>코드·기능: https://github.com/Jin-s-work/Travel-Agent</a:t>
            </a:r>
          </a:p>
          <a:p xmlns:a="http://schemas.openxmlformats.org/drawingml/2006/main">
            <a:r>
              <a:t>모델과 수식: docs/service-v4/RECOMMENDATION_MODEL.md</a:t>
            </a:r>
          </a:p>
          <a:p xmlns:a="http://schemas.openxmlformats.org/drawingml/2006/main">
            <a:r>
              <a:t>합성 개발 평가: docs/service-v4/reports/hybrid-v4-benchmark.md (실제 정확도·만족도 미측정)</a:t>
            </a:r>
          </a:p>
          <a:p xmlns:a="http://schemas.openxmlformats.org/drawingml/2006/main">
            <a:r>
              <a:t>화면·사진: docs/presentation/CREDITS.md (2026-10-07 기존 합성 계정 화면). 엄격 언어 추천은 실제 품질 검증 전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40초]</a:t>
            </a:r>
          </a:p>
          <a:p xmlns:a="http://schemas.openxmlformats.org/drawingml/2006/main">
            <a:r>
              <a:t/>
            </a:r>
          </a:p>
          <a:p xmlns:a="http://schemas.openxmlformats.org/drawingml/2006/main">
            <a:r>
              <a:t>먼저 여행을 하나 만듭니다. 도시와 날짜를 정해 두면 메일을 올리거나 장소를 찾을 때 같은 내용을 계속 입력하지 않아도 됩니다. 숙소나 음식 취향처럼 추가로 필요한 정보는 나중에 넣을 수 있습니다.</a:t>
            </a:r>
          </a:p>
          <a:p xmlns:a="http://schemas.openxmlformats.org/drawingml/2006/main">
            <a:r>
              <a:t/>
            </a:r>
          </a:p>
          <a:p xmlns:a="http://schemas.openxmlformats.org/drawingml/2006/main">
            <a:r>
              <a:t>홈에서는 지금 어떤 여행을 보고 있는지, 예약은 어떻게 정리돼 있는지 확인할 수 있습니다. 메일을 먼저 올려도 되고, 아직 예약한 게 없으면 장소부터 찾아도 됩니다. 처음부터 모든 칸을 채워야 하는 방식은 피하려고 했습니다.</a:t>
            </a:r>
          </a:p>
          <a:p xmlns:a="http://schemas.openxmlformats.org/drawingml/2006/main">
            <a:r>
              <a:t/>
            </a:r>
          </a:p>
          <a:p xmlns:a="http://schemas.openxmlformats.org/drawingml/2006/main">
            <a:r>
              <a:t>지금 보여드리는 화면은 가상 예약을 넣어 둔 예시입니다. 실제 개인 메일이 화면에 나오지는 않습니다.</a:t>
            </a:r>
          </a:p>
          <a:p xmlns:a="http://schemas.openxmlformats.org/drawingml/2006/main">
            <a:r>
              <a:t/>
            </a:r>
          </a:p>
          <a:p xmlns:a="http://schemas.openxmlformats.org/drawingml/2006/main">
            <a:r>
              <a:t>화면 안내: 홈 화면의 여행 기간과 주요 진입점을 차례로 가리킵니다.</a:t>
            </a:r>
          </a:p>
          <a:p xmlns:a="http://schemas.openxmlformats.org/drawingml/2006/main">
            <a:r>
              <a:t/>
            </a:r>
          </a:p>
          <a:p xmlns:a="http://schemas.openxmlformats.org/drawingml/2006/main">
            <a:r>
              <a:t>낭독하지 않음</a:t>
            </a:r>
          </a:p>
          <a:p xmlns:a="http://schemas.openxmlformats.org/drawingml/2006/main">
            <a:r>
              <a:t>코드·기능: https://github.com/Jin-s-work/Travel-Agent</a:t>
            </a:r>
          </a:p>
          <a:p xmlns:a="http://schemas.openxmlformats.org/drawingml/2006/main">
            <a:r>
              <a:t>모델과 수식: docs/service-v4/RECOMMENDATION_MODEL.md</a:t>
            </a:r>
          </a:p>
          <a:p xmlns:a="http://schemas.openxmlformats.org/drawingml/2006/main">
            <a:r>
              <a:t>합성 개발 평가: docs/service-v4/reports/hybrid-v4-benchmark.md (실제 정확도·만족도 미측정)</a:t>
            </a:r>
          </a:p>
          <a:p xmlns:a="http://schemas.openxmlformats.org/drawingml/2006/main">
            <a:r>
              <a:t>화면·사진: docs/presentation/CREDITS.md (2026-10-07 기존 합성 계정 화면). 엄격 언어 추천은 실제 품질 검증 전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60초]</a:t>
            </a:r>
          </a:p>
          <a:p xmlns:a="http://schemas.openxmlformats.org/drawingml/2006/main">
            <a:r>
              <a:t/>
            </a:r>
          </a:p>
          <a:p xmlns:a="http://schemas.openxmlformats.org/drawingml/2006/main">
            <a:r>
              <a:t>항공권이나 숙소 확인 메일을 올리면 날짜, 시간, 장소를 예약으로 정리합니다. 한 메일에 예약이 여러 개 있거나 왕복 항공편이 들어 있어도 나눠서 보관합니다. AI가 잘못 읽은 부분은 제가 직접 수정할 수 있고, 수정한 값은 다시 분석하더라도 따로 유지합니다.</a:t>
            </a:r>
          </a:p>
          <a:p xmlns:a="http://schemas.openxmlformats.org/drawingml/2006/main">
            <a:r>
              <a:t/>
            </a:r>
          </a:p>
          <a:p xmlns:a="http://schemas.openxmlformats.org/drawingml/2006/main">
            <a:r>
              <a:t>메일 분석에는 OpenAI의 gpt-5-mini를 사용하고, 본문 검색에는 text-embedding-3-small을 사용합니다. 분석이 실패했다고 이전 예약을 지우지는 않습니다. 새로고침해도 어디까지 처리됐는지 다시 확인할 수 있습니다.</a:t>
            </a:r>
          </a:p>
          <a:p xmlns:a="http://schemas.openxmlformats.org/drawingml/2006/main">
            <a:r>
              <a:t/>
            </a:r>
          </a:p>
          <a:p xmlns:a="http://schemas.openxmlformats.org/drawingml/2006/main">
            <a:r>
              <a:t>정리가 끝나면 ‘2일차 예약을 전부 알려줘’처럼 물어볼 수 있습니다. 이런 질문은 날짜에 해당하는 예약을 모두 가져옵니다. 반면 환불 규정 같은 질문은 메일 본문을 검색하고 근거를 보여줍니다. 답변만 보고 넘어가기보다 원문을 직접 확인할 수 있게 했습니다.</a:t>
            </a:r>
          </a:p>
          <a:p xmlns:a="http://schemas.openxmlformats.org/drawingml/2006/main">
            <a:r>
              <a:t/>
            </a:r>
          </a:p>
          <a:p xmlns:a="http://schemas.openxmlformats.org/drawingml/2006/main">
            <a:r>
              <a:t>화면 안내: 메일 업로드 화면을 보여주며 질문 예시를 읽습니다.</a:t>
            </a:r>
          </a:p>
          <a:p xmlns:a="http://schemas.openxmlformats.org/drawingml/2006/main">
            <a:r>
              <a:t/>
            </a:r>
          </a:p>
          <a:p xmlns:a="http://schemas.openxmlformats.org/drawingml/2006/main">
            <a:r>
              <a:t>낭독하지 않음</a:t>
            </a:r>
          </a:p>
          <a:p xmlns:a="http://schemas.openxmlformats.org/drawingml/2006/main">
            <a:r>
              <a:t>코드·기능: https://github.com/Jin-s-work/Travel-Agent</a:t>
            </a:r>
          </a:p>
          <a:p xmlns:a="http://schemas.openxmlformats.org/drawingml/2006/main">
            <a:r>
              <a:t>모델과 수식: docs/service-v4/RECOMMENDATION_MODEL.md</a:t>
            </a:r>
          </a:p>
          <a:p xmlns:a="http://schemas.openxmlformats.org/drawingml/2006/main">
            <a:r>
              <a:t>합성 개발 평가: docs/service-v4/reports/hybrid-v4-benchmark.md (실제 정확도·만족도 미측정)</a:t>
            </a:r>
          </a:p>
          <a:p xmlns:a="http://schemas.openxmlformats.org/drawingml/2006/main">
            <a:r>
              <a:t>화면·사진: docs/presentation/CREDITS.md (2026-10-07 기존 합성 계정 화면). 엄격 언어 추천은 실제 품질 검증 전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65초]</a:t>
            </a:r>
          </a:p>
          <a:p xmlns:a="http://schemas.openxmlformats.org/drawingml/2006/main">
            <a:r>
              <a:t/>
            </a:r>
          </a:p>
          <a:p xmlns:a="http://schemas.openxmlformats.org/drawingml/2006/main">
            <a:r>
              <a:t>식당을 고를 때 저는 한국어 리뷰로 이미 많이 알려진 곳 외에도 찾아보고 싶었습니다. 그래서 현지어 원문 리뷰가 충분하고, 한국어가 적게 관측된 곳을 찾아보는 기능을 만들었습니다.</a:t>
            </a:r>
          </a:p>
          <a:p xmlns:a="http://schemas.openxmlformats.org/drawingml/2006/main">
            <a:r>
              <a:t/>
            </a:r>
          </a:p>
          <a:p xmlns:a="http://schemas.openxmlformats.org/drawingml/2006/main">
            <a:r>
              <a:t>여기서 주의한 점은 현지어로 썼다고 해서 현지 주민이라고 단정할 수는 없다는 겁니다. 여행객도 그 언어를 쓸 수 있으니까요. 그래서 화면에서는 현지인 비율이라고 쓰지 않고, 실제로 관측한 리뷰의 언어 구성을 보여주도록 했습니다. 언어를 판단하지 못한 리뷰도 빼버리지 않고 함께 계산합니다.</a:t>
            </a:r>
          </a:p>
          <a:p xmlns:a="http://schemas.openxmlformats.org/drawingml/2006/main">
            <a:r>
              <a:t/>
            </a:r>
          </a:p>
          <a:p xmlns:a="http://schemas.openxmlformats.org/drawingml/2006/main">
            <a:r>
              <a:t>반대로 여행지에 가면 누구나 아는 유명한 곳에 가보고 싶을 때도 있습니다. 그래서 공식적으로 소개된 명소나 평가가 많이 쌓인 식당을 찾는 ‘유명한 곳’을 별도로 뒀습니다. 음식점, 카페, 볼거리는 여기서 다시 선택합니다.</a:t>
            </a:r>
          </a:p>
          <a:p xmlns:a="http://schemas.openxmlformats.org/drawingml/2006/main">
            <a:r>
              <a:t/>
            </a:r>
          </a:p>
          <a:p xmlns:a="http://schemas.openxmlformats.org/drawingml/2006/main">
            <a:r>
              <a:t>엄격한 현지어 추천은 실제 리뷰의 이용 범위와 언어 품질 검증이 끝나기 전까지 꺼 두었습니다. 코드는 준비했지만, 실제 자료 검증까지 마쳤다고 소개하지는 않으려고 합니다.</a:t>
            </a:r>
          </a:p>
          <a:p xmlns:a="http://schemas.openxmlformats.org/drawingml/2006/main">
            <a:r>
              <a:t/>
            </a:r>
          </a:p>
          <a:p xmlns:a="http://schemas.openxmlformats.org/drawingml/2006/main">
            <a:r>
              <a:t>화면 안내: 왼쪽은 언어 관측, 오른쪽은 공식·인기 근거라는 차이를 설명합니다.</a:t>
            </a:r>
          </a:p>
          <a:p xmlns:a="http://schemas.openxmlformats.org/drawingml/2006/main">
            <a:r>
              <a:t/>
            </a:r>
          </a:p>
          <a:p xmlns:a="http://schemas.openxmlformats.org/drawingml/2006/main">
            <a:r>
              <a:t>낭독하지 않음</a:t>
            </a:r>
          </a:p>
          <a:p xmlns:a="http://schemas.openxmlformats.org/drawingml/2006/main">
            <a:r>
              <a:t>코드·기능: https://github.com/Jin-s-work/Travel-Agent</a:t>
            </a:r>
          </a:p>
          <a:p xmlns:a="http://schemas.openxmlformats.org/drawingml/2006/main">
            <a:r>
              <a:t>모델과 수식: docs/service-v4/RECOMMENDATION_MODEL.md</a:t>
            </a:r>
          </a:p>
          <a:p xmlns:a="http://schemas.openxmlformats.org/drawingml/2006/main">
            <a:r>
              <a:t>합성 개발 평가: docs/service-v4/reports/hybrid-v4-benchmark.md (실제 정확도·만족도 미측정)</a:t>
            </a:r>
          </a:p>
          <a:p xmlns:a="http://schemas.openxmlformats.org/drawingml/2006/main">
            <a:r>
              <a:t>화면·사진: docs/presentation/CREDITS.md (2026-10-07 기존 합성 계정 화면). 엄격 언어 추천은 실제 품질 검증 전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45초]</a:t>
            </a:r>
          </a:p>
          <a:p xmlns:a="http://schemas.openxmlformats.org/drawingml/2006/main">
            <a:r>
              <a:t/>
            </a:r>
          </a:p>
          <a:p xmlns:a="http://schemas.openxmlformats.org/drawingml/2006/main">
            <a:r>
              <a:t>결과에서는 이름만 나열하기보다 사진과 추천 이유를 먼저 볼 수 있습니다. 사진은 이용 권한과 지점을 확인한 자료가 있을 때 최대 세 장까지 보여줍니다. 모든 식당에 사진이 있는 것은 아닙니다.</a:t>
            </a:r>
          </a:p>
          <a:p xmlns:a="http://schemas.openxmlformats.org/drawingml/2006/main">
            <a:r>
              <a:t/>
            </a:r>
          </a:p>
          <a:p xmlns:a="http://schemas.openxmlformats.org/drawingml/2006/main">
            <a:r>
              <a:t>장소를 열면 영업시간, 예약 방법, 가격을 보고 그 정보의 출처도 확인할 수 있습니다. 마음에 들면 보관함에 저장하고, 같은 날짜와 인원 조건으로 세 곳까지 비교할 수 있습니다.</a:t>
            </a:r>
          </a:p>
          <a:p xmlns:a="http://schemas.openxmlformats.org/drawingml/2006/main">
            <a:r>
              <a:t/>
            </a:r>
          </a:p>
          <a:p xmlns:a="http://schemas.openxmlformats.org/drawingml/2006/main">
            <a:r>
              <a:t>숙소 위치를 확인했다면 거리도 같이 봅니다. 다만 지도상의 직선거리와 실제 도보시간은 다르기 때문에 구분해서 표시합니다. 예약 가능 여부처럼 확인하지 못한 것은 가능하다고 채우지 않고, 방문 전에 확인할 항목으로 남깁니다.</a:t>
            </a:r>
          </a:p>
          <a:p xmlns:a="http://schemas.openxmlformats.org/drawingml/2006/main">
            <a:r>
              <a:t/>
            </a:r>
          </a:p>
          <a:p xmlns:a="http://schemas.openxmlformats.org/drawingml/2006/main">
            <a:r>
              <a:t>화면 안내: 사진, 추천 이유, 확인 필요 항목이 있는 실제 장소 화면을 가리킵니다.</a:t>
            </a:r>
          </a:p>
          <a:p xmlns:a="http://schemas.openxmlformats.org/drawingml/2006/main">
            <a:r>
              <a:t/>
            </a:r>
          </a:p>
          <a:p xmlns:a="http://schemas.openxmlformats.org/drawingml/2006/main">
            <a:r>
              <a:t>낭독하지 않음</a:t>
            </a:r>
          </a:p>
          <a:p xmlns:a="http://schemas.openxmlformats.org/drawingml/2006/main">
            <a:r>
              <a:t>코드·기능: https://github.com/Jin-s-work/Travel-Agent</a:t>
            </a:r>
          </a:p>
          <a:p xmlns:a="http://schemas.openxmlformats.org/drawingml/2006/main">
            <a:r>
              <a:t>모델과 수식: docs/service-v4/RECOMMENDATION_MODEL.md</a:t>
            </a:r>
          </a:p>
          <a:p xmlns:a="http://schemas.openxmlformats.org/drawingml/2006/main">
            <a:r>
              <a:t>합성 개발 평가: docs/service-v4/reports/hybrid-v4-benchmark.md (실제 정확도·만족도 미측정)</a:t>
            </a:r>
          </a:p>
          <a:p xmlns:a="http://schemas.openxmlformats.org/drawingml/2006/main">
            <a:r>
              <a:t>화면·사진: docs/presentation/CREDITS.md (2026-10-07 기존 합성 계정 화면). 엄격 언어 추천은 실제 품질 검증 전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65초]</a:t>
            </a:r>
          </a:p>
          <a:p xmlns:a="http://schemas.openxmlformats.org/drawingml/2006/main">
            <a:r>
              <a:t/>
            </a:r>
          </a:p>
          <a:p xmlns:a="http://schemas.openxmlformats.org/drawingml/2006/main">
            <a:r>
              <a:t>처음에는 리뷰 비율이나 평가 수를 기준으로 순서를 정했습니다. 그런데 초밥을 좋아한다고 입력해도 그 취향이 순위에 충분히 반영되지 않는 문제가 있었습니다.</a:t>
            </a:r>
          </a:p>
          <a:p xmlns:a="http://schemas.openxmlformats.org/drawingml/2006/main">
            <a:r>
              <a:t/>
            </a:r>
          </a:p>
          <a:p xmlns:a="http://schemas.openxmlformats.org/drawingml/2006/main">
            <a:r>
              <a:t>지금은 콘텐츠 기반 추천 모델을 사용합니다. 사용자가 고른 취향과 장소의 태그를 TF-IDF라는 벡터로 만들고, 코사인 유사도로 얼마나 가까운지 계산합니다. 예를 들어 초밥과 스시처럼 연결할 수 있는 태그는 작은 사전으로 정리했습니다.</a:t>
            </a:r>
          </a:p>
          <a:p xmlns:a="http://schemas.openxmlformats.org/drawingml/2006/main">
            <a:r>
              <a:t/>
            </a:r>
          </a:p>
          <a:p xmlns:a="http://schemas.openxmlformats.org/drawingml/2006/main">
            <a:r>
              <a:t>평점도 그대로만 비교하지 않습니다. 평가 한 건의 5점과 수백 건의 4.8점은 다르기 때문에, 평가가 적은 장소는 같은 플랫폼과 도시의 평균 쪽으로 보정합니다. 여기에 숙소 등 출발점과의 거리도 반영합니다.</a:t>
            </a:r>
          </a:p>
          <a:p xmlns:a="http://schemas.openxmlformats.org/drawingml/2006/main">
            <a:r>
              <a:t/>
            </a:r>
          </a:p>
          <a:p xmlns:a="http://schemas.openxmlformats.org/drawingml/2006/main">
            <a:r>
              <a:t>취향과 출발점이 모두 있으면 기본 근거 40, 취향 40, 거리 20의 비중을 씁니다. 이 비중은 아직 초기 설정입니다. 사용자 행동을 학습한 모델은 아니고, 선택한 조건과 장소 정보를 계산하는 방식입니다. 또 휴무나 인원 조건을 위반한 곳은 점수가 높아도 먼저 제외합니다.</a:t>
            </a:r>
          </a:p>
          <a:p xmlns:a="http://schemas.openxmlformats.org/drawingml/2006/main">
            <a:r>
              <a:t/>
            </a:r>
          </a:p>
          <a:p xmlns:a="http://schemas.openxmlformats.org/drawingml/2006/main">
            <a:r>
              <a:t>화면 안내: 취향 → 평점 → 거리 순으로 설명하고 필수 조건 문구를 짚습니다.</a:t>
            </a:r>
          </a:p>
          <a:p xmlns:a="http://schemas.openxmlformats.org/drawingml/2006/main">
            <a:r>
              <a:t/>
            </a:r>
          </a:p>
          <a:p xmlns:a="http://schemas.openxmlformats.org/drawingml/2006/main">
            <a:r>
              <a:t>낭독하지 않음</a:t>
            </a:r>
          </a:p>
          <a:p xmlns:a="http://schemas.openxmlformats.org/drawingml/2006/main">
            <a:r>
              <a:t>코드·기능: https://github.com/Jin-s-work/Travel-Agent</a:t>
            </a:r>
          </a:p>
          <a:p xmlns:a="http://schemas.openxmlformats.org/drawingml/2006/main">
            <a:r>
              <a:t>모델과 수식: docs/service-v4/RECOMMENDATION_MODEL.md</a:t>
            </a:r>
          </a:p>
          <a:p xmlns:a="http://schemas.openxmlformats.org/drawingml/2006/main">
            <a:r>
              <a:t>합성 개발 평가: docs/service-v4/reports/hybrid-v4-benchmark.md (실제 정확도·만족도 미측정)</a:t>
            </a:r>
          </a:p>
          <a:p xmlns:a="http://schemas.openxmlformats.org/drawingml/2006/main">
            <a:r>
              <a:t>화면·사진: docs/presentation/CREDITS.md (2026-10-07 기존 합성 계정 화면). 엄격 언어 추천은 실제 품질 검증 전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50초]</a:t>
            </a:r>
          </a:p>
          <a:p xmlns:a="http://schemas.openxmlformats.org/drawingml/2006/main">
            <a:r>
              <a:t/>
            </a:r>
          </a:p>
          <a:p xmlns:a="http://schemas.openxmlformats.org/drawingml/2006/main">
            <a:r>
              <a:t>고른 장소를 일정에 넣을 때는 이미 확정한 예약을 먼저 배치합니다. 그 사이에 다른 장소를 넣어도 되는지 영업시간, 체류시간, 앞뒤 이동시간을 검사합니다.</a:t>
            </a:r>
          </a:p>
          <a:p xmlns:a="http://schemas.openxmlformats.org/drawingml/2006/main">
            <a:r>
              <a:t/>
            </a:r>
          </a:p>
          <a:p xmlns:a="http://schemas.openxmlformats.org/drawingml/2006/main">
            <a:r>
              <a:t>예를 들어 빈 시간이 두 시간인데 식당에서 90분을 보내고 양쪽 이동에 각각 30분이 필요하면, 총 두 시간 반이라 넣으면 안 됩니다. 머무는 시간만 보고 일정이 된다고 판단하지 않도록 했습니다.</a:t>
            </a:r>
          </a:p>
          <a:p xmlns:a="http://schemas.openxmlformats.org/drawingml/2006/main">
            <a:r>
              <a:t/>
            </a:r>
          </a:p>
          <a:p xmlns:a="http://schemas.openxmlformats.org/drawingml/2006/main">
            <a:r>
              <a:t>편집은 바로 원본을 바꾸는 대신 먼저 미리보기를 보여줍니다. 뒤 일정에 어떤 영향이 있는지 보고 적용하고, 마음에 들지 않으면 되돌릴 수 있습니다. 고정 예약끼리 겹쳐도 임의로 이동하지 않습니다. 그리고 일정에서 항목을 지우는 것과 실제 외부 예약을 취소하는 것은 별개입니다.</a:t>
            </a:r>
          </a:p>
          <a:p xmlns:a="http://schemas.openxmlformats.org/drawingml/2006/main">
            <a:r>
              <a:t/>
            </a:r>
          </a:p>
          <a:p xmlns:a="http://schemas.openxmlformats.org/drawingml/2006/main">
            <a:r>
              <a:t>화면 안내: 일정 화면과 오른쪽의 120분·150분 예시를 번갈아 짚습니다.</a:t>
            </a:r>
          </a:p>
          <a:p xmlns:a="http://schemas.openxmlformats.org/drawingml/2006/main">
            <a:r>
              <a:t/>
            </a:r>
          </a:p>
          <a:p xmlns:a="http://schemas.openxmlformats.org/drawingml/2006/main">
            <a:r>
              <a:t>낭독하지 않음</a:t>
            </a:r>
          </a:p>
          <a:p xmlns:a="http://schemas.openxmlformats.org/drawingml/2006/main">
            <a:r>
              <a:t>코드·기능: https://github.com/Jin-s-work/Travel-Agent</a:t>
            </a:r>
          </a:p>
          <a:p xmlns:a="http://schemas.openxmlformats.org/drawingml/2006/main">
            <a:r>
              <a:t>모델과 수식: docs/service-v4/RECOMMENDATION_MODEL.md</a:t>
            </a:r>
          </a:p>
          <a:p xmlns:a="http://schemas.openxmlformats.org/drawingml/2006/main">
            <a:r>
              <a:t>합성 개발 평가: docs/service-v4/reports/hybrid-v4-benchmark.md (실제 정확도·만족도 미측정)</a:t>
            </a:r>
          </a:p>
          <a:p xmlns:a="http://schemas.openxmlformats.org/drawingml/2006/main">
            <a:r>
              <a:t>화면·사진: docs/presentation/CREDITS.md (2026-10-07 기존 합성 계정 화면). 엄격 언어 추천은 실제 품질 검증 전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55초]</a:t>
            </a:r>
          </a:p>
          <a:p xmlns:a="http://schemas.openxmlformats.org/drawingml/2006/main">
            <a:r>
              <a:t/>
            </a:r>
          </a:p>
          <a:p xmlns:a="http://schemas.openxmlformats.org/drawingml/2006/main">
            <a:r>
              <a:t>추천이 달라졌다는 걸 확인하기 위해 이전 모델과 같은 입력으로 비교하는 평가 도구도 만들었습니다. 도쿄와 바르셀로나를 대상으로 취향, 거리, 평점, 조건 위반 등을 다룬 열두 개의 합성 시나리오입니다.</a:t>
            </a:r>
          </a:p>
          <a:p xmlns:a="http://schemas.openxmlformats.org/drawingml/2006/main">
            <a:r>
              <a:t/>
            </a:r>
          </a:p>
          <a:p xmlns:a="http://schemas.openxmlformats.org/drawingml/2006/main">
            <a:r>
              <a:t>여기서 NDCG는 적합한 후보가 앞에 오는 정도를 보는 지표입니다. 이전 모델은 약 0.42, 새 모델은 약 1.00으로 나왔습니다. 상위 세 칸 중 적합한 후보의 비율인 Precision도 약 0.39에서 0.78로 높아졌습니다.</a:t>
            </a:r>
          </a:p>
          <a:p xmlns:a="http://schemas.openxmlformats.org/drawingml/2006/main">
            <a:r>
              <a:t/>
            </a:r>
          </a:p>
          <a:p xmlns:a="http://schemas.openxmlformats.org/drawingml/2006/main">
            <a:r>
              <a:t>다만 이것을 실제 추천 정확도가 99퍼센트라고 말할 수는 없습니다. 제가 만든 시나리오와 기대 등급에 대한 개발 시험이기 때문입니다. 독립적인 평가 자료는 아직 없습니다. 실제 성능은 다른 사람이 순위를 모르는 상태에서 후보를 평가한 자료와 방문 경험으로 확인해야 합니다. 계산 시간도 조금 늘어서, 속도까지 개선됐다고 보지는 않습니다.</a:t>
            </a:r>
          </a:p>
          <a:p xmlns:a="http://schemas.openxmlformats.org/drawingml/2006/main">
            <a:r>
              <a:t/>
            </a:r>
          </a:p>
          <a:p xmlns:a="http://schemas.openxmlformats.org/drawingml/2006/main">
            <a:r>
              <a:t>화면 안내: NDCG 막대를 보여준 뒤 하단의 합성 개발 평가라는 한계를 설명합니다.</a:t>
            </a:r>
          </a:p>
          <a:p xmlns:a="http://schemas.openxmlformats.org/drawingml/2006/main">
            <a:r>
              <a:t/>
            </a:r>
          </a:p>
          <a:p xmlns:a="http://schemas.openxmlformats.org/drawingml/2006/main">
            <a:r>
              <a:t>낭독하지 않음</a:t>
            </a:r>
          </a:p>
          <a:p xmlns:a="http://schemas.openxmlformats.org/drawingml/2006/main">
            <a:r>
              <a:t>코드·기능: https://github.com/Jin-s-work/Travel-Agent</a:t>
            </a:r>
          </a:p>
          <a:p xmlns:a="http://schemas.openxmlformats.org/drawingml/2006/main">
            <a:r>
              <a:t>모델과 수식: docs/service-v4/RECOMMENDATION_MODEL.md</a:t>
            </a:r>
          </a:p>
          <a:p xmlns:a="http://schemas.openxmlformats.org/drawingml/2006/main">
            <a:r>
              <a:t>합성 개발 평가: docs/service-v4/reports/hybrid-v4-benchmark.md (실제 정확도·만족도 미측정)</a:t>
            </a:r>
          </a:p>
          <a:p xmlns:a="http://schemas.openxmlformats.org/drawingml/2006/main">
            <a:r>
              <a:t>화면·사진: docs/presentation/CREDITS.md (2026-10-07 기존 합성 계정 화면). 엄격 언어 추천은 실제 품질 검증 전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40초]</a:t>
            </a:r>
          </a:p>
          <a:p xmlns:a="http://schemas.openxmlformats.org/drawingml/2006/main">
            <a:r>
              <a:t/>
            </a:r>
          </a:p>
          <a:p xmlns:a="http://schemas.openxmlformats.org/drawingml/2006/main">
            <a:r>
              <a:t>장소를 고른 뒤에 필요한 기능도 만들었습니다. 예약이 언제 열리는지 할 일로 정리하고, 캘린더에 넣을 ICS 파일이나 현지어 문의문 초안을 만들 수 있습니다. 문의를 자동으로 보내거나 대신 결제하지는 않습니다.</a:t>
            </a:r>
          </a:p>
          <a:p xmlns:a="http://schemas.openxmlformats.org/drawingml/2006/main">
            <a:r>
              <a:t/>
            </a:r>
          </a:p>
          <a:p xmlns:a="http://schemas.openxmlformats.org/drawingml/2006/main">
            <a:r>
              <a:t>여행 중 비가 오거나 너무 피곤하면, 전체 일정을 다시 만드는 대신 영향을 받는 구간의 대체안을 먼저 볼 수 있습니다. 오늘 보기에서는 현지 날짜 기준으로 다음 일정을 확인합니다.</a:t>
            </a:r>
          </a:p>
          <a:p xmlns:a="http://schemas.openxmlformats.org/drawingml/2006/main">
            <a:r>
              <a:t/>
            </a:r>
          </a:p>
          <a:p xmlns:a="http://schemas.openxmlformats.org/drawingml/2006/main">
            <a:r>
              <a:t>예상 지출은 엔화와 유로처럼 통화별로 나눠 보여주고, 가격을 모르는 항목도 함께 표시합니다. 오프라인 읽기 기능도 구현했지만, 실제 기기별 검증을 더 진행한 뒤 사용 범위를 넓힐 계획입니다.</a:t>
            </a:r>
          </a:p>
          <a:p xmlns:a="http://schemas.openxmlformats.org/drawingml/2006/main">
            <a:r>
              <a:t/>
            </a:r>
          </a:p>
          <a:p xmlns:a="http://schemas.openxmlformats.org/drawingml/2006/main">
            <a:r>
              <a:t>화면 안내: 예약 준비, Plan B, 오늘 보기, 예상 지출의 사용 상황을 짧게 설명합니다.</a:t>
            </a:r>
          </a:p>
          <a:p xmlns:a="http://schemas.openxmlformats.org/drawingml/2006/main">
            <a:r>
              <a:t/>
            </a:r>
          </a:p>
          <a:p xmlns:a="http://schemas.openxmlformats.org/drawingml/2006/main">
            <a:r>
              <a:t>낭독하지 않음</a:t>
            </a:r>
          </a:p>
          <a:p xmlns:a="http://schemas.openxmlformats.org/drawingml/2006/main">
            <a:r>
              <a:t>코드·기능: https://github.com/Jin-s-work/Travel-Agent</a:t>
            </a:r>
          </a:p>
          <a:p xmlns:a="http://schemas.openxmlformats.org/drawingml/2006/main">
            <a:r>
              <a:t>모델과 수식: docs/service-v4/RECOMMENDATION_MODEL.md</a:t>
            </a:r>
          </a:p>
          <a:p xmlns:a="http://schemas.openxmlformats.org/drawingml/2006/main">
            <a:r>
              <a:t>합성 개발 평가: docs/service-v4/reports/hybrid-v4-benchmark.md (실제 정확도·만족도 미측정)</a:t>
            </a:r>
          </a:p>
          <a:p xmlns:a="http://schemas.openxmlformats.org/drawingml/2006/main">
            <a:r>
              <a:t>화면·사진: docs/presentation/CREDITS.md (2026-10-07 기존 합성 계정 화면). 엄격 언어 추천은 실제 품질 검증 전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45초]</a:t>
            </a:r>
          </a:p>
          <a:p xmlns:a="http://schemas.openxmlformats.org/drawingml/2006/main">
            <a:r>
              <a:t/>
            </a:r>
          </a:p>
          <a:p xmlns:a="http://schemas.openxmlformats.org/drawingml/2006/main">
            <a:r>
              <a:t>다음에는 기능 수를 늘리는 것보다 실제 자료와 사용 경험을 더 확인하려고 합니다.</a:t>
            </a:r>
          </a:p>
          <a:p xmlns:a="http://schemas.openxmlformats.org/drawingml/2006/main">
            <a:r>
              <a:t/>
            </a:r>
          </a:p>
          <a:p xmlns:a="http://schemas.openxmlformats.org/drawingml/2006/main">
            <a:r>
              <a:t>먼저 도쿄와 바르셀로나의 리뷰 원문과 이용 범위, 언어 판별 품질을 검증하고, 통과한 자료에서 현지어 추천을 켜고 싶습니다. 그다음에는 다른 사람이 평가한 후보로 지금의 추천 모델을 비교하려고 합니다. 실제 선택과 방문 피드백이 충분히 쌓이면 그때 학습 기반 개인화도 시도할 수 있습니다.</a:t>
            </a:r>
          </a:p>
          <a:p xmlns:a="http://schemas.openxmlformats.org/drawingml/2006/main">
            <a:r>
              <a:t/>
            </a:r>
          </a:p>
          <a:p xmlns:a="http://schemas.openxmlformats.org/drawingml/2006/main">
            <a:r>
              <a:t>도시 입력은 백 개 도시를 지원하지만 모든 도시의 추천 자료가 같은 수준으로 준비된 것은 아닙니다. 영업·예약 정보와 이동 경로를 더 채우고, 모바일과 오프라인을 실제 여행 환경에서도 확인할 계획입니다.</a:t>
            </a:r>
          </a:p>
          <a:p xmlns:a="http://schemas.openxmlformats.org/drawingml/2006/main">
            <a:r>
              <a:t/>
            </a:r>
          </a:p>
          <a:p xmlns:a="http://schemas.openxmlformats.org/drawingml/2006/main">
            <a:r>
              <a:t>제가 여행을 갈 때 매번 찾느라 불편했던 부분을 조금 덜어보려고 시작한 프로젝트입니다. 앞으로도 직접 써 보면서 고쳐나가고 싶습니다. 감사합니다.</a:t>
            </a:r>
          </a:p>
          <a:p xmlns:a="http://schemas.openxmlformats.org/drawingml/2006/main">
            <a:r>
              <a:t/>
            </a:r>
          </a:p>
          <a:p xmlns:a="http://schemas.openxmlformats.org/drawingml/2006/main">
            <a:r>
              <a:t>화면 안내: 실제 리뷰 → 독립 평가 → 현장 사용 순서로 설명하고 마칩니다.</a:t>
            </a:r>
          </a:p>
          <a:p xmlns:a="http://schemas.openxmlformats.org/drawingml/2006/main">
            <a:r>
              <a:t/>
            </a:r>
          </a:p>
          <a:p xmlns:a="http://schemas.openxmlformats.org/drawingml/2006/main">
            <a:r>
              <a:t>낭독하지 않음</a:t>
            </a:r>
          </a:p>
          <a:p xmlns:a="http://schemas.openxmlformats.org/drawingml/2006/main">
            <a:r>
              <a:t>코드·기능: https://github.com/Jin-s-work/Travel-Agent</a:t>
            </a:r>
          </a:p>
          <a:p xmlns:a="http://schemas.openxmlformats.org/drawingml/2006/main">
            <a:r>
              <a:t>모델과 수식: docs/service-v4/RECOMMENDATION_MODEL.md</a:t>
            </a:r>
          </a:p>
          <a:p xmlns:a="http://schemas.openxmlformats.org/drawingml/2006/main">
            <a:r>
              <a:t>합성 개발 평가: docs/service-v4/reports/hybrid-v4-benchmark.md (실제 정확도·만족도 미측정)</a:t>
            </a:r>
          </a:p>
          <a:p xmlns:a="http://schemas.openxmlformats.org/drawingml/2006/main">
            <a:r>
              <a:t>화면·사진: docs/presentation/CREDITS.md (2026-10-07 기존 합성 계정 화면). 엄격 언어 추천은 실제 품질 검증 전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df840fe9384f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c292c3a2995442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e8d7596c8714b2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e8df9cdf9d04e9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d2b9b51f5f14cf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31a6ef531d241b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64E4114-B2A3-4067-A4E1-769163CAFC9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8D8EC17-C825-4379-A852-73FC182AD78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BFFF7CA-6C05-4311-AF46-0EF53F002F7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FB140E-588C-4044-BD56-3E807960F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901E70C-1AA9-43AD-B499-AE795857FA9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697B3B1-3F6C-4B83-91FC-DB1B21AE189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6314714-53B1-408C-ADBC-D6643F254C4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A4D8653-0983-4699-BDED-6B52101AEBD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2CC6FE-944F-4122-8DE0-2A0641DA04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D1FA363-3A55-4685-BCF5-AB267F442C6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f1a238e75444bb" /><Relationship Type="http://schemas.openxmlformats.org/officeDocument/2006/relationships/slideLayout" Target="/ppt/slideLayouts/slideLayout1.xml" Id="Rc68f80a63b1846bd" /><Relationship Type="http://schemas.openxmlformats.org/officeDocument/2006/relationships/slideLayout" Target="/ppt/slideLayouts/slideLayout2.xml" Id="R72dce30f1ba4477f" /><Relationship Type="http://schemas.openxmlformats.org/officeDocument/2006/relationships/slideLayout" Target="/ppt/slideLayouts/slideLayout3.xml" Id="Rb086d47d842442d6" /><Relationship Type="http://schemas.openxmlformats.org/officeDocument/2006/relationships/slideLayout" Target="/ppt/slideLayouts/slideLayout4.xml" Id="R0639cded81b1476b" /><Relationship Type="http://schemas.openxmlformats.org/officeDocument/2006/relationships/slideLayout" Target="/ppt/slideLayouts/slideLayout5.xml" Id="Rd8fa5fc3f7584926" /><Relationship Type="http://schemas.openxmlformats.org/officeDocument/2006/relationships/slideLayout" Target="/ppt/slideLayouts/slideLayout6.xml" Id="R5aecf3b6af18437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68f80a63b1846bd"/>
    <p:sldLayoutId xmlns:r="http://schemas.openxmlformats.org/officeDocument/2006/relationships" id="2147483650" r:id="R72dce30f1ba4477f"/>
    <p:sldLayoutId xmlns:r="http://schemas.openxmlformats.org/officeDocument/2006/relationships" id="2147483651" r:id="Rb086d47d842442d6"/>
    <p:sldLayoutId xmlns:r="http://schemas.openxmlformats.org/officeDocument/2006/relationships" id="2147483652" r:id="R0639cded81b1476b"/>
    <p:sldLayoutId xmlns:r="http://schemas.openxmlformats.org/officeDocument/2006/relationships" id="2147483653" r:id="Rd8fa5fc3f7584926"/>
    <p:sldLayoutId xmlns:r="http://schemas.openxmlformats.org/officeDocument/2006/relationships" id="2147483654" r:id="R5aecf3b6af18437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e4d3a810f54235" /><Relationship Type="http://schemas.openxmlformats.org/officeDocument/2006/relationships/image" Target="/ppt/media/image.png" Id="R64f80ed9daf6406a" /><Relationship Type="http://schemas.openxmlformats.org/officeDocument/2006/relationships/notesSlide" Target="/ppt/notesSlides/notesSlide1.xml" Id="R57538a5d2b2e46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f07f65ee1374f80" /><Relationship Type="http://schemas.openxmlformats.org/officeDocument/2006/relationships/image" Target="/ppt/media/image2.png" Id="R213f6c6768194850" /><Relationship Type="http://schemas.openxmlformats.org/officeDocument/2006/relationships/notesSlide" Target="/ppt/notesSlides/notesSlide2.xml" Id="R03f725b5c0d34a1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e7347a2a11a47f3" /><Relationship Type="http://schemas.openxmlformats.org/officeDocument/2006/relationships/image" Target="/ppt/media/image3.png" Id="R9c5611e82a934744" /><Relationship Type="http://schemas.openxmlformats.org/officeDocument/2006/relationships/notesSlide" Target="/ppt/notesSlides/notesSlide3.xml" Id="R2236a9f192f44d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055dc67492e41bc" /><Relationship Type="http://schemas.openxmlformats.org/officeDocument/2006/relationships/notesSlide" Target="/ppt/notesSlides/notesSlide4.xml" Id="Redc0303f28d3421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18ed25acd424506" /><Relationship Type="http://schemas.openxmlformats.org/officeDocument/2006/relationships/image" Target="/ppt/media/image4.png" Id="R36a6939e099347d2" /><Relationship Type="http://schemas.openxmlformats.org/officeDocument/2006/relationships/notesSlide" Target="/ppt/notesSlides/notesSlide5.xml" Id="Rb28fc39109da46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9e068c1a47243d6" /><Relationship Type="http://schemas.openxmlformats.org/officeDocument/2006/relationships/notesSlide" Target="/ppt/notesSlides/notesSlide6.xml" Id="R47ec4edea0514f9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e5ff4f80f3748b6" /><Relationship Type="http://schemas.openxmlformats.org/officeDocument/2006/relationships/image" Target="/ppt/media/image5.png" Id="R11726dc6cdee4d27" /><Relationship Type="http://schemas.openxmlformats.org/officeDocument/2006/relationships/notesSlide" Target="/ppt/notesSlides/notesSlide7.xml" Id="Rbd936d16837e40f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e0694ece6374c73" /><Relationship Type="http://schemas.openxmlformats.org/officeDocument/2006/relationships/chart" Target="/ppt/slides/charts/chart1.xml" Id="R0d5fbfb639c24b5d" /><Relationship Type="http://schemas.openxmlformats.org/officeDocument/2006/relationships/notesSlide" Target="/ppt/notesSlides/notesSlide8.xml" Id="Re30e9cf1b69d4fe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4e589cc7f0e406f" /><Relationship Type="http://schemas.openxmlformats.org/officeDocument/2006/relationships/notesSlide" Target="/ppt/notesSlides/notesSlide9.xml" Id="R312e7a3e057f419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ca74689e0484261" /><Relationship Type="http://schemas.openxmlformats.org/officeDocument/2006/relationships/notesSlide" Target="/ppt/notesSlides/notesSlide10.xml" Id="R09599a6114fc457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a="http://schemas.openxmlformats.org/drawingml/2006/main" xmlns:c="http://schemas.openxmlformats.org/drawingml/2006/chart" xmlns:r="http://schemas.openxmlformats.org/officeDocument/2006/relationships">
  <c:lang val="en-US"/>
  <c:chart>
    <c:plotArea>
      <c:barChart>
        <c:barDir val="bar"/>
        <c:grouping val="clustered"/>
        <c:varyColors val="0"/>
        <c:ser>
          <c:idx val="0"/>
          <c:order val="0"/>
          <c:tx>
            <c:v>NDCG@3</c:v>
          </c:tx>
          <c:dPt>
            <c:idx val="0"/>
            <c:invertIfNegative val="0"/>
            <c:spPr>
              <a:solidFill>
                <a:srgbClr val="A5B3B7"/>
              </a:solidFill>
            </c:spPr>
          </c:dPt>
          <c:dPt>
            <c:idx val="1"/>
            <c:invertIfNegative val="0"/>
            <c:spPr>
              <a:solidFill>
                <a:srgbClr val="25485A"/>
              </a:solidFill>
            </c:spPr>
          </c:dPt>
          <c:cat>
            <c:strRef>
              <c:f>'Chart Data'!$A$2:$A$3</c:f>
              <c:strCache>
                <c:ptCount val="2"/>
                <c:pt idx="0">
                  <c:v>이전 general_v3</c:v>
                </c:pt>
                <c:pt idx="1">
                  <c:v>현재 hybrid_v4</c:v>
                </c:pt>
              </c:strCache>
            </c:strRef>
          </c:cat>
          <c:val>
            <c:numRef>
              <c:f>'Chart Data'!$B$2:$B$3</c:f>
              <c:numCache>
                <c:formatCode>0.0000</c:formatCode>
                <c:ptCount val="2"/>
                <c:pt idx="0">
                  <c:v>0.4155</c:v>
                </c:pt>
                <c:pt idx="1">
                  <c:v>0.9954</c:v>
                </c:pt>
              </c:numCache>
            </c:numRef>
          </c:val>
        </c:ser>
        <c:dLbls>
          <c:numFmt formatCode="0.0000" sourceLinked="0"/>
          <c:txPr>
            <a:bodyPr anchorCtr="1"/>
            <a:lstStyle/>
            <a:p>
              <a:pPr>
                <a:defRPr sz="2025" b="1">
                  <a:latin typeface="Pretendard"/>
                  <a:ea typeface="Pretendard"/>
                  <a:cs typeface="Pretendard"/>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l"/>
        <c:numFmt formatCode="General"/>
        <c:majorTickMark val="none"/>
        <c:minorTickMark val="none"/>
        <c:spPr>
          <a:ln w="9525">
            <a:solidFill>
              <a:srgbClr val="D4D4D4"/>
            </a:solidFill>
            <a:prstDash val="solid"/>
          </a:ln>
        </c:spPr>
        <c:txPr>
          <a:bodyPr anchorCtr="1"/>
          <a:lstStyle/>
          <a:p>
            <a:pPr>
              <a:defRPr sz="1800">
                <a:solidFill>
                  <a:srgbClr val="666666"/>
                </a:solidFill>
                <a:latin typeface="Pretendard"/>
                <a:ea typeface="Pretendard"/>
                <a:cs typeface="Pretendard"/>
              </a:defRPr>
            </a:pPr>
          </a:p>
        </c:txPr>
        <c:crossAx val="48672768"/>
      </c:catAx>
      <c:valAx>
        <c:axId val="48672768"/>
        <c:scaling>
          <c:orientation val="minMax"/>
          <c:max val="1.1"/>
          <c:min val="0"/>
        </c:scaling>
        <c:delete val="0"/>
        <c:axPos val="b"/>
        <c:majorGridlines>
          <c:spPr>
            <a:ln w="9525">
              <a:solidFill>
                <a:srgbClr val="DCE2DF"/>
              </a:solidFill>
            </a:ln>
          </c:spPr>
        </c:majorGridlines>
        <c:numFmt formatCode="0.0"/>
        <c:majorTickMark val="none"/>
        <c:minorTickMark val="none"/>
        <c:spPr>
          <a:ln w="9525">
            <a:solidFill>
              <a:srgbClr val="D4D4D4"/>
            </a:solidFill>
            <a:prstDash val="solid"/>
          </a:ln>
        </c:spPr>
        <c:txPr>
          <a:bodyPr anchorCtr="1"/>
          <a:lstStyle/>
          <a:p>
            <a:pPr>
              <a:defRPr sz="1650">
                <a:solidFill>
                  <a:srgbClr val="666666"/>
                </a:solidFill>
                <a:latin typeface="Pretendard"/>
                <a:ea typeface="Pretendard"/>
                <a:cs typeface="Pretendard"/>
              </a:defRPr>
            </a:pPr>
          </a:p>
        </c:txPr>
        <c:crossAx val="48650112"/>
        <c:crossBetween val="between"/>
        <c:majorUnit val="0.2"/>
      </c:valAx>
      <c:spPr>
        <a:solidFill>
          <a:srgbClr val="FAF9F6"/>
        </a:solidFill>
      </c:spPr>
    </c:plotArea>
    <c:plotVisOnly val="1"/>
  </c:chart>
  <c:spPr>
    <a:solidFill>
      <a:srgbClr val="FAF9F6"/>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25485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A5D8425-247E-46DC-880E-89D4CE7EA306}"/>
              </a:ext>
            </a:extLst>
          </p:cNvPr>
          <p:cNvSpPr>
            <a:spLocks xmlns:a="http://schemas.openxmlformats.org/drawingml/2006/main" noGrp="1"/>
          </p:cNvSpPr>
          <p:nvPr/>
        </p:nvSpPr>
        <p:spPr>
          <a:xfrm xmlns:a="http://schemas.openxmlformats.org/drawingml/2006/main">
            <a:off x="685800" y="2143125"/>
            <a:ext cx="81915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8850" b="1">
                <a:solidFill>
                  <a:srgbClr val="FFFFFF"/>
                </a:solidFill>
              </a:defRPr>
            </a:defPPr>
          </a:lstStyle>
          <a:p xmlns:a="http://schemas.openxmlformats.org/drawingml/2006/main">
            <a:pPr>
              <a:buNone/>
              <a:defRPr sz="8850" b="1">
                <a:solidFill>
                  <a:srgbClr val="FFFFFF"/>
                </a:solidFill>
              </a:defRPr>
            </a:pPr>
            <a:r>
              <a:rPr sz="8850" b="1">
                <a:solidFill>
                  <a:srgbClr val="FFFFFF"/>
                </a:solidFill>
                <a:latin typeface="Pretendard"/>
                <a:ea typeface="Pretendard"/>
                <a:cs typeface="Pretendard"/>
              </a:rPr>
              <a:t>고잉</a:t>
            </a:r>
          </a:p>
        </p:txBody>
      </p:sp>
      <p:sp>
        <p:nvSpPr>
          <p:cNvPr id="2" name="">
            <a:extLst xmlns:a="http://schemas.openxmlformats.org/drawingml/2006/main">
              <a:ext uri="{FF2B5EF4-FFF2-40B4-BE49-F238E27FC236}">
                <a16:creationId xmlns:a16="http://schemas.microsoft.com/office/drawing/2014/main" id="{A6934A2F-0790-4E65-8437-CB30FA968C92}"/>
              </a:ext>
            </a:extLst>
          </p:cNvPr>
          <p:cNvSpPr>
            <a:spLocks xmlns:a="http://schemas.openxmlformats.org/drawingml/2006/main" noGrp="1"/>
          </p:cNvSpPr>
          <p:nvPr/>
        </p:nvSpPr>
        <p:spPr>
          <a:xfrm xmlns:a="http://schemas.openxmlformats.org/drawingml/2006/main">
            <a:off x="723900" y="3876675"/>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0">
                <a:solidFill>
                  <a:srgbClr val="E9EFEC"/>
                </a:solidFill>
              </a:defRPr>
            </a:defPPr>
          </a:lstStyle>
          <a:p xmlns:a="http://schemas.openxmlformats.org/drawingml/2006/main">
            <a:pPr>
              <a:defRPr sz="3150" b="0">
                <a:solidFill>
                  <a:srgbClr val="E9EFEC"/>
                </a:solidFill>
              </a:defRPr>
            </a:pPr>
            <a:r>
              <a:rPr sz="3150" b="0">
                <a:solidFill>
                  <a:srgbClr val="E9EFEC"/>
                </a:solidFill>
                <a:latin typeface="Pretendard"/>
                <a:ea typeface="Pretendard"/>
                <a:cs typeface="Pretendard"/>
              </a:rPr>
              <a:t>내 여행의 예약과 가고 싶은 곳</a:t>
            </a:r>
          </a:p>
        </p:txBody>
      </p:sp>
      <p:sp>
        <p:nvSpPr>
          <p:cNvPr id="3" name="">
            <a:extLst xmlns:a="http://schemas.openxmlformats.org/drawingml/2006/main">
              <a:ext uri="{FF2B5EF4-FFF2-40B4-BE49-F238E27FC236}">
                <a16:creationId xmlns:a16="http://schemas.microsoft.com/office/drawing/2014/main" id="{252317A4-00D0-48D7-991D-C77ABB2313FC}"/>
              </a:ext>
            </a:extLst>
          </p:cNvPr>
          <p:cNvSpPr>
            <a:spLocks xmlns:a="http://schemas.openxmlformats.org/drawingml/2006/main" noGrp="1"/>
          </p:cNvSpPr>
          <p:nvPr/>
        </p:nvSpPr>
        <p:spPr>
          <a:xfrm xmlns:a="http://schemas.openxmlformats.org/drawingml/2006/main">
            <a:off x="742950" y="1543050"/>
            <a:ext cx="209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BFD4D3"/>
                </a:solidFill>
              </a:defRPr>
            </a:defPPr>
          </a:lstStyle>
          <a:p xmlns:a="http://schemas.openxmlformats.org/drawingml/2006/main">
            <a:pPr>
              <a:buNone/>
              <a:defRPr sz="2100" b="0">
                <a:solidFill>
                  <a:srgbClr val="BFD4D3"/>
                </a:solidFill>
              </a:defRPr>
            </a:pPr>
            <a:r>
              <a:rPr sz="2100" b="0">
                <a:solidFill>
                  <a:srgbClr val="BFD4D3"/>
                </a:solidFill>
                <a:latin typeface="Pretendard"/>
                <a:ea typeface="Pretendard"/>
                <a:cs typeface="Pretendard"/>
              </a:rPr>
              <a:t>GOING</a:t>
            </a:r>
          </a:p>
        </p:txBody>
      </p:sp>
      <p:pic>
        <p:nvPicPr>
          <p:cNvPr id="4" name="">
            <a:extLst xmlns:a="http://schemas.openxmlformats.org/drawingml/2006/main">
              <a:ext uri="{FF2B5EF4-FFF2-40B4-BE49-F238E27FC236}">
                <a16:creationId xmlns:a16="http://schemas.microsoft.com/office/drawing/2014/main" id="{3867D017-F3C7-4DD9-9869-CAEEED3C3796}"/>
              </a:ext>
            </a:extLst>
          </p:cNvPr>
          <p:cNvPicPr>
            <a:picLocks xmlns:a="http://schemas.openxmlformats.org/drawingml/2006/main" noChangeAspect="1"/>
          </p:cNvPicPr>
          <p:nvPr/>
        </p:nvPicPr>
        <p:blipFill>
          <a:blip xmlns:r="http://schemas.openxmlformats.org/officeDocument/2006/relationships" xmlns:a="http://schemas.openxmlformats.org/drawingml/2006/main" r:embed="R64f80ed9daf6406a"/>
          <a:stretch xmlns:a="http://schemas.openxmlformats.org/drawingml/2006/main"/>
        </p:blipFill>
        <p:spPr>
          <a:xfrm xmlns:a="http://schemas.openxmlformats.org/drawingml/2006/main">
            <a:off x="9334500" y="2190750"/>
            <a:ext cx="1714500" cy="1714500"/>
          </a:xfrm>
          <a:prstGeom xmlns:a="http://schemas.openxmlformats.org/drawingml/2006/main" prst="rect">
            <a:avLst/>
          </a:prstGeom>
        </p:spPr>
      </p:pic>
    </p:spTree>
    <p:extLst>
      <p:ext uri="{BB962C8B-B14F-4D97-AF65-F5344CB8AC3E}">
        <p14:creationId xmlns:p14="http://schemas.microsoft.com/office/powerpoint/2010/main" val="364238547"/>
      </p:ext>
    </p:extLst>
  </p:cSld>
</p:sld>
</file>

<file path=ppt/slides/slide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3C4896C-C7B6-4226-83A1-E5AD3BAF9CBB}"/>
              </a:ext>
            </a:extLst>
          </p:cNvPr>
          <p:cNvSpPr>
            <a:spLocks xmlns:a="http://schemas.openxmlformats.org/drawingml/2006/main" noGrp="1"/>
          </p:cNvSpPr>
          <p:nvPr/>
        </p:nvSpPr>
        <p:spPr>
          <a:xfrm xmlns:a="http://schemas.openxmlformats.org/drawingml/2006/main">
            <a:off x="609600" y="50482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25485A"/>
                </a:solidFill>
              </a:defRPr>
            </a:defPPr>
          </a:lstStyle>
          <a:p xmlns:a="http://schemas.openxmlformats.org/drawingml/2006/main">
            <a:pPr>
              <a:defRPr sz="3300" b="1">
                <a:solidFill>
                  <a:srgbClr val="25485A"/>
                </a:solidFill>
              </a:defRPr>
            </a:pPr>
            <a:r>
              <a:rPr sz="3300" b="1">
                <a:solidFill>
                  <a:srgbClr val="25485A"/>
                </a:solidFill>
                <a:latin typeface="Pretendard"/>
                <a:ea typeface="Pretendard"/>
                <a:cs typeface="Pretendard"/>
              </a:rPr>
              <a:t>여행 하나를 중심으로</a:t>
            </a:r>
          </a:p>
        </p:txBody>
      </p:sp>
      <p:sp>
        <p:nvSpPr>
          <p:cNvPr id="2" name="">
            <a:extLst xmlns:a="http://schemas.openxmlformats.org/drawingml/2006/main">
              <a:ext uri="{FF2B5EF4-FFF2-40B4-BE49-F238E27FC236}">
                <a16:creationId xmlns:a16="http://schemas.microsoft.com/office/drawing/2014/main" id="{E6BF20B4-5702-43F1-B36D-7528392AF214}"/>
              </a:ext>
            </a:extLst>
          </p:cNvPr>
          <p:cNvSpPr>
            <a:spLocks xmlns:a="http://schemas.openxmlformats.org/drawingml/2006/main" noGrp="1"/>
          </p:cNvSpPr>
          <p:nvPr/>
        </p:nvSpPr>
        <p:spPr>
          <a:xfrm xmlns:a="http://schemas.openxmlformats.org/drawingml/2006/main">
            <a:off x="609600" y="12287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86970"/>
                </a:solidFill>
              </a:defRPr>
            </a:defPPr>
          </a:lstStyle>
          <a:p xmlns:a="http://schemas.openxmlformats.org/drawingml/2006/main">
            <a:pPr>
              <a:defRPr sz="2025" b="0">
                <a:solidFill>
                  <a:srgbClr val="586970"/>
                </a:solidFill>
              </a:defRPr>
            </a:pPr>
            <a:r>
              <a:rPr sz="2025" b="0">
                <a:solidFill>
                  <a:srgbClr val="586970"/>
                </a:solidFill>
                <a:latin typeface="Pretendard"/>
                <a:ea typeface="Pretendard"/>
                <a:cs typeface="Pretendard"/>
              </a:rPr>
              <a:t>도시와 날짜를 입력하면 다음 화면에서도 이어서 사용합니다</a:t>
            </a:r>
          </a:p>
        </p:txBody>
      </p:sp>
      <p:sp>
        <p:nvSpPr>
          <p:cNvPr id="3" name="">
            <a:extLst xmlns:a="http://schemas.openxmlformats.org/drawingml/2006/main">
              <a:ext uri="{FF2B5EF4-FFF2-40B4-BE49-F238E27FC236}">
                <a16:creationId xmlns:a16="http://schemas.microsoft.com/office/drawing/2014/main" id="{AE04BD13-C65A-4368-8604-35724C2E2F19}"/>
              </a:ext>
            </a:extLst>
          </p:cNvPr>
          <p:cNvSpPr>
            <a:spLocks xmlns:a="http://schemas.openxmlformats.org/drawingml/2006/main" noGrp="1"/>
          </p:cNvSpPr>
          <p:nvPr/>
        </p:nvSpPr>
        <p:spPr>
          <a:xfrm xmlns:a="http://schemas.openxmlformats.org/drawingml/2006/main">
            <a:off x="10953750" y="6343650"/>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586970"/>
                </a:solidFill>
              </a:defRPr>
            </a:defPPr>
          </a:lstStyle>
          <a:p xmlns:a="http://schemas.openxmlformats.org/drawingml/2006/main">
            <a:pPr>
              <a:defRPr sz="1500" b="0">
                <a:solidFill>
                  <a:srgbClr val="586970"/>
                </a:solidFill>
              </a:defRPr>
            </a:pPr>
            <a:r>
              <a:rPr sz="1500" b="0">
                <a:solidFill>
                  <a:srgbClr val="586970"/>
                </a:solidFill>
                <a:latin typeface="Pretendard"/>
                <a:ea typeface="Pretendard"/>
                <a:cs typeface="Pretendard"/>
              </a:rPr>
              <a:t>2 / 10</a:t>
            </a:r>
          </a:p>
        </p:txBody>
      </p:sp>
      <p:sp>
        <p:nvSpPr>
          <p:cNvPr id="4" name="">
            <a:extLst xmlns:a="http://schemas.openxmlformats.org/drawingml/2006/main">
              <a:ext uri="{FF2B5EF4-FFF2-40B4-BE49-F238E27FC236}">
                <a16:creationId xmlns:a16="http://schemas.microsoft.com/office/drawing/2014/main" id="{9987CA5A-7B27-44C9-A6C8-3ACA04C5ED48}"/>
              </a:ext>
            </a:extLst>
          </p:cNvPr>
          <p:cNvSpPr>
            <a:spLocks xmlns:a="http://schemas.openxmlformats.org/drawingml/2006/main" noGrp="1"/>
          </p:cNvSpPr>
          <p:nvPr/>
        </p:nvSpPr>
        <p:spPr>
          <a:xfrm xmlns:a="http://schemas.openxmlformats.org/drawingml/2006/main">
            <a:off x="609600" y="2257425"/>
            <a:ext cx="3905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25485A"/>
                </a:solidFill>
              </a:defRPr>
            </a:defPPr>
          </a:lstStyle>
          <a:p xmlns:a="http://schemas.openxmlformats.org/drawingml/2006/main">
            <a:pPr>
              <a:defRPr sz="2475" b="1">
                <a:solidFill>
                  <a:srgbClr val="25485A"/>
                </a:solidFill>
              </a:defRPr>
            </a:pPr>
            <a:r>
              <a:rPr sz="2475" b="1">
                <a:solidFill>
                  <a:srgbClr val="25485A"/>
                </a:solidFill>
                <a:latin typeface="Pretendard"/>
                <a:ea typeface="Pretendard"/>
                <a:cs typeface="Pretendard"/>
              </a:rPr>
              <a:t>여행 정보 한 번 입력</a:t>
            </a:r>
          </a:p>
        </p:txBody>
      </p:sp>
      <p:sp>
        <p:nvSpPr>
          <p:cNvPr id="5" name="">
            <a:extLst xmlns:a="http://schemas.openxmlformats.org/drawingml/2006/main">
              <a:ext uri="{FF2B5EF4-FFF2-40B4-BE49-F238E27FC236}">
                <a16:creationId xmlns:a16="http://schemas.microsoft.com/office/drawing/2014/main" id="{927571B7-B041-4026-937B-8C31A64EB458}"/>
              </a:ext>
            </a:extLst>
          </p:cNvPr>
          <p:cNvSpPr>
            <a:spLocks xmlns:a="http://schemas.openxmlformats.org/drawingml/2006/main" noGrp="1"/>
          </p:cNvSpPr>
          <p:nvPr/>
        </p:nvSpPr>
        <p:spPr>
          <a:xfrm xmlns:a="http://schemas.openxmlformats.org/drawingml/2006/main">
            <a:off x="609600" y="3381375"/>
            <a:ext cx="3905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25485A"/>
                </a:solidFill>
              </a:defRPr>
            </a:defPPr>
          </a:lstStyle>
          <a:p xmlns:a="http://schemas.openxmlformats.org/drawingml/2006/main">
            <a:pPr>
              <a:defRPr sz="2475" b="1">
                <a:solidFill>
                  <a:srgbClr val="25485A"/>
                </a:solidFill>
              </a:defRPr>
            </a:pPr>
            <a:r>
              <a:rPr sz="2475" b="1">
                <a:solidFill>
                  <a:srgbClr val="25485A"/>
                </a:solidFill>
                <a:latin typeface="Pretendard"/>
                <a:ea typeface="Pretendard"/>
                <a:cs typeface="Pretendard"/>
              </a:rPr>
              <a:t>메일 없이도 시작</a:t>
            </a:r>
          </a:p>
        </p:txBody>
      </p:sp>
      <p:sp>
        <p:nvSpPr>
          <p:cNvPr id="6" name="">
            <a:extLst xmlns:a="http://schemas.openxmlformats.org/drawingml/2006/main">
              <a:ext uri="{FF2B5EF4-FFF2-40B4-BE49-F238E27FC236}">
                <a16:creationId xmlns:a16="http://schemas.microsoft.com/office/drawing/2014/main" id="{D56F88CF-E3FB-41BA-9599-2B834B6A88DF}"/>
              </a:ext>
            </a:extLst>
          </p:cNvPr>
          <p:cNvSpPr>
            <a:spLocks xmlns:a="http://schemas.openxmlformats.org/drawingml/2006/main" noGrp="1"/>
          </p:cNvSpPr>
          <p:nvPr/>
        </p:nvSpPr>
        <p:spPr>
          <a:xfrm xmlns:a="http://schemas.openxmlformats.org/drawingml/2006/main">
            <a:off x="609600" y="4676775"/>
            <a:ext cx="3810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586970"/>
                </a:solidFill>
              </a:defRPr>
            </a:defPPr>
          </a:lstStyle>
          <a:p xmlns:a="http://schemas.openxmlformats.org/drawingml/2006/main">
            <a:pPr>
              <a:defRPr sz="2175" b="0">
                <a:solidFill>
                  <a:srgbClr val="586970"/>
                </a:solidFill>
              </a:defRPr>
            </a:pPr>
            <a:r>
              <a:rPr sz="2175" b="0">
                <a:solidFill>
                  <a:srgbClr val="586970"/>
                </a:solidFill>
                <a:latin typeface="Pretendard"/>
                <a:ea typeface="Pretendard"/>
                <a:cs typeface="Pretendard"/>
              </a:rPr>
              <a:t>필요할 때 숙소와</a:t>
            </a:r>
            <a:br>
              <a:rPr sz="2175" b="0">
                <a:solidFill>
                  <a:srgbClr val="586970"/>
                </a:solidFill>
                <a:latin typeface="Pretendard"/>
                <a:ea typeface="Pretendard"/>
                <a:cs typeface="Pretendard"/>
              </a:rPr>
            </a:br>
            <a:r>
              <a:rPr sz="2175" b="0">
                <a:solidFill>
                  <a:srgbClr val="586970"/>
                </a:solidFill>
                <a:latin typeface="Pretendard"/>
                <a:ea typeface="Pretendard"/>
                <a:cs typeface="Pretendard"/>
              </a:rPr>
              <a:t>취향을 추가합니다</a:t>
            </a:r>
          </a:p>
        </p:txBody>
      </p:sp>
      <p:pic>
        <p:nvPicPr>
          <p:cNvPr id="7" name="">
            <a:extLst xmlns:a="http://schemas.openxmlformats.org/drawingml/2006/main">
              <a:ext uri="{FF2B5EF4-FFF2-40B4-BE49-F238E27FC236}">
                <a16:creationId xmlns:a16="http://schemas.microsoft.com/office/drawing/2014/main" id="{5726B356-1615-44F0-AFBF-7A7DD15A707D}"/>
              </a:ext>
            </a:extLst>
          </p:cNvPr>
          <p:cNvPicPr>
            <a:picLocks xmlns:a="http://schemas.openxmlformats.org/drawingml/2006/main" noChangeAspect="1"/>
          </p:cNvPicPr>
          <p:nvPr/>
        </p:nvPicPr>
        <p:blipFill>
          <a:blip xmlns:r="http://schemas.openxmlformats.org/officeDocument/2006/relationships" xmlns:a="http://schemas.openxmlformats.org/drawingml/2006/main" r:embed="R213f6c6768194850"/>
          <a:stretch xmlns:a="http://schemas.openxmlformats.org/drawingml/2006/main"/>
        </p:blipFill>
        <p:spPr>
          <a:xfrm xmlns:a="http://schemas.openxmlformats.org/drawingml/2006/main">
            <a:off x="4905375" y="2059753"/>
            <a:ext cx="6648450" cy="4205345"/>
          </a:xfrm>
          <a:prstGeom xmlns:a="http://schemas.openxmlformats.org/drawingml/2006/main" prst="rect">
            <a:avLst/>
          </a:prstGeom>
        </p:spPr>
      </p:pic>
    </p:spTree>
    <p:extLst>
      <p:ext uri="{BB962C8B-B14F-4D97-AF65-F5344CB8AC3E}">
        <p14:creationId xmlns:p14="http://schemas.microsoft.com/office/powerpoint/2010/main" val="978322306"/>
      </p:ext>
    </p:extLst>
  </p:cSld>
</p:sld>
</file>

<file path=ppt/slides/slide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6267A52-3A57-46E1-B4CF-6AB53B4CEED5}"/>
              </a:ext>
            </a:extLst>
          </p:cNvPr>
          <p:cNvSpPr>
            <a:spLocks xmlns:a="http://schemas.openxmlformats.org/drawingml/2006/main" noGrp="1"/>
          </p:cNvSpPr>
          <p:nvPr/>
        </p:nvSpPr>
        <p:spPr>
          <a:xfrm xmlns:a="http://schemas.openxmlformats.org/drawingml/2006/main">
            <a:off x="609600" y="50482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25485A"/>
                </a:solidFill>
              </a:defRPr>
            </a:defPPr>
          </a:lstStyle>
          <a:p xmlns:a="http://schemas.openxmlformats.org/drawingml/2006/main">
            <a:pPr>
              <a:defRPr sz="3300" b="1">
                <a:solidFill>
                  <a:srgbClr val="25485A"/>
                </a:solidFill>
              </a:defRPr>
            </a:pPr>
            <a:r>
              <a:rPr sz="3300" b="1">
                <a:solidFill>
                  <a:srgbClr val="25485A"/>
                </a:solidFill>
                <a:latin typeface="Pretendard"/>
                <a:ea typeface="Pretendard"/>
                <a:cs typeface="Pretendard"/>
              </a:rPr>
              <a:t>예약 메일과 질문</a:t>
            </a:r>
          </a:p>
        </p:txBody>
      </p:sp>
      <p:sp>
        <p:nvSpPr>
          <p:cNvPr id="2" name="">
            <a:extLst xmlns:a="http://schemas.openxmlformats.org/drawingml/2006/main">
              <a:ext uri="{FF2B5EF4-FFF2-40B4-BE49-F238E27FC236}">
                <a16:creationId xmlns:a16="http://schemas.microsoft.com/office/drawing/2014/main" id="{0D6F449E-1531-4A8E-9146-73B29E4E1A73}"/>
              </a:ext>
            </a:extLst>
          </p:cNvPr>
          <p:cNvSpPr>
            <a:spLocks xmlns:a="http://schemas.openxmlformats.org/drawingml/2006/main" noGrp="1"/>
          </p:cNvSpPr>
          <p:nvPr/>
        </p:nvSpPr>
        <p:spPr>
          <a:xfrm xmlns:a="http://schemas.openxmlformats.org/drawingml/2006/main">
            <a:off x="609600" y="12287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86970"/>
                </a:solidFill>
              </a:defRPr>
            </a:defPPr>
          </a:lstStyle>
          <a:p xmlns:a="http://schemas.openxmlformats.org/drawingml/2006/main">
            <a:pPr>
              <a:defRPr sz="2025" b="0">
                <a:solidFill>
                  <a:srgbClr val="586970"/>
                </a:solidFill>
              </a:defRPr>
            </a:pPr>
            <a:r>
              <a:rPr sz="2025" b="0">
                <a:solidFill>
                  <a:srgbClr val="586970"/>
                </a:solidFill>
                <a:latin typeface="Pretendard"/>
                <a:ea typeface="Pretendard"/>
                <a:cs typeface="Pretendard"/>
              </a:rPr>
              <a:t>메일을 올리고, 필요한 정보를 물어봅니다</a:t>
            </a:r>
          </a:p>
        </p:txBody>
      </p:sp>
      <p:sp>
        <p:nvSpPr>
          <p:cNvPr id="3" name="">
            <a:extLst xmlns:a="http://schemas.openxmlformats.org/drawingml/2006/main">
              <a:ext uri="{FF2B5EF4-FFF2-40B4-BE49-F238E27FC236}">
                <a16:creationId xmlns:a16="http://schemas.microsoft.com/office/drawing/2014/main" id="{D2C8853B-FB4A-4A50-AB6B-FCB3CFDCEBCA}"/>
              </a:ext>
            </a:extLst>
          </p:cNvPr>
          <p:cNvSpPr>
            <a:spLocks xmlns:a="http://schemas.openxmlformats.org/drawingml/2006/main" noGrp="1"/>
          </p:cNvSpPr>
          <p:nvPr/>
        </p:nvSpPr>
        <p:spPr>
          <a:xfrm xmlns:a="http://schemas.openxmlformats.org/drawingml/2006/main">
            <a:off x="10953750" y="6343650"/>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586970"/>
                </a:solidFill>
              </a:defRPr>
            </a:defPPr>
          </a:lstStyle>
          <a:p xmlns:a="http://schemas.openxmlformats.org/drawingml/2006/main">
            <a:pPr>
              <a:defRPr sz="1500" b="0">
                <a:solidFill>
                  <a:srgbClr val="586970"/>
                </a:solidFill>
              </a:defRPr>
            </a:pPr>
            <a:r>
              <a:rPr sz="1500" b="0">
                <a:solidFill>
                  <a:srgbClr val="586970"/>
                </a:solidFill>
                <a:latin typeface="Pretendard"/>
                <a:ea typeface="Pretendard"/>
                <a:cs typeface="Pretendard"/>
              </a:rPr>
              <a:t>3 / 10</a:t>
            </a:r>
          </a:p>
        </p:txBody>
      </p:sp>
      <p:sp>
        <p:nvSpPr>
          <p:cNvPr id="4" name="">
            <a:extLst xmlns:a="http://schemas.openxmlformats.org/drawingml/2006/main">
              <a:ext uri="{FF2B5EF4-FFF2-40B4-BE49-F238E27FC236}">
                <a16:creationId xmlns:a16="http://schemas.microsoft.com/office/drawing/2014/main" id="{19450294-A816-4BC9-8A52-3EB26679B0CA}"/>
              </a:ext>
            </a:extLst>
          </p:cNvPr>
          <p:cNvSpPr>
            <a:spLocks xmlns:a="http://schemas.openxmlformats.org/drawingml/2006/main" noGrp="1"/>
          </p:cNvSpPr>
          <p:nvPr/>
        </p:nvSpPr>
        <p:spPr>
          <a:xfrm xmlns:a="http://schemas.openxmlformats.org/drawingml/2006/main">
            <a:off x="609600" y="220027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25485A"/>
                </a:solidFill>
              </a:defRPr>
            </a:defPPr>
          </a:lstStyle>
          <a:p xmlns:a="http://schemas.openxmlformats.org/drawingml/2006/main">
            <a:pPr>
              <a:defRPr sz="2475" b="1">
                <a:solidFill>
                  <a:srgbClr val="25485A"/>
                </a:solidFill>
              </a:defRPr>
            </a:pPr>
            <a:r>
              <a:rPr sz="2475" b="1">
                <a:solidFill>
                  <a:srgbClr val="25485A"/>
                </a:solidFill>
                <a:latin typeface="Pretendard"/>
                <a:ea typeface="Pretendard"/>
                <a:cs typeface="Pretendard"/>
              </a:rPr>
              <a:t>메일에서 예약 추출</a:t>
            </a:r>
            <a:br>
              <a:rPr sz="2475" b="1">
                <a:solidFill>
                  <a:srgbClr val="25485A"/>
                </a:solidFill>
                <a:latin typeface="Pretendard"/>
                <a:ea typeface="Pretendard"/>
                <a:cs typeface="Pretendard"/>
              </a:rPr>
            </a:br>
            <a:r>
              <a:rPr sz="2475" b="1">
                <a:solidFill>
                  <a:srgbClr val="25485A"/>
                </a:solidFill>
                <a:latin typeface="Pretendard"/>
                <a:ea typeface="Pretendard"/>
                <a:cs typeface="Pretendard"/>
              </a:rPr>
              <a:t>잘못 읽은 값은 수정</a:t>
            </a:r>
          </a:p>
        </p:txBody>
      </p:sp>
      <p:sp>
        <p:nvSpPr>
          <p:cNvPr id="5" name="">
            <a:extLst xmlns:a="http://schemas.openxmlformats.org/drawingml/2006/main">
              <a:ext uri="{FF2B5EF4-FFF2-40B4-BE49-F238E27FC236}">
                <a16:creationId xmlns:a16="http://schemas.microsoft.com/office/drawing/2014/main" id="{FAE12C0F-E7D7-43A9-A4AA-832F8444C21B}"/>
              </a:ext>
            </a:extLst>
          </p:cNvPr>
          <p:cNvSpPr>
            <a:spLocks xmlns:a="http://schemas.openxmlformats.org/drawingml/2006/main" noGrp="1"/>
          </p:cNvSpPr>
          <p:nvPr/>
        </p:nvSpPr>
        <p:spPr>
          <a:xfrm xmlns:a="http://schemas.openxmlformats.org/drawingml/2006/main">
            <a:off x="609600" y="3724275"/>
            <a:ext cx="3333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325" b="0">
                <a:solidFill>
                  <a:srgbClr val="202C31"/>
                </a:solidFill>
              </a:defRPr>
            </a:defPPr>
          </a:lstStyle>
          <a:p xmlns:a="http://schemas.openxmlformats.org/drawingml/2006/main">
            <a:pPr>
              <a:defRPr sz="2325" b="0">
                <a:solidFill>
                  <a:srgbClr val="202C31"/>
                </a:solidFill>
              </a:defRPr>
            </a:pPr>
            <a:r>
              <a:rPr sz="2325" b="0">
                <a:solidFill>
                  <a:srgbClr val="202C31"/>
                </a:solidFill>
                <a:latin typeface="Pretendard"/>
                <a:ea typeface="Pretendard"/>
                <a:cs typeface="Pretendard"/>
              </a:rPr>
              <a:t>“2일차 예약을</a:t>
            </a:r>
            <a:br>
              <a:rPr sz="2325" b="0">
                <a:solidFill>
                  <a:srgbClr val="202C31"/>
                </a:solidFill>
                <a:latin typeface="Pretendard"/>
                <a:ea typeface="Pretendard"/>
                <a:cs typeface="Pretendard"/>
              </a:rPr>
            </a:br>
            <a:r>
              <a:rPr sz="2325" b="0">
                <a:solidFill>
                  <a:srgbClr val="202C31"/>
                </a:solidFill>
                <a:latin typeface="Pretendard"/>
                <a:ea typeface="Pretendard"/>
                <a:cs typeface="Pretendard"/>
              </a:rPr>
              <a:t>전부 알려줘”</a:t>
            </a:r>
          </a:p>
        </p:txBody>
      </p:sp>
      <p:sp>
        <p:nvSpPr>
          <p:cNvPr id="6" name="">
            <a:extLst xmlns:a="http://schemas.openxmlformats.org/drawingml/2006/main">
              <a:ext uri="{FF2B5EF4-FFF2-40B4-BE49-F238E27FC236}">
                <a16:creationId xmlns:a16="http://schemas.microsoft.com/office/drawing/2014/main" id="{11DC3D28-C7DC-46A8-8F8E-4AE32E27A8B5}"/>
              </a:ext>
            </a:extLst>
          </p:cNvPr>
          <p:cNvSpPr>
            <a:spLocks xmlns:a="http://schemas.openxmlformats.org/drawingml/2006/main" noGrp="1"/>
          </p:cNvSpPr>
          <p:nvPr/>
        </p:nvSpPr>
        <p:spPr>
          <a:xfrm xmlns:a="http://schemas.openxmlformats.org/drawingml/2006/main">
            <a:off x="609600" y="55911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586970"/>
                </a:solidFill>
              </a:defRPr>
            </a:defPPr>
          </a:lstStyle>
          <a:p xmlns:a="http://schemas.openxmlformats.org/drawingml/2006/main">
            <a:pPr>
              <a:defRPr sz="1950" b="0">
                <a:solidFill>
                  <a:srgbClr val="586970"/>
                </a:solidFill>
              </a:defRPr>
            </a:pPr>
            <a:r>
              <a:rPr sz="1950" b="0">
                <a:solidFill>
                  <a:srgbClr val="586970"/>
                </a:solidFill>
                <a:latin typeface="Pretendard"/>
                <a:ea typeface="Pretendard"/>
                <a:cs typeface="Pretendard"/>
              </a:rPr>
              <a:t>답변에서 원문 근거 확인</a:t>
            </a:r>
          </a:p>
        </p:txBody>
      </p:sp>
      <p:pic>
        <p:nvPicPr>
          <p:cNvPr id="7" name="">
            <a:extLst xmlns:a="http://schemas.openxmlformats.org/drawingml/2006/main">
              <a:ext uri="{FF2B5EF4-FFF2-40B4-BE49-F238E27FC236}">
                <a16:creationId xmlns:a16="http://schemas.microsoft.com/office/drawing/2014/main" id="{D37ECD7F-5278-4C3F-AD8B-02442B728FB6}"/>
              </a:ext>
            </a:extLst>
          </p:cNvPr>
          <p:cNvPicPr>
            <a:picLocks xmlns:a="http://schemas.openxmlformats.org/drawingml/2006/main" noChangeAspect="1"/>
          </p:cNvPicPr>
          <p:nvPr/>
        </p:nvPicPr>
        <p:blipFill>
          <a:blip xmlns:r="http://schemas.openxmlformats.org/officeDocument/2006/relationships" xmlns:a="http://schemas.openxmlformats.org/drawingml/2006/main" r:embed="R9c5611e82a934744"/>
          <a:stretch xmlns:a="http://schemas.openxmlformats.org/drawingml/2006/main"/>
        </p:blipFill>
        <p:spPr>
          <a:xfrm xmlns:a="http://schemas.openxmlformats.org/drawingml/2006/main">
            <a:off x="4602389" y="1933575"/>
            <a:ext cx="6625771" cy="4191000"/>
          </a:xfrm>
          <a:prstGeom xmlns:a="http://schemas.openxmlformats.org/drawingml/2006/main" prst="rect">
            <a:avLst/>
          </a:prstGeom>
        </p:spPr>
      </p:pic>
    </p:spTree>
    <p:extLst>
      <p:ext uri="{BB962C8B-B14F-4D97-AF65-F5344CB8AC3E}">
        <p14:creationId xmlns:p14="http://schemas.microsoft.com/office/powerpoint/2010/main" val="1689142933"/>
      </p:ext>
    </p:extLst>
  </p:cSld>
</p:sld>
</file>

<file path=ppt/slides/slide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9B0A62-4DE4-470C-9C60-A711C104F5CD}"/>
              </a:ext>
            </a:extLst>
          </p:cNvPr>
          <p:cNvSpPr>
            <a:spLocks xmlns:a="http://schemas.openxmlformats.org/drawingml/2006/main" noGrp="1"/>
          </p:cNvSpPr>
          <p:nvPr/>
        </p:nvSpPr>
        <p:spPr>
          <a:xfrm xmlns:a="http://schemas.openxmlformats.org/drawingml/2006/main">
            <a:off x="609600" y="50482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25485A"/>
                </a:solidFill>
              </a:defRPr>
            </a:defPPr>
          </a:lstStyle>
          <a:p xmlns:a="http://schemas.openxmlformats.org/drawingml/2006/main">
            <a:pPr>
              <a:defRPr sz="3300" b="1">
                <a:solidFill>
                  <a:srgbClr val="25485A"/>
                </a:solidFill>
              </a:defRPr>
            </a:pPr>
            <a:r>
              <a:rPr sz="3300" b="1">
                <a:solidFill>
                  <a:srgbClr val="25485A"/>
                </a:solidFill>
                <a:latin typeface="Pretendard"/>
                <a:ea typeface="Pretendard"/>
                <a:cs typeface="Pretendard"/>
              </a:rPr>
              <a:t>현지어 리뷰와 유명한 곳</a:t>
            </a:r>
          </a:p>
        </p:txBody>
      </p:sp>
      <p:sp>
        <p:nvSpPr>
          <p:cNvPr id="2" name="">
            <a:extLst xmlns:a="http://schemas.openxmlformats.org/drawingml/2006/main">
              <a:ext uri="{FF2B5EF4-FFF2-40B4-BE49-F238E27FC236}">
                <a16:creationId xmlns:a16="http://schemas.microsoft.com/office/drawing/2014/main" id="{57D3F642-073E-4B79-9849-EC8589FC670D}"/>
              </a:ext>
            </a:extLst>
          </p:cNvPr>
          <p:cNvSpPr>
            <a:spLocks xmlns:a="http://schemas.openxmlformats.org/drawingml/2006/main" noGrp="1"/>
          </p:cNvSpPr>
          <p:nvPr/>
        </p:nvSpPr>
        <p:spPr>
          <a:xfrm xmlns:a="http://schemas.openxmlformats.org/drawingml/2006/main">
            <a:off x="609600" y="12287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86970"/>
                </a:solidFill>
              </a:defRPr>
            </a:defPPr>
          </a:lstStyle>
          <a:p xmlns:a="http://schemas.openxmlformats.org/drawingml/2006/main">
            <a:pPr>
              <a:defRPr sz="2025" b="0">
                <a:solidFill>
                  <a:srgbClr val="586970"/>
                </a:solidFill>
              </a:defRPr>
            </a:pPr>
            <a:r>
              <a:rPr sz="2025" b="0">
                <a:solidFill>
                  <a:srgbClr val="586970"/>
                </a:solidFill>
                <a:latin typeface="Pretendard"/>
                <a:ea typeface="Pretendard"/>
                <a:cs typeface="Pretendard"/>
              </a:rPr>
              <a:t>여행에서 가고 싶은 곳을 두 방식으로 찾습니다</a:t>
            </a:r>
          </a:p>
        </p:txBody>
      </p:sp>
      <p:sp>
        <p:nvSpPr>
          <p:cNvPr id="3" name="">
            <a:extLst xmlns:a="http://schemas.openxmlformats.org/drawingml/2006/main">
              <a:ext uri="{FF2B5EF4-FFF2-40B4-BE49-F238E27FC236}">
                <a16:creationId xmlns:a16="http://schemas.microsoft.com/office/drawing/2014/main" id="{95EB6EFD-9114-44EA-B03E-96C722B1A025}"/>
              </a:ext>
            </a:extLst>
          </p:cNvPr>
          <p:cNvSpPr>
            <a:spLocks xmlns:a="http://schemas.openxmlformats.org/drawingml/2006/main" noGrp="1"/>
          </p:cNvSpPr>
          <p:nvPr/>
        </p:nvSpPr>
        <p:spPr>
          <a:xfrm xmlns:a="http://schemas.openxmlformats.org/drawingml/2006/main">
            <a:off x="10953750" y="6343650"/>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586970"/>
                </a:solidFill>
              </a:defRPr>
            </a:defPPr>
          </a:lstStyle>
          <a:p xmlns:a="http://schemas.openxmlformats.org/drawingml/2006/main">
            <a:pPr>
              <a:defRPr sz="1500" b="0">
                <a:solidFill>
                  <a:srgbClr val="586970"/>
                </a:solidFill>
              </a:defRPr>
            </a:pPr>
            <a:r>
              <a:rPr sz="1500" b="0">
                <a:solidFill>
                  <a:srgbClr val="586970"/>
                </a:solidFill>
                <a:latin typeface="Pretendard"/>
                <a:ea typeface="Pretendard"/>
                <a:cs typeface="Pretendard"/>
              </a:rPr>
              <a:t>4 / 10</a:t>
            </a:r>
          </a:p>
        </p:txBody>
      </p:sp>
      <p:sp>
        <p:nvSpPr>
          <p:cNvPr id="4" name="">
            <a:extLst xmlns:a="http://schemas.openxmlformats.org/drawingml/2006/main">
              <a:ext uri="{FF2B5EF4-FFF2-40B4-BE49-F238E27FC236}">
                <a16:creationId xmlns:a16="http://schemas.microsoft.com/office/drawing/2014/main" id="{BAE3AE0F-4922-46F8-9273-FB79F9CDF163}"/>
              </a:ext>
            </a:extLst>
          </p:cNvPr>
          <p:cNvSpPr>
            <a:spLocks xmlns:a="http://schemas.openxmlformats.org/drawingml/2006/main" noGrp="1"/>
          </p:cNvSpPr>
          <p:nvPr/>
        </p:nvSpPr>
        <p:spPr>
          <a:xfrm xmlns:a="http://schemas.openxmlformats.org/drawingml/2006/main">
            <a:off x="609600" y="21907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3F706F"/>
                </a:solidFill>
              </a:defRPr>
            </a:defPPr>
          </a:lstStyle>
          <a:p xmlns:a="http://schemas.openxmlformats.org/drawingml/2006/main">
            <a:pPr>
              <a:defRPr sz="2850" b="1">
                <a:solidFill>
                  <a:srgbClr val="3F706F"/>
                </a:solidFill>
              </a:defRPr>
            </a:pPr>
            <a:r>
              <a:rPr sz="2850" b="1">
                <a:solidFill>
                  <a:srgbClr val="3F706F"/>
                </a:solidFill>
                <a:latin typeface="Pretendard"/>
                <a:ea typeface="Pretendard"/>
                <a:cs typeface="Pretendard"/>
              </a:rPr>
              <a:t>현지어 리뷰로 찾기</a:t>
            </a:r>
          </a:p>
        </p:txBody>
      </p:sp>
      <p:sp>
        <p:nvSpPr>
          <p:cNvPr id="5" name="">
            <a:extLst xmlns:a="http://schemas.openxmlformats.org/drawingml/2006/main">
              <a:ext uri="{FF2B5EF4-FFF2-40B4-BE49-F238E27FC236}">
                <a16:creationId xmlns:a16="http://schemas.microsoft.com/office/drawing/2014/main" id="{E98E2302-3F66-48F2-B56D-8344EDAEA039}"/>
              </a:ext>
            </a:extLst>
          </p:cNvPr>
          <p:cNvSpPr>
            <a:spLocks xmlns:a="http://schemas.openxmlformats.org/drawingml/2006/main" noGrp="1"/>
          </p:cNvSpPr>
          <p:nvPr/>
        </p:nvSpPr>
        <p:spPr>
          <a:xfrm xmlns:a="http://schemas.openxmlformats.org/drawingml/2006/main">
            <a:off x="609600" y="3086100"/>
            <a:ext cx="509587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325" b="0">
                <a:solidFill>
                  <a:srgbClr val="202C31"/>
                </a:solidFill>
              </a:defRPr>
            </a:defPPr>
          </a:lstStyle>
          <a:p xmlns:a="http://schemas.openxmlformats.org/drawingml/2006/main">
            <a:pPr>
              <a:defRPr sz="2325" b="0">
                <a:solidFill>
                  <a:srgbClr val="202C31"/>
                </a:solidFill>
              </a:defRPr>
            </a:pPr>
            <a:r>
              <a:rPr sz="2325" b="0">
                <a:solidFill>
                  <a:srgbClr val="202C31"/>
                </a:solidFill>
                <a:latin typeface="Pretendard"/>
                <a:ea typeface="Pretendard"/>
                <a:cs typeface="Pretendard"/>
              </a:rPr>
              <a:t>현지어 많고 한국어 적은 곳</a:t>
            </a:r>
            <a:br>
              <a:rPr sz="2325" b="0">
                <a:solidFill>
                  <a:srgbClr val="202C31"/>
                </a:solidFill>
                <a:latin typeface="Pretendard"/>
                <a:ea typeface="Pretendard"/>
                <a:cs typeface="Pretendard"/>
              </a:rPr>
            </a:br>
            <a:r>
              <a:rPr sz="2325" b="0">
                <a:solidFill>
                  <a:srgbClr val="202C31"/>
                </a:solidFill>
                <a:latin typeface="Pretendard"/>
                <a:ea typeface="Pretendard"/>
                <a:cs typeface="Pretendard"/>
              </a:rPr>
              <a:t>미판별 리뷰도 함께 계산</a:t>
            </a:r>
            <a:br>
              <a:rPr sz="2325" b="0">
                <a:solidFill>
                  <a:srgbClr val="202C31"/>
                </a:solidFill>
                <a:latin typeface="Pretendard"/>
                <a:ea typeface="Pretendard"/>
                <a:cs typeface="Pretendard"/>
              </a:rPr>
            </a:br>
            <a:r>
              <a:rPr sz="2325" b="0">
                <a:solidFill>
                  <a:srgbClr val="202C31"/>
                </a:solidFill>
                <a:latin typeface="Pretendard"/>
                <a:ea typeface="Pretendard"/>
                <a:cs typeface="Pretendard"/>
              </a:rPr>
              <a:t>주민 비율로 단정하지 않음</a:t>
            </a:r>
          </a:p>
        </p:txBody>
      </p:sp>
      <p:sp>
        <p:nvSpPr>
          <p:cNvPr id="6" name="">
            <a:extLst xmlns:a="http://schemas.openxmlformats.org/drawingml/2006/main">
              <a:ext uri="{FF2B5EF4-FFF2-40B4-BE49-F238E27FC236}">
                <a16:creationId xmlns:a16="http://schemas.microsoft.com/office/drawing/2014/main" id="{F149B5A3-B1D7-4BBD-92F3-BEBFE8D6A122}"/>
              </a:ext>
            </a:extLst>
          </p:cNvPr>
          <p:cNvSpPr>
            <a:spLocks xmlns:a="http://schemas.openxmlformats.org/drawingml/2006/main" noGrp="1"/>
          </p:cNvSpPr>
          <p:nvPr/>
        </p:nvSpPr>
        <p:spPr>
          <a:xfrm xmlns:a="http://schemas.openxmlformats.org/drawingml/2006/main">
            <a:off x="6419850" y="2190750"/>
            <a:ext cx="51625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25485A"/>
                </a:solidFill>
              </a:defRPr>
            </a:defPPr>
          </a:lstStyle>
          <a:p xmlns:a="http://schemas.openxmlformats.org/drawingml/2006/main">
            <a:pPr>
              <a:defRPr sz="2850" b="1">
                <a:solidFill>
                  <a:srgbClr val="25485A"/>
                </a:solidFill>
              </a:defRPr>
            </a:pPr>
            <a:r>
              <a:rPr sz="2850" b="1">
                <a:solidFill>
                  <a:srgbClr val="25485A"/>
                </a:solidFill>
                <a:latin typeface="Pretendard"/>
                <a:ea typeface="Pretendard"/>
                <a:cs typeface="Pretendard"/>
              </a:rPr>
              <a:t>유명한 곳</a:t>
            </a:r>
          </a:p>
        </p:txBody>
      </p:sp>
      <p:sp>
        <p:nvSpPr>
          <p:cNvPr id="7" name="">
            <a:extLst xmlns:a="http://schemas.openxmlformats.org/drawingml/2006/main">
              <a:ext uri="{FF2B5EF4-FFF2-40B4-BE49-F238E27FC236}">
                <a16:creationId xmlns:a16="http://schemas.microsoft.com/office/drawing/2014/main" id="{D95087A2-F8CE-45FD-AC07-0082A3F11519}"/>
              </a:ext>
            </a:extLst>
          </p:cNvPr>
          <p:cNvSpPr>
            <a:spLocks xmlns:a="http://schemas.openxmlformats.org/drawingml/2006/main" noGrp="1"/>
          </p:cNvSpPr>
          <p:nvPr/>
        </p:nvSpPr>
        <p:spPr>
          <a:xfrm xmlns:a="http://schemas.openxmlformats.org/drawingml/2006/main">
            <a:off x="6419850" y="3086100"/>
            <a:ext cx="51625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325" b="0">
                <a:solidFill>
                  <a:srgbClr val="202C31"/>
                </a:solidFill>
              </a:defRPr>
            </a:defPPr>
          </a:lstStyle>
          <a:p xmlns:a="http://schemas.openxmlformats.org/drawingml/2006/main">
            <a:pPr>
              <a:defRPr sz="2325" b="0">
                <a:solidFill>
                  <a:srgbClr val="202C31"/>
                </a:solidFill>
              </a:defRPr>
            </a:pPr>
            <a:r>
              <a:rPr sz="2325" b="0">
                <a:solidFill>
                  <a:srgbClr val="202C31"/>
                </a:solidFill>
                <a:latin typeface="Pretendard"/>
                <a:ea typeface="Pretendard"/>
                <a:cs typeface="Pretendard"/>
              </a:rPr>
              <a:t>공식적으로 소개된 명소</a:t>
            </a:r>
            <a:br>
              <a:rPr sz="2325" b="0">
                <a:solidFill>
                  <a:srgbClr val="202C31"/>
                </a:solidFill>
                <a:latin typeface="Pretendard"/>
                <a:ea typeface="Pretendard"/>
                <a:cs typeface="Pretendard"/>
              </a:rPr>
            </a:br>
            <a:r>
              <a:rPr sz="2325" b="0">
                <a:solidFill>
                  <a:srgbClr val="202C31"/>
                </a:solidFill>
                <a:latin typeface="Pretendard"/>
                <a:ea typeface="Pretendard"/>
                <a:cs typeface="Pretendard"/>
              </a:rPr>
              <a:t>같은 플랫폼의 평가 규모</a:t>
            </a:r>
            <a:br>
              <a:rPr sz="2325" b="0">
                <a:solidFill>
                  <a:srgbClr val="202C31"/>
                </a:solidFill>
                <a:latin typeface="Pretendard"/>
                <a:ea typeface="Pretendard"/>
                <a:cs typeface="Pretendard"/>
              </a:rPr>
            </a:br>
            <a:r>
              <a:rPr sz="2325" b="0">
                <a:solidFill>
                  <a:srgbClr val="202C31"/>
                </a:solidFill>
                <a:latin typeface="Pretendard"/>
                <a:ea typeface="Pretendard"/>
                <a:cs typeface="Pretendard"/>
              </a:rPr>
              <a:t>편집 자료의 선정 이유</a:t>
            </a:r>
          </a:p>
        </p:txBody>
      </p:sp>
      <p:sp>
        <p:nvSpPr>
          <p:cNvPr id="8" name="">
            <a:extLst xmlns:a="http://schemas.openxmlformats.org/drawingml/2006/main">
              <a:ext uri="{FF2B5EF4-FFF2-40B4-BE49-F238E27FC236}">
                <a16:creationId xmlns:a16="http://schemas.microsoft.com/office/drawing/2014/main" id="{07F6E29C-034B-4351-BE24-0CB91306E722}"/>
              </a:ext>
            </a:extLst>
          </p:cNvPr>
          <p:cNvSpPr>
            <a:spLocks xmlns:a="http://schemas.openxmlformats.org/drawingml/2006/main" noGrp="1"/>
          </p:cNvSpPr>
          <p:nvPr/>
        </p:nvSpPr>
        <p:spPr>
          <a:xfrm xmlns:a="http://schemas.openxmlformats.org/drawingml/2006/main">
            <a:off x="609600" y="56578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996D50"/>
                </a:solidFill>
              </a:defRPr>
            </a:defPPr>
          </a:lstStyle>
          <a:p xmlns:a="http://schemas.openxmlformats.org/drawingml/2006/main">
            <a:pPr>
              <a:defRPr sz="1950" b="0">
                <a:solidFill>
                  <a:srgbClr val="996D50"/>
                </a:solidFill>
              </a:defRPr>
            </a:pPr>
            <a:r>
              <a:rPr sz="1950" b="0">
                <a:solidFill>
                  <a:srgbClr val="996D50"/>
                </a:solidFill>
                <a:latin typeface="Pretendard"/>
                <a:ea typeface="Pretendard"/>
                <a:cs typeface="Pretendard"/>
              </a:rPr>
              <a:t>엄격한 현지어 추천은 실제 리뷰·언어 품질 검증 전 OFF</a:t>
            </a:r>
          </a:p>
        </p:txBody>
      </p:sp>
    </p:spTree>
    <p:extLst>
      <p:ext uri="{BB962C8B-B14F-4D97-AF65-F5344CB8AC3E}">
        <p14:creationId xmlns:p14="http://schemas.microsoft.com/office/powerpoint/2010/main" val="1599887618"/>
      </p:ext>
    </p:extLst>
  </p:cSld>
</p:sld>
</file>

<file path=ppt/slides/slide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3FC4829-69D4-43F7-B0E9-86BC0F7303EA}"/>
              </a:ext>
            </a:extLst>
          </p:cNvPr>
          <p:cNvSpPr>
            <a:spLocks xmlns:a="http://schemas.openxmlformats.org/drawingml/2006/main" noGrp="1"/>
          </p:cNvSpPr>
          <p:nvPr/>
        </p:nvSpPr>
        <p:spPr>
          <a:xfrm xmlns:a="http://schemas.openxmlformats.org/drawingml/2006/main">
            <a:off x="609600" y="50482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25485A"/>
                </a:solidFill>
              </a:defRPr>
            </a:defPPr>
          </a:lstStyle>
          <a:p xmlns:a="http://schemas.openxmlformats.org/drawingml/2006/main">
            <a:pPr>
              <a:defRPr sz="3300" b="1">
                <a:solidFill>
                  <a:srgbClr val="25485A"/>
                </a:solidFill>
              </a:defRPr>
            </a:pPr>
            <a:r>
              <a:rPr sz="3300" b="1">
                <a:solidFill>
                  <a:srgbClr val="25485A"/>
                </a:solidFill>
                <a:latin typeface="Pretendard"/>
                <a:ea typeface="Pretendard"/>
                <a:cs typeface="Pretendard"/>
              </a:rPr>
              <a:t>살펴보고, 저장하고, 비교하기</a:t>
            </a:r>
          </a:p>
        </p:txBody>
      </p:sp>
      <p:sp>
        <p:nvSpPr>
          <p:cNvPr id="2" name="">
            <a:extLst xmlns:a="http://schemas.openxmlformats.org/drawingml/2006/main">
              <a:ext uri="{FF2B5EF4-FFF2-40B4-BE49-F238E27FC236}">
                <a16:creationId xmlns:a16="http://schemas.microsoft.com/office/drawing/2014/main" id="{35336657-9FBA-481F-AB0B-C6D67DF7D7B9}"/>
              </a:ext>
            </a:extLst>
          </p:cNvPr>
          <p:cNvSpPr>
            <a:spLocks xmlns:a="http://schemas.openxmlformats.org/drawingml/2006/main" noGrp="1"/>
          </p:cNvSpPr>
          <p:nvPr/>
        </p:nvSpPr>
        <p:spPr>
          <a:xfrm xmlns:a="http://schemas.openxmlformats.org/drawingml/2006/main">
            <a:off x="609600" y="12287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86970"/>
                </a:solidFill>
              </a:defRPr>
            </a:defPPr>
          </a:lstStyle>
          <a:p xmlns:a="http://schemas.openxmlformats.org/drawingml/2006/main">
            <a:pPr>
              <a:defRPr sz="2025" b="0">
                <a:solidFill>
                  <a:srgbClr val="586970"/>
                </a:solidFill>
              </a:defRPr>
            </a:pPr>
            <a:r>
              <a:rPr sz="2025" b="0">
                <a:solidFill>
                  <a:srgbClr val="586970"/>
                </a:solidFill>
                <a:latin typeface="Pretendard"/>
                <a:ea typeface="Pretendard"/>
                <a:cs typeface="Pretendard"/>
              </a:rPr>
              <a:t>사진뿐 아니라 방문 조건과 정보의 출처도 확인합니다</a:t>
            </a:r>
          </a:p>
        </p:txBody>
      </p:sp>
      <p:sp>
        <p:nvSpPr>
          <p:cNvPr id="3" name="">
            <a:extLst xmlns:a="http://schemas.openxmlformats.org/drawingml/2006/main">
              <a:ext uri="{FF2B5EF4-FFF2-40B4-BE49-F238E27FC236}">
                <a16:creationId xmlns:a16="http://schemas.microsoft.com/office/drawing/2014/main" id="{7A692081-8AF8-4979-93B1-A146BCC1F0DB}"/>
              </a:ext>
            </a:extLst>
          </p:cNvPr>
          <p:cNvSpPr>
            <a:spLocks xmlns:a="http://schemas.openxmlformats.org/drawingml/2006/main" noGrp="1"/>
          </p:cNvSpPr>
          <p:nvPr/>
        </p:nvSpPr>
        <p:spPr>
          <a:xfrm xmlns:a="http://schemas.openxmlformats.org/drawingml/2006/main">
            <a:off x="10953750" y="6343650"/>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586970"/>
                </a:solidFill>
              </a:defRPr>
            </a:defPPr>
          </a:lstStyle>
          <a:p xmlns:a="http://schemas.openxmlformats.org/drawingml/2006/main">
            <a:pPr>
              <a:defRPr sz="1500" b="0">
                <a:solidFill>
                  <a:srgbClr val="586970"/>
                </a:solidFill>
              </a:defRPr>
            </a:pPr>
            <a:r>
              <a:rPr sz="1500" b="0">
                <a:solidFill>
                  <a:srgbClr val="586970"/>
                </a:solidFill>
                <a:latin typeface="Pretendard"/>
                <a:ea typeface="Pretendard"/>
                <a:cs typeface="Pretendard"/>
              </a:rPr>
              <a:t>5 / 10</a:t>
            </a:r>
          </a:p>
        </p:txBody>
      </p:sp>
      <p:sp>
        <p:nvSpPr>
          <p:cNvPr id="4" name="">
            <a:extLst xmlns:a="http://schemas.openxmlformats.org/drawingml/2006/main">
              <a:ext uri="{FF2B5EF4-FFF2-40B4-BE49-F238E27FC236}">
                <a16:creationId xmlns:a16="http://schemas.microsoft.com/office/drawing/2014/main" id="{3930265B-A2B8-45C6-B2A9-7230A8E6BD61}"/>
              </a:ext>
            </a:extLst>
          </p:cNvPr>
          <p:cNvSpPr>
            <a:spLocks xmlns:a="http://schemas.openxmlformats.org/drawingml/2006/main" noGrp="1"/>
          </p:cNvSpPr>
          <p:nvPr/>
        </p:nvSpPr>
        <p:spPr>
          <a:xfrm xmlns:a="http://schemas.openxmlformats.org/drawingml/2006/main">
            <a:off x="609600" y="2124075"/>
            <a:ext cx="4048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25485A"/>
                </a:solidFill>
              </a:defRPr>
            </a:defPPr>
          </a:lstStyle>
          <a:p xmlns:a="http://schemas.openxmlformats.org/drawingml/2006/main">
            <a:pPr>
              <a:defRPr sz="2550" b="1">
                <a:solidFill>
                  <a:srgbClr val="25485A"/>
                </a:solidFill>
              </a:defRPr>
            </a:pPr>
            <a:r>
              <a:rPr sz="2550" b="1">
                <a:solidFill>
                  <a:srgbClr val="25485A"/>
                </a:solidFill>
                <a:latin typeface="Pretendard"/>
                <a:ea typeface="Pretendard"/>
                <a:cs typeface="Pretendard"/>
              </a:rPr>
              <a:t>사진과 추천 이유</a:t>
            </a:r>
          </a:p>
        </p:txBody>
      </p:sp>
      <p:sp>
        <p:nvSpPr>
          <p:cNvPr id="5" name="">
            <a:extLst xmlns:a="http://schemas.openxmlformats.org/drawingml/2006/main">
              <a:ext uri="{FF2B5EF4-FFF2-40B4-BE49-F238E27FC236}">
                <a16:creationId xmlns:a16="http://schemas.microsoft.com/office/drawing/2014/main" id="{A3C5982A-DC11-4E4E-929D-FF2F8C1D992B}"/>
              </a:ext>
            </a:extLst>
          </p:cNvPr>
          <p:cNvSpPr>
            <a:spLocks xmlns:a="http://schemas.openxmlformats.org/drawingml/2006/main" noGrp="1"/>
          </p:cNvSpPr>
          <p:nvPr/>
        </p:nvSpPr>
        <p:spPr>
          <a:xfrm xmlns:a="http://schemas.openxmlformats.org/drawingml/2006/main">
            <a:off x="609600" y="3048000"/>
            <a:ext cx="4048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202C31"/>
                </a:solidFill>
              </a:defRPr>
            </a:defPPr>
          </a:lstStyle>
          <a:p xmlns:a="http://schemas.openxmlformats.org/drawingml/2006/main">
            <a:pPr>
              <a:defRPr sz="2175" b="0">
                <a:solidFill>
                  <a:srgbClr val="202C31"/>
                </a:solidFill>
              </a:defRPr>
            </a:pPr>
            <a:r>
              <a:rPr sz="2175" b="0">
                <a:solidFill>
                  <a:srgbClr val="202C31"/>
                </a:solidFill>
                <a:latin typeface="Pretendard"/>
                <a:ea typeface="Pretendard"/>
                <a:cs typeface="Pretendard"/>
              </a:rPr>
              <a:t>영업·예약·가격의 출처</a:t>
            </a:r>
          </a:p>
        </p:txBody>
      </p:sp>
      <p:sp>
        <p:nvSpPr>
          <p:cNvPr id="6" name="">
            <a:extLst xmlns:a="http://schemas.openxmlformats.org/drawingml/2006/main">
              <a:ext uri="{FF2B5EF4-FFF2-40B4-BE49-F238E27FC236}">
                <a16:creationId xmlns:a16="http://schemas.microsoft.com/office/drawing/2014/main" id="{7C82B675-A42F-4BA0-8E6A-8AC82FB6907D}"/>
              </a:ext>
            </a:extLst>
          </p:cNvPr>
          <p:cNvSpPr>
            <a:spLocks xmlns:a="http://schemas.openxmlformats.org/drawingml/2006/main" noGrp="1"/>
          </p:cNvSpPr>
          <p:nvPr/>
        </p:nvSpPr>
        <p:spPr>
          <a:xfrm xmlns:a="http://schemas.openxmlformats.org/drawingml/2006/main">
            <a:off x="609600" y="3962400"/>
            <a:ext cx="4048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202C31"/>
                </a:solidFill>
              </a:defRPr>
            </a:defPPr>
          </a:lstStyle>
          <a:p xmlns:a="http://schemas.openxmlformats.org/drawingml/2006/main">
            <a:pPr>
              <a:defRPr sz="2175" b="0">
                <a:solidFill>
                  <a:srgbClr val="202C31"/>
                </a:solidFill>
              </a:defRPr>
            </a:pPr>
            <a:r>
              <a:rPr sz="2175" b="0">
                <a:solidFill>
                  <a:srgbClr val="202C31"/>
                </a:solidFill>
                <a:latin typeface="Pretendard"/>
                <a:ea typeface="Pretendard"/>
                <a:cs typeface="Pretendard"/>
              </a:rPr>
              <a:t>저장하고 최대 3곳 비교</a:t>
            </a:r>
          </a:p>
        </p:txBody>
      </p:sp>
      <p:sp>
        <p:nvSpPr>
          <p:cNvPr id="7" name="">
            <a:extLst xmlns:a="http://schemas.openxmlformats.org/drawingml/2006/main">
              <a:ext uri="{FF2B5EF4-FFF2-40B4-BE49-F238E27FC236}">
                <a16:creationId xmlns:a16="http://schemas.microsoft.com/office/drawing/2014/main" id="{25AE8488-D3A3-456F-9703-F6444BD268D3}"/>
              </a:ext>
            </a:extLst>
          </p:cNvPr>
          <p:cNvSpPr>
            <a:spLocks xmlns:a="http://schemas.openxmlformats.org/drawingml/2006/main" noGrp="1"/>
          </p:cNvSpPr>
          <p:nvPr/>
        </p:nvSpPr>
        <p:spPr>
          <a:xfrm xmlns:a="http://schemas.openxmlformats.org/drawingml/2006/main">
            <a:off x="609600" y="4876800"/>
            <a:ext cx="4048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202C31"/>
                </a:solidFill>
              </a:defRPr>
            </a:defPPr>
          </a:lstStyle>
          <a:p xmlns:a="http://schemas.openxmlformats.org/drawingml/2006/main">
            <a:pPr>
              <a:defRPr sz="2175" b="0">
                <a:solidFill>
                  <a:srgbClr val="202C31"/>
                </a:solidFill>
              </a:defRPr>
            </a:pPr>
            <a:r>
              <a:rPr sz="2175" b="0">
                <a:solidFill>
                  <a:srgbClr val="202C31"/>
                </a:solidFill>
                <a:latin typeface="Pretendard"/>
                <a:ea typeface="Pretendard"/>
                <a:cs typeface="Pretendard"/>
              </a:rPr>
              <a:t>숙소 거리와 확인할 조건</a:t>
            </a:r>
          </a:p>
        </p:txBody>
      </p:sp>
      <p:sp>
        <p:nvSpPr>
          <p:cNvPr id="8" name="">
            <a:extLst xmlns:a="http://schemas.openxmlformats.org/drawingml/2006/main">
              <a:ext uri="{FF2B5EF4-FFF2-40B4-BE49-F238E27FC236}">
                <a16:creationId xmlns:a16="http://schemas.microsoft.com/office/drawing/2014/main" id="{2B55E22B-6B5E-4D1D-902D-C3CA9ECEDF2E}"/>
              </a:ext>
            </a:extLst>
          </p:cNvPr>
          <p:cNvSpPr>
            <a:spLocks xmlns:a="http://schemas.openxmlformats.org/drawingml/2006/main" noGrp="1"/>
          </p:cNvSpPr>
          <p:nvPr/>
        </p:nvSpPr>
        <p:spPr>
          <a:xfrm xmlns:a="http://schemas.openxmlformats.org/drawingml/2006/main">
            <a:off x="6419850" y="2581275"/>
            <a:ext cx="51435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7500" b="1">
                <a:solidFill>
                  <a:srgbClr val="996D50"/>
                </a:solidFill>
              </a:defRPr>
            </a:defPPr>
          </a:lstStyle>
          <a:p xmlns:a="http://schemas.openxmlformats.org/drawingml/2006/main">
            <a:pPr>
              <a:buNone/>
              <a:defRPr sz="7500" b="1">
                <a:solidFill>
                  <a:srgbClr val="996D50"/>
                </a:solidFill>
              </a:defRPr>
            </a:pPr>
            <a:r>
              <a:rPr sz="7500" b="1">
                <a:solidFill>
                  <a:srgbClr val="996D50"/>
                </a:solidFill>
                <a:latin typeface="Pretendard"/>
                <a:ea typeface="Pretendard"/>
                <a:cs typeface="Pretendard"/>
              </a:rPr>
              <a:t/>
            </a:r>
          </a:p>
        </p:txBody>
      </p:sp>
      <p:sp>
        <p:nvSpPr>
          <p:cNvPr id="9" name="">
            <a:extLst xmlns:a="http://schemas.openxmlformats.org/drawingml/2006/main">
              <a:ext uri="{FF2B5EF4-FFF2-40B4-BE49-F238E27FC236}">
                <a16:creationId xmlns:a16="http://schemas.microsoft.com/office/drawing/2014/main" id="{549408E9-CF6D-43C8-9D21-B851BB444AD2}"/>
              </a:ext>
            </a:extLst>
          </p:cNvPr>
          <p:cNvSpPr>
            <a:spLocks xmlns:a="http://schemas.openxmlformats.org/drawingml/2006/main" noGrp="1"/>
          </p:cNvSpPr>
          <p:nvPr/>
        </p:nvSpPr>
        <p:spPr>
          <a:xfrm xmlns:a="http://schemas.openxmlformats.org/drawingml/2006/main">
            <a:off x="6419850" y="4010025"/>
            <a:ext cx="51625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202C31"/>
                </a:solidFill>
              </a:defRPr>
            </a:defPPr>
          </a:lstStyle>
          <a:p xmlns:a="http://schemas.openxmlformats.org/drawingml/2006/main">
            <a:pPr>
              <a:buNone/>
              <a:defRPr sz="2250" b="0">
                <a:solidFill>
                  <a:srgbClr val="202C31"/>
                </a:solidFill>
              </a:defRPr>
            </a:pPr>
            <a:r>
              <a:rPr sz="2250" b="0">
                <a:solidFill>
                  <a:srgbClr val="202C31"/>
                </a:solidFill>
                <a:latin typeface="Pretendard"/>
                <a:ea typeface="Pretendard"/>
                <a:cs typeface="Pretendard"/>
              </a:rPr>
              <a:t/>
            </a:r>
          </a:p>
        </p:txBody>
      </p:sp>
      <p:sp>
        <p:nvSpPr>
          <p:cNvPr id="10" name="">
            <a:extLst xmlns:a="http://schemas.openxmlformats.org/drawingml/2006/main">
              <a:ext uri="{FF2B5EF4-FFF2-40B4-BE49-F238E27FC236}">
                <a16:creationId xmlns:a16="http://schemas.microsoft.com/office/drawing/2014/main" id="{9F8FD1C1-0074-4268-B6CB-36C4A2E36F00}"/>
              </a:ext>
            </a:extLst>
          </p:cNvPr>
          <p:cNvSpPr>
            <a:spLocks xmlns:a="http://schemas.openxmlformats.org/drawingml/2006/main" noGrp="1"/>
          </p:cNvSpPr>
          <p:nvPr/>
        </p:nvSpPr>
        <p:spPr>
          <a:xfrm xmlns:a="http://schemas.openxmlformats.org/drawingml/2006/main">
            <a:off x="609600" y="5019675"/>
            <a:ext cx="10953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86970"/>
                </a:solidFill>
              </a:defRPr>
            </a:defPPr>
          </a:lstStyle>
          <a:p xmlns:a="http://schemas.openxmlformats.org/drawingml/2006/main">
            <a:pPr>
              <a:buNone/>
              <a:defRPr sz="2025" b="0">
                <a:solidFill>
                  <a:srgbClr val="586970"/>
                </a:solidFill>
              </a:defRPr>
            </a:pPr>
            <a:r>
              <a:rPr sz="2025" b="0">
                <a:solidFill>
                  <a:srgbClr val="586970"/>
                </a:solidFill>
                <a:latin typeface="Pretendard"/>
                <a:ea typeface="Pretendard"/>
                <a:cs typeface="Pretendard"/>
              </a:rPr>
              <a:t/>
            </a:r>
          </a:p>
        </p:txBody>
      </p:sp>
      <p:sp>
        <p:nvSpPr>
          <p:cNvPr id="11" name="">
            <a:extLst xmlns:a="http://schemas.openxmlformats.org/drawingml/2006/main">
              <a:ext uri="{FF2B5EF4-FFF2-40B4-BE49-F238E27FC236}">
                <a16:creationId xmlns:a16="http://schemas.microsoft.com/office/drawing/2014/main" id="{B5F70353-51E9-4AE5-BC5E-AB89E75A3EE4}"/>
              </a:ext>
            </a:extLst>
          </p:cNvPr>
          <p:cNvSpPr>
            <a:spLocks xmlns:a="http://schemas.openxmlformats.org/drawingml/2006/main" noGrp="1"/>
          </p:cNvSpPr>
          <p:nvPr/>
        </p:nvSpPr>
        <p:spPr>
          <a:xfrm xmlns:a="http://schemas.openxmlformats.org/drawingml/2006/main">
            <a:off x="609600" y="57531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86970"/>
                </a:solidFill>
              </a:defRPr>
            </a:defPPr>
          </a:lstStyle>
          <a:p xmlns:a="http://schemas.openxmlformats.org/drawingml/2006/main">
            <a:pPr>
              <a:buNone/>
              <a:defRPr sz="1800" b="0">
                <a:solidFill>
                  <a:srgbClr val="586970"/>
                </a:solidFill>
              </a:defRPr>
            </a:pPr>
            <a:r>
              <a:rPr sz="1800" b="0">
                <a:solidFill>
                  <a:srgbClr val="586970"/>
                </a:solidFill>
                <a:latin typeface="Pretendard"/>
                <a:ea typeface="Pretendard"/>
                <a:cs typeface="Pretendard"/>
              </a:rPr>
              <a:t/>
            </a:r>
          </a:p>
        </p:txBody>
      </p:sp>
      <p:pic>
        <p:nvPicPr>
          <p:cNvPr id="13" name="">
            <a:extLst xmlns:a="http://schemas.openxmlformats.org/drawingml/2006/main">
              <a:ext uri="{FF2B5EF4-FFF2-40B4-BE49-F238E27FC236}">
                <a16:creationId xmlns:a16="http://schemas.microsoft.com/office/drawing/2014/main" id="{A26D9E22-2D46-4599-ACE2-64825B9633E9}"/>
              </a:ext>
            </a:extLst>
          </p:cNvPr>
          <p:cNvPicPr>
            <a:picLocks xmlns:a="http://schemas.openxmlformats.org/drawingml/2006/main" noChangeAspect="1"/>
          </p:cNvPicPr>
          <p:nvPr/>
        </p:nvPicPr>
        <p:blipFill>
          <a:blip xmlns:r="http://schemas.openxmlformats.org/officeDocument/2006/relationships" xmlns:a="http://schemas.openxmlformats.org/drawingml/2006/main" r:embed="R36a6939e099347d2"/>
          <a:stretch xmlns:a="http://schemas.openxmlformats.org/drawingml/2006/main"/>
        </p:blipFill>
        <p:spPr>
          <a:xfrm xmlns:a="http://schemas.openxmlformats.org/drawingml/2006/main">
            <a:off x="5846085" y="1971675"/>
            <a:ext cx="4728930" cy="4105275"/>
          </a:xfrm>
          <a:prstGeom xmlns:a="http://schemas.openxmlformats.org/drawingml/2006/main" prst="rect">
            <a:avLst/>
          </a:prstGeom>
        </p:spPr>
      </p:pic>
    </p:spTree>
    <p:extLst>
      <p:ext uri="{BB962C8B-B14F-4D97-AF65-F5344CB8AC3E}">
        <p14:creationId xmlns:p14="http://schemas.microsoft.com/office/powerpoint/2010/main" val="1405067471"/>
      </p:ext>
    </p:extLst>
  </p:cSld>
</p:sld>
</file>

<file path=ppt/slides/slide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1C8B5B-67AF-473D-9955-513115FDA40D}"/>
              </a:ext>
            </a:extLst>
          </p:cNvPr>
          <p:cNvSpPr>
            <a:spLocks xmlns:a="http://schemas.openxmlformats.org/drawingml/2006/main" noGrp="1"/>
          </p:cNvSpPr>
          <p:nvPr/>
        </p:nvSpPr>
        <p:spPr>
          <a:xfrm xmlns:a="http://schemas.openxmlformats.org/drawingml/2006/main">
            <a:off x="609600" y="50482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25485A"/>
                </a:solidFill>
              </a:defRPr>
            </a:defPPr>
          </a:lstStyle>
          <a:p xmlns:a="http://schemas.openxmlformats.org/drawingml/2006/main">
            <a:pPr>
              <a:defRPr sz="3300" b="1">
                <a:solidFill>
                  <a:srgbClr val="25485A"/>
                </a:solidFill>
              </a:defRPr>
            </a:pPr>
            <a:r>
              <a:rPr sz="3300" b="1">
                <a:solidFill>
                  <a:srgbClr val="25485A"/>
                </a:solidFill>
                <a:latin typeface="Pretendard"/>
                <a:ea typeface="Pretendard"/>
                <a:cs typeface="Pretendard"/>
              </a:rPr>
              <a:t>추천 순위를 계산하는 방법</a:t>
            </a:r>
          </a:p>
        </p:txBody>
      </p:sp>
      <p:sp>
        <p:nvSpPr>
          <p:cNvPr id="2" name="">
            <a:extLst xmlns:a="http://schemas.openxmlformats.org/drawingml/2006/main">
              <a:ext uri="{FF2B5EF4-FFF2-40B4-BE49-F238E27FC236}">
                <a16:creationId xmlns:a16="http://schemas.microsoft.com/office/drawing/2014/main" id="{9EB433EF-9910-440A-919C-9EBB4D76B3D9}"/>
              </a:ext>
            </a:extLst>
          </p:cNvPr>
          <p:cNvSpPr>
            <a:spLocks xmlns:a="http://schemas.openxmlformats.org/drawingml/2006/main" noGrp="1"/>
          </p:cNvSpPr>
          <p:nvPr/>
        </p:nvSpPr>
        <p:spPr>
          <a:xfrm xmlns:a="http://schemas.openxmlformats.org/drawingml/2006/main">
            <a:off x="609600" y="12287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86970"/>
                </a:solidFill>
              </a:defRPr>
            </a:defPPr>
          </a:lstStyle>
          <a:p xmlns:a="http://schemas.openxmlformats.org/drawingml/2006/main">
            <a:pPr>
              <a:defRPr sz="2025" b="0">
                <a:solidFill>
                  <a:srgbClr val="586970"/>
                </a:solidFill>
              </a:defRPr>
            </a:pPr>
            <a:r>
              <a:rPr sz="2025" b="0">
                <a:solidFill>
                  <a:srgbClr val="586970"/>
                </a:solidFill>
                <a:latin typeface="Pretendard"/>
                <a:ea typeface="Pretendard"/>
                <a:cs typeface="Pretendard"/>
              </a:rPr>
              <a:t>hybrid_v4 · 장소 정보와 여행 조건을 함께 사용하는 모델</a:t>
            </a:r>
          </a:p>
        </p:txBody>
      </p:sp>
      <p:sp>
        <p:nvSpPr>
          <p:cNvPr id="3" name="">
            <a:extLst xmlns:a="http://schemas.openxmlformats.org/drawingml/2006/main">
              <a:ext uri="{FF2B5EF4-FFF2-40B4-BE49-F238E27FC236}">
                <a16:creationId xmlns:a16="http://schemas.microsoft.com/office/drawing/2014/main" id="{03411DC4-94CC-410C-B2BF-793D99E98DFE}"/>
              </a:ext>
            </a:extLst>
          </p:cNvPr>
          <p:cNvSpPr>
            <a:spLocks xmlns:a="http://schemas.openxmlformats.org/drawingml/2006/main" noGrp="1"/>
          </p:cNvSpPr>
          <p:nvPr/>
        </p:nvSpPr>
        <p:spPr>
          <a:xfrm xmlns:a="http://schemas.openxmlformats.org/drawingml/2006/main">
            <a:off x="10953750" y="6343650"/>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586970"/>
                </a:solidFill>
              </a:defRPr>
            </a:defPPr>
          </a:lstStyle>
          <a:p xmlns:a="http://schemas.openxmlformats.org/drawingml/2006/main">
            <a:pPr>
              <a:defRPr sz="1500" b="0">
                <a:solidFill>
                  <a:srgbClr val="586970"/>
                </a:solidFill>
              </a:defRPr>
            </a:pPr>
            <a:r>
              <a:rPr sz="1500" b="0">
                <a:solidFill>
                  <a:srgbClr val="586970"/>
                </a:solidFill>
                <a:latin typeface="Pretendard"/>
                <a:ea typeface="Pretendard"/>
                <a:cs typeface="Pretendard"/>
              </a:rPr>
              <a:t>6 / 10</a:t>
            </a:r>
          </a:p>
        </p:txBody>
      </p:sp>
      <p:sp>
        <p:nvSpPr>
          <p:cNvPr id="4" name="">
            <a:extLst xmlns:a="http://schemas.openxmlformats.org/drawingml/2006/main">
              <a:ext uri="{FF2B5EF4-FFF2-40B4-BE49-F238E27FC236}">
                <a16:creationId xmlns:a16="http://schemas.microsoft.com/office/drawing/2014/main" id="{8B288187-5A9E-46EF-AA6C-E52985C965FC}"/>
              </a:ext>
            </a:extLst>
          </p:cNvPr>
          <p:cNvSpPr>
            <a:spLocks xmlns:a="http://schemas.openxmlformats.org/drawingml/2006/main" noGrp="1"/>
          </p:cNvSpPr>
          <p:nvPr/>
        </p:nvSpPr>
        <p:spPr>
          <a:xfrm xmlns:a="http://schemas.openxmlformats.org/drawingml/2006/main">
            <a:off x="609600" y="2124075"/>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25485A"/>
                </a:solidFill>
              </a:defRPr>
            </a:defPPr>
          </a:lstStyle>
          <a:p xmlns:a="http://schemas.openxmlformats.org/drawingml/2006/main">
            <a:pPr>
              <a:defRPr sz="2550" b="1">
                <a:solidFill>
                  <a:srgbClr val="25485A"/>
                </a:solidFill>
              </a:defRPr>
            </a:pPr>
            <a:r>
              <a:rPr sz="2550" b="1">
                <a:solidFill>
                  <a:srgbClr val="25485A"/>
                </a:solidFill>
                <a:latin typeface="Pretendard"/>
                <a:ea typeface="Pretendard"/>
                <a:cs typeface="Pretendard"/>
              </a:rPr>
              <a:t>취향 유사도</a:t>
            </a:r>
          </a:p>
        </p:txBody>
      </p:sp>
      <p:sp>
        <p:nvSpPr>
          <p:cNvPr id="5" name="">
            <a:extLst xmlns:a="http://schemas.openxmlformats.org/drawingml/2006/main">
              <a:ext uri="{FF2B5EF4-FFF2-40B4-BE49-F238E27FC236}">
                <a16:creationId xmlns:a16="http://schemas.microsoft.com/office/drawing/2014/main" id="{71CE75A5-88A6-4D0B-B078-FB9A66EC3D9E}"/>
              </a:ext>
            </a:extLst>
          </p:cNvPr>
          <p:cNvSpPr>
            <a:spLocks xmlns:a="http://schemas.openxmlformats.org/drawingml/2006/main" noGrp="1"/>
          </p:cNvSpPr>
          <p:nvPr/>
        </p:nvSpPr>
        <p:spPr>
          <a:xfrm xmlns:a="http://schemas.openxmlformats.org/drawingml/2006/main">
            <a:off x="3829050" y="2152650"/>
            <a:ext cx="76485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202C31"/>
                </a:solidFill>
              </a:defRPr>
            </a:defPPr>
          </a:lstStyle>
          <a:p xmlns:a="http://schemas.openxmlformats.org/drawingml/2006/main">
            <a:pPr>
              <a:defRPr sz="2175" b="0">
                <a:solidFill>
                  <a:srgbClr val="202C31"/>
                </a:solidFill>
              </a:defRPr>
            </a:pPr>
            <a:r>
              <a:rPr sz="2175" b="0">
                <a:solidFill>
                  <a:srgbClr val="202C31"/>
                </a:solidFill>
                <a:latin typeface="Pretendard"/>
                <a:ea typeface="Pretendard"/>
                <a:cs typeface="Pretendard"/>
              </a:rPr>
              <a:t>취향·장소 태그의 TF-IDF 코사인 유사도</a:t>
            </a:r>
          </a:p>
        </p:txBody>
      </p:sp>
      <p:sp>
        <p:nvSpPr>
          <p:cNvPr id="6" name="">
            <a:extLst xmlns:a="http://schemas.openxmlformats.org/drawingml/2006/main">
              <a:ext uri="{FF2B5EF4-FFF2-40B4-BE49-F238E27FC236}">
                <a16:creationId xmlns:a16="http://schemas.microsoft.com/office/drawing/2014/main" id="{1402B615-8FB7-4478-A07A-7D39513788F6}"/>
              </a:ext>
            </a:extLst>
          </p:cNvPr>
          <p:cNvSpPr>
            <a:spLocks xmlns:a="http://schemas.openxmlformats.org/drawingml/2006/main" noGrp="1"/>
          </p:cNvSpPr>
          <p:nvPr/>
        </p:nvSpPr>
        <p:spPr>
          <a:xfrm xmlns:a="http://schemas.openxmlformats.org/drawingml/2006/main">
            <a:off x="609600" y="3362325"/>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25485A"/>
                </a:solidFill>
              </a:defRPr>
            </a:defPPr>
          </a:lstStyle>
          <a:p xmlns:a="http://schemas.openxmlformats.org/drawingml/2006/main">
            <a:pPr>
              <a:defRPr sz="2550" b="1">
                <a:solidFill>
                  <a:srgbClr val="25485A"/>
                </a:solidFill>
              </a:defRPr>
            </a:pPr>
            <a:r>
              <a:rPr sz="2550" b="1">
                <a:solidFill>
                  <a:srgbClr val="25485A"/>
                </a:solidFill>
                <a:latin typeface="Pretendard"/>
                <a:ea typeface="Pretendard"/>
                <a:cs typeface="Pretendard"/>
              </a:rPr>
              <a:t>보정 평점</a:t>
            </a:r>
          </a:p>
        </p:txBody>
      </p:sp>
      <p:sp>
        <p:nvSpPr>
          <p:cNvPr id="7" name="">
            <a:extLst xmlns:a="http://schemas.openxmlformats.org/drawingml/2006/main">
              <a:ext uri="{FF2B5EF4-FFF2-40B4-BE49-F238E27FC236}">
                <a16:creationId xmlns:a16="http://schemas.microsoft.com/office/drawing/2014/main" id="{EC33E8AC-EF58-41E9-A577-AA2A992BE486}"/>
              </a:ext>
            </a:extLst>
          </p:cNvPr>
          <p:cNvSpPr>
            <a:spLocks xmlns:a="http://schemas.openxmlformats.org/drawingml/2006/main" noGrp="1"/>
          </p:cNvSpPr>
          <p:nvPr/>
        </p:nvSpPr>
        <p:spPr>
          <a:xfrm xmlns:a="http://schemas.openxmlformats.org/drawingml/2006/main">
            <a:off x="3829050" y="3390900"/>
            <a:ext cx="76485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202C31"/>
                </a:solidFill>
              </a:defRPr>
            </a:defPPr>
          </a:lstStyle>
          <a:p xmlns:a="http://schemas.openxmlformats.org/drawingml/2006/main">
            <a:pPr>
              <a:defRPr sz="2175" b="0">
                <a:solidFill>
                  <a:srgbClr val="202C31"/>
                </a:solidFill>
              </a:defRPr>
            </a:pPr>
            <a:r>
              <a:rPr sz="2175" b="0">
                <a:solidFill>
                  <a:srgbClr val="202C31"/>
                </a:solidFill>
                <a:latin typeface="Pretendard"/>
                <a:ea typeface="Pretendard"/>
                <a:cs typeface="Pretendard"/>
              </a:rPr>
              <a:t>평가가 적으면 같은 비교 집단의 평균으로 보정</a:t>
            </a:r>
          </a:p>
        </p:txBody>
      </p:sp>
      <p:sp>
        <p:nvSpPr>
          <p:cNvPr id="8" name="">
            <a:extLst xmlns:a="http://schemas.openxmlformats.org/drawingml/2006/main">
              <a:ext uri="{FF2B5EF4-FFF2-40B4-BE49-F238E27FC236}">
                <a16:creationId xmlns:a16="http://schemas.microsoft.com/office/drawing/2014/main" id="{76FE3F2E-B578-4120-8A88-265B8EF619F3}"/>
              </a:ext>
            </a:extLst>
          </p:cNvPr>
          <p:cNvSpPr>
            <a:spLocks xmlns:a="http://schemas.openxmlformats.org/drawingml/2006/main" noGrp="1"/>
          </p:cNvSpPr>
          <p:nvPr/>
        </p:nvSpPr>
        <p:spPr>
          <a:xfrm xmlns:a="http://schemas.openxmlformats.org/drawingml/2006/main">
            <a:off x="609600" y="4600575"/>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25485A"/>
                </a:solidFill>
              </a:defRPr>
            </a:defPPr>
          </a:lstStyle>
          <a:p xmlns:a="http://schemas.openxmlformats.org/drawingml/2006/main">
            <a:pPr>
              <a:defRPr sz="2550" b="1">
                <a:solidFill>
                  <a:srgbClr val="25485A"/>
                </a:solidFill>
              </a:defRPr>
            </a:pPr>
            <a:r>
              <a:rPr sz="2550" b="1">
                <a:solidFill>
                  <a:srgbClr val="25485A"/>
                </a:solidFill>
                <a:latin typeface="Pretendard"/>
                <a:ea typeface="Pretendard"/>
                <a:cs typeface="Pretendard"/>
              </a:rPr>
              <a:t>숙소와의 거리</a:t>
            </a:r>
          </a:p>
        </p:txBody>
      </p:sp>
      <p:sp>
        <p:nvSpPr>
          <p:cNvPr id="9" name="">
            <a:extLst xmlns:a="http://schemas.openxmlformats.org/drawingml/2006/main">
              <a:ext uri="{FF2B5EF4-FFF2-40B4-BE49-F238E27FC236}">
                <a16:creationId xmlns:a16="http://schemas.microsoft.com/office/drawing/2014/main" id="{7C149D60-94EB-4917-BC39-EF931E2695C2}"/>
              </a:ext>
            </a:extLst>
          </p:cNvPr>
          <p:cNvSpPr>
            <a:spLocks xmlns:a="http://schemas.openxmlformats.org/drawingml/2006/main" noGrp="1"/>
          </p:cNvSpPr>
          <p:nvPr/>
        </p:nvSpPr>
        <p:spPr>
          <a:xfrm xmlns:a="http://schemas.openxmlformats.org/drawingml/2006/main">
            <a:off x="3829050" y="4629150"/>
            <a:ext cx="76485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202C31"/>
                </a:solidFill>
              </a:defRPr>
            </a:defPPr>
          </a:lstStyle>
          <a:p xmlns:a="http://schemas.openxmlformats.org/drawingml/2006/main">
            <a:pPr>
              <a:defRPr sz="2175" b="0">
                <a:solidFill>
                  <a:srgbClr val="202C31"/>
                </a:solidFill>
              </a:defRPr>
            </a:pPr>
            <a:r>
              <a:rPr sz="2175" b="0">
                <a:solidFill>
                  <a:srgbClr val="202C31"/>
                </a:solidFill>
                <a:latin typeface="Pretendard"/>
                <a:ea typeface="Pretendard"/>
                <a:cs typeface="Pretendard"/>
              </a:rPr>
              <a:t>위치가 확인된 출발점의 직선거리 반영</a:t>
            </a:r>
          </a:p>
        </p:txBody>
      </p:sp>
      <p:sp>
        <p:nvSpPr>
          <p:cNvPr id="10" name="">
            <a:extLst xmlns:a="http://schemas.openxmlformats.org/drawingml/2006/main">
              <a:ext uri="{FF2B5EF4-FFF2-40B4-BE49-F238E27FC236}">
                <a16:creationId xmlns:a16="http://schemas.microsoft.com/office/drawing/2014/main" id="{E7A7EFC2-2306-4E7A-B72F-51E235C6D999}"/>
              </a:ext>
            </a:extLst>
          </p:cNvPr>
          <p:cNvSpPr>
            <a:spLocks xmlns:a="http://schemas.openxmlformats.org/drawingml/2006/main" noGrp="1"/>
          </p:cNvSpPr>
          <p:nvPr/>
        </p:nvSpPr>
        <p:spPr>
          <a:xfrm xmlns:a="http://schemas.openxmlformats.org/drawingml/2006/main">
            <a:off x="609600" y="5943600"/>
            <a:ext cx="1057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86970"/>
                </a:solidFill>
              </a:defRPr>
            </a:defPPr>
          </a:lstStyle>
          <a:p xmlns:a="http://schemas.openxmlformats.org/drawingml/2006/main">
            <a:pPr>
              <a:defRPr sz="1800" b="0">
                <a:solidFill>
                  <a:srgbClr val="586970"/>
                </a:solidFill>
              </a:defRPr>
            </a:pPr>
            <a:r>
              <a:rPr sz="1800" b="0">
                <a:solidFill>
                  <a:srgbClr val="586970"/>
                </a:solidFill>
                <a:latin typeface="Pretendard"/>
                <a:ea typeface="Pretendard"/>
                <a:cs typeface="Pretendard"/>
              </a:rPr>
              <a:t>필수 조건을 먼저 검사 · 행동 학습 없음 · 초기 가중치는 검증 대상</a:t>
            </a:r>
          </a:p>
        </p:txBody>
      </p:sp>
    </p:spTree>
    <p:extLst>
      <p:ext uri="{BB962C8B-B14F-4D97-AF65-F5344CB8AC3E}">
        <p14:creationId xmlns:p14="http://schemas.microsoft.com/office/powerpoint/2010/main" val="1847605188"/>
      </p:ext>
    </p:extLst>
  </p:cSld>
</p:sld>
</file>

<file path=ppt/slides/slide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B0AEF1-A27C-4C71-93BC-950BF35DD62E}"/>
              </a:ext>
            </a:extLst>
          </p:cNvPr>
          <p:cNvSpPr>
            <a:spLocks xmlns:a="http://schemas.openxmlformats.org/drawingml/2006/main" noGrp="1"/>
          </p:cNvSpPr>
          <p:nvPr/>
        </p:nvSpPr>
        <p:spPr>
          <a:xfrm xmlns:a="http://schemas.openxmlformats.org/drawingml/2006/main">
            <a:off x="609600" y="50482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25485A"/>
                </a:solidFill>
              </a:defRPr>
            </a:defPPr>
          </a:lstStyle>
          <a:p xmlns:a="http://schemas.openxmlformats.org/drawingml/2006/main">
            <a:pPr>
              <a:defRPr sz="3300" b="1">
                <a:solidFill>
                  <a:srgbClr val="25485A"/>
                </a:solidFill>
              </a:defRPr>
            </a:pPr>
            <a:r>
              <a:rPr sz="3300" b="1">
                <a:solidFill>
                  <a:srgbClr val="25485A"/>
                </a:solidFill>
                <a:latin typeface="Pretendard"/>
                <a:ea typeface="Pretendard"/>
                <a:cs typeface="Pretendard"/>
              </a:rPr>
              <a:t>확정 예약을 지키는 일정</a:t>
            </a:r>
          </a:p>
        </p:txBody>
      </p:sp>
      <p:sp>
        <p:nvSpPr>
          <p:cNvPr id="2" name="">
            <a:extLst xmlns:a="http://schemas.openxmlformats.org/drawingml/2006/main">
              <a:ext uri="{FF2B5EF4-FFF2-40B4-BE49-F238E27FC236}">
                <a16:creationId xmlns:a16="http://schemas.microsoft.com/office/drawing/2014/main" id="{A40FA738-75FF-4CAE-BD79-85D9B01344D4}"/>
              </a:ext>
            </a:extLst>
          </p:cNvPr>
          <p:cNvSpPr>
            <a:spLocks xmlns:a="http://schemas.openxmlformats.org/drawingml/2006/main" noGrp="1"/>
          </p:cNvSpPr>
          <p:nvPr/>
        </p:nvSpPr>
        <p:spPr>
          <a:xfrm xmlns:a="http://schemas.openxmlformats.org/drawingml/2006/main">
            <a:off x="609600" y="12287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86970"/>
                </a:solidFill>
              </a:defRPr>
            </a:defPPr>
          </a:lstStyle>
          <a:p xmlns:a="http://schemas.openxmlformats.org/drawingml/2006/main">
            <a:pPr>
              <a:defRPr sz="2025" b="0">
                <a:solidFill>
                  <a:srgbClr val="586970"/>
                </a:solidFill>
              </a:defRPr>
            </a:pPr>
            <a:r>
              <a:rPr sz="2025" b="0">
                <a:solidFill>
                  <a:srgbClr val="586970"/>
                </a:solidFill>
                <a:latin typeface="Pretendard"/>
                <a:ea typeface="Pretendard"/>
                <a:cs typeface="Pretendard"/>
              </a:rPr>
              <a:t>변경 내용을 먼저 보고, 적용하거나 되돌립니다</a:t>
            </a:r>
          </a:p>
        </p:txBody>
      </p:sp>
      <p:sp>
        <p:nvSpPr>
          <p:cNvPr id="3" name="">
            <a:extLst xmlns:a="http://schemas.openxmlformats.org/drawingml/2006/main">
              <a:ext uri="{FF2B5EF4-FFF2-40B4-BE49-F238E27FC236}">
                <a16:creationId xmlns:a16="http://schemas.microsoft.com/office/drawing/2014/main" id="{B1CC8F18-68F8-4C6D-AA56-7422B2BC0683}"/>
              </a:ext>
            </a:extLst>
          </p:cNvPr>
          <p:cNvSpPr>
            <a:spLocks xmlns:a="http://schemas.openxmlformats.org/drawingml/2006/main" noGrp="1"/>
          </p:cNvSpPr>
          <p:nvPr/>
        </p:nvSpPr>
        <p:spPr>
          <a:xfrm xmlns:a="http://schemas.openxmlformats.org/drawingml/2006/main">
            <a:off x="10953750" y="6343650"/>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586970"/>
                </a:solidFill>
              </a:defRPr>
            </a:defPPr>
          </a:lstStyle>
          <a:p xmlns:a="http://schemas.openxmlformats.org/drawingml/2006/main">
            <a:pPr>
              <a:defRPr sz="1500" b="0">
                <a:solidFill>
                  <a:srgbClr val="586970"/>
                </a:solidFill>
              </a:defRPr>
            </a:pPr>
            <a:r>
              <a:rPr sz="1500" b="0">
                <a:solidFill>
                  <a:srgbClr val="586970"/>
                </a:solidFill>
                <a:latin typeface="Pretendard"/>
                <a:ea typeface="Pretendard"/>
                <a:cs typeface="Pretendard"/>
              </a:rPr>
              <a:t>7 / 10</a:t>
            </a:r>
          </a:p>
        </p:txBody>
      </p:sp>
      <p:pic>
        <p:nvPicPr>
          <p:cNvPr id="4" name="">
            <a:extLst xmlns:a="http://schemas.openxmlformats.org/drawingml/2006/main">
              <a:ext uri="{FF2B5EF4-FFF2-40B4-BE49-F238E27FC236}">
                <a16:creationId xmlns:a16="http://schemas.microsoft.com/office/drawing/2014/main" id="{395AC3DF-1935-4E7B-841D-A762DD28EA7E}"/>
              </a:ext>
            </a:extLst>
          </p:cNvPr>
          <p:cNvPicPr>
            <a:picLocks xmlns:a="http://schemas.openxmlformats.org/drawingml/2006/main" noChangeAspect="1"/>
          </p:cNvPicPr>
          <p:nvPr/>
        </p:nvPicPr>
        <p:blipFill>
          <a:blip xmlns:r="http://schemas.openxmlformats.org/officeDocument/2006/relationships" xmlns:a="http://schemas.openxmlformats.org/drawingml/2006/main" r:embed="R11726dc6cdee4d27"/>
          <a:stretch xmlns:a="http://schemas.openxmlformats.org/drawingml/2006/main"/>
        </p:blipFill>
        <p:spPr>
          <a:xfrm xmlns:a="http://schemas.openxmlformats.org/drawingml/2006/main">
            <a:off x="611831" y="2095500"/>
            <a:ext cx="7767938" cy="40386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693D4B7-B1D5-4FEB-8B5C-EDC11586E83E}"/>
              </a:ext>
            </a:extLst>
          </p:cNvPr>
          <p:cNvSpPr>
            <a:spLocks xmlns:a="http://schemas.openxmlformats.org/drawingml/2006/main" noGrp="1"/>
          </p:cNvSpPr>
          <p:nvPr/>
        </p:nvSpPr>
        <p:spPr>
          <a:xfrm xmlns:a="http://schemas.openxmlformats.org/drawingml/2006/main">
            <a:off x="8810625" y="215265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25485A"/>
                </a:solidFill>
              </a:defRPr>
            </a:defPPr>
          </a:lstStyle>
          <a:p xmlns:a="http://schemas.openxmlformats.org/drawingml/2006/main">
            <a:pPr>
              <a:buNone/>
              <a:defRPr sz="2250" b="1">
                <a:solidFill>
                  <a:srgbClr val="25485A"/>
                </a:solidFill>
              </a:defRPr>
            </a:pPr>
            <a:r>
              <a:rPr sz="2250" b="1">
                <a:solidFill>
                  <a:srgbClr val="25485A"/>
                </a:solidFill>
                <a:latin typeface="Pretendard"/>
                <a:ea typeface="Pretendard"/>
                <a:cs typeface="Pretendard"/>
              </a:rPr>
              <a:t>빈 시간 120분</a:t>
            </a:r>
          </a:p>
        </p:txBody>
      </p:sp>
      <p:sp>
        <p:nvSpPr>
          <p:cNvPr id="6" name="">
            <a:extLst xmlns:a="http://schemas.openxmlformats.org/drawingml/2006/main">
              <a:ext uri="{FF2B5EF4-FFF2-40B4-BE49-F238E27FC236}">
                <a16:creationId xmlns:a16="http://schemas.microsoft.com/office/drawing/2014/main" id="{E92FA1CA-6B93-4CD5-BCBC-1F06726917F8}"/>
              </a:ext>
            </a:extLst>
          </p:cNvPr>
          <p:cNvSpPr>
            <a:spLocks xmlns:a="http://schemas.openxmlformats.org/drawingml/2006/main" noGrp="1"/>
          </p:cNvSpPr>
          <p:nvPr/>
        </p:nvSpPr>
        <p:spPr>
          <a:xfrm xmlns:a="http://schemas.openxmlformats.org/drawingml/2006/main">
            <a:off x="8810625" y="3048000"/>
            <a:ext cx="2762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202C31"/>
                </a:solidFill>
              </a:defRPr>
            </a:defPPr>
          </a:lstStyle>
          <a:p xmlns:a="http://schemas.openxmlformats.org/drawingml/2006/main">
            <a:pPr>
              <a:buNone/>
              <a:defRPr sz="2250" b="0">
                <a:solidFill>
                  <a:srgbClr val="202C31"/>
                </a:solidFill>
              </a:defRPr>
            </a:pPr>
            <a:r>
              <a:rPr sz="2250" b="0">
                <a:solidFill>
                  <a:srgbClr val="202C31"/>
                </a:solidFill>
                <a:latin typeface="Pretendard"/>
                <a:ea typeface="Pretendard"/>
                <a:cs typeface="Pretendard"/>
              </a:rPr>
              <a:t>체류 90분</a:t>
            </a:r>
            <a:br>
              <a:rPr sz="2250" b="0">
                <a:solidFill>
                  <a:srgbClr val="202C31"/>
                </a:solidFill>
                <a:latin typeface="Pretendard"/>
                <a:ea typeface="Pretendard"/>
                <a:cs typeface="Pretendard"/>
              </a:rPr>
            </a:br>
            <a:r>
              <a:rPr sz="2250" b="0">
                <a:solidFill>
                  <a:srgbClr val="202C31"/>
                </a:solidFill>
                <a:latin typeface="Pretendard"/>
                <a:ea typeface="Pretendard"/>
                <a:cs typeface="Pretendard"/>
              </a:rPr>
              <a:t>양쪽 이동 60분</a:t>
            </a:r>
          </a:p>
        </p:txBody>
      </p:sp>
      <p:sp>
        <p:nvSpPr>
          <p:cNvPr id="7" name="">
            <a:extLst xmlns:a="http://schemas.openxmlformats.org/drawingml/2006/main">
              <a:ext uri="{FF2B5EF4-FFF2-40B4-BE49-F238E27FC236}">
                <a16:creationId xmlns:a16="http://schemas.microsoft.com/office/drawing/2014/main" id="{D45E52D7-4F50-4DED-A48C-DB5A5060BF5C}"/>
              </a:ext>
            </a:extLst>
          </p:cNvPr>
          <p:cNvSpPr>
            <a:spLocks xmlns:a="http://schemas.openxmlformats.org/drawingml/2006/main" noGrp="1"/>
          </p:cNvSpPr>
          <p:nvPr/>
        </p:nvSpPr>
        <p:spPr>
          <a:xfrm xmlns:a="http://schemas.openxmlformats.org/drawingml/2006/main">
            <a:off x="8810625" y="4524375"/>
            <a:ext cx="2762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325" b="1">
                <a:solidFill>
                  <a:srgbClr val="996D50"/>
                </a:solidFill>
              </a:defRPr>
            </a:defPPr>
          </a:lstStyle>
          <a:p xmlns:a="http://schemas.openxmlformats.org/drawingml/2006/main">
            <a:pPr>
              <a:buNone/>
              <a:defRPr sz="2325" b="1">
                <a:solidFill>
                  <a:srgbClr val="996D50"/>
                </a:solidFill>
              </a:defRPr>
            </a:pPr>
            <a:r>
              <a:rPr sz="2325" b="1">
                <a:solidFill>
                  <a:srgbClr val="996D50"/>
                </a:solidFill>
                <a:latin typeface="Pretendard"/>
                <a:ea typeface="Pretendard"/>
                <a:cs typeface="Pretendard"/>
              </a:rPr>
              <a:t>총 150분</a:t>
            </a:r>
            <a:br>
              <a:rPr sz="2325" b="1">
                <a:solidFill>
                  <a:srgbClr val="996D50"/>
                </a:solidFill>
                <a:latin typeface="Pretendard"/>
                <a:ea typeface="Pretendard"/>
                <a:cs typeface="Pretendard"/>
              </a:rPr>
            </a:br>
            <a:r>
              <a:rPr sz="2325" b="1">
                <a:solidFill>
                  <a:srgbClr val="996D50"/>
                </a:solidFill>
                <a:latin typeface="Pretendard"/>
                <a:ea typeface="Pretendard"/>
                <a:cs typeface="Pretendard"/>
              </a:rPr>
              <a:t>배치할 수 없음</a:t>
            </a:r>
          </a:p>
        </p:txBody>
      </p:sp>
      <p:sp>
        <p:nvSpPr>
          <p:cNvPr id="8" name="">
            <a:extLst xmlns:a="http://schemas.openxmlformats.org/drawingml/2006/main">
              <a:ext uri="{FF2B5EF4-FFF2-40B4-BE49-F238E27FC236}">
                <a16:creationId xmlns:a16="http://schemas.microsoft.com/office/drawing/2014/main" id="{A40E059A-01D9-4E4E-AFA4-646BCC6E1E48}"/>
              </a:ext>
            </a:extLst>
          </p:cNvPr>
          <p:cNvSpPr>
            <a:spLocks xmlns:a="http://schemas.openxmlformats.org/drawingml/2006/main" noGrp="1"/>
          </p:cNvSpPr>
          <p:nvPr/>
        </p:nvSpPr>
        <p:spPr>
          <a:xfrm xmlns:a="http://schemas.openxmlformats.org/drawingml/2006/main">
            <a:off x="609600" y="6134100"/>
            <a:ext cx="1009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86970"/>
                </a:solidFill>
              </a:defRPr>
            </a:defPPr>
          </a:lstStyle>
          <a:p xmlns:a="http://schemas.openxmlformats.org/drawingml/2006/main">
            <a:pPr>
              <a:defRPr sz="1725" b="0">
                <a:solidFill>
                  <a:srgbClr val="586970"/>
                </a:solidFill>
              </a:defRPr>
            </a:pPr>
            <a:r>
              <a:rPr sz="1725" b="0">
                <a:solidFill>
                  <a:srgbClr val="586970"/>
                </a:solidFill>
                <a:latin typeface="Pretendard"/>
                <a:ea typeface="Pretendard"/>
                <a:cs typeface="Pretendard"/>
              </a:rPr>
              <a:t>고정 예약은 유지 · 변경 미리보기 → 적용 → 되돌리기</a:t>
            </a:r>
          </a:p>
        </p:txBody>
      </p:sp>
    </p:spTree>
    <p:extLst>
      <p:ext uri="{BB962C8B-B14F-4D97-AF65-F5344CB8AC3E}">
        <p14:creationId xmlns:p14="http://schemas.microsoft.com/office/powerpoint/2010/main" val="1728296372"/>
      </p:ext>
    </p:extLst>
  </p:cSld>
</p:sld>
</file>

<file path=ppt/slides/slide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06917F-8FAF-4E91-B1E2-9A3184EA1679}"/>
              </a:ext>
            </a:extLst>
          </p:cNvPr>
          <p:cNvSpPr>
            <a:spLocks xmlns:a="http://schemas.openxmlformats.org/drawingml/2006/main" noGrp="1"/>
          </p:cNvSpPr>
          <p:nvPr/>
        </p:nvSpPr>
        <p:spPr>
          <a:xfrm xmlns:a="http://schemas.openxmlformats.org/drawingml/2006/main">
            <a:off x="609600" y="50482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25485A"/>
                </a:solidFill>
              </a:defRPr>
            </a:defPPr>
          </a:lstStyle>
          <a:p xmlns:a="http://schemas.openxmlformats.org/drawingml/2006/main">
            <a:pPr>
              <a:defRPr sz="3300" b="1">
                <a:solidFill>
                  <a:srgbClr val="25485A"/>
                </a:solidFill>
              </a:defRPr>
            </a:pPr>
            <a:r>
              <a:rPr sz="3300" b="1">
                <a:solidFill>
                  <a:srgbClr val="25485A"/>
                </a:solidFill>
                <a:latin typeface="Pretendard"/>
                <a:ea typeface="Pretendard"/>
                <a:cs typeface="Pretendard"/>
              </a:rPr>
              <a:t>이전 모델과 비교한 결과</a:t>
            </a:r>
          </a:p>
        </p:txBody>
      </p:sp>
      <p:sp>
        <p:nvSpPr>
          <p:cNvPr id="2" name="">
            <a:extLst xmlns:a="http://schemas.openxmlformats.org/drawingml/2006/main">
              <a:ext uri="{FF2B5EF4-FFF2-40B4-BE49-F238E27FC236}">
                <a16:creationId xmlns:a16="http://schemas.microsoft.com/office/drawing/2014/main" id="{3B752032-98B3-4619-B467-BD807E3AF454}"/>
              </a:ext>
            </a:extLst>
          </p:cNvPr>
          <p:cNvSpPr>
            <a:spLocks xmlns:a="http://schemas.openxmlformats.org/drawingml/2006/main" noGrp="1"/>
          </p:cNvSpPr>
          <p:nvPr/>
        </p:nvSpPr>
        <p:spPr>
          <a:xfrm xmlns:a="http://schemas.openxmlformats.org/drawingml/2006/main">
            <a:off x="609600" y="12287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86970"/>
                </a:solidFill>
              </a:defRPr>
            </a:defPPr>
          </a:lstStyle>
          <a:p xmlns:a="http://schemas.openxmlformats.org/drawingml/2006/main">
            <a:pPr>
              <a:defRPr sz="2025" b="0">
                <a:solidFill>
                  <a:srgbClr val="586970"/>
                </a:solidFill>
              </a:defRPr>
            </a:pPr>
            <a:r>
              <a:rPr sz="2025" b="0">
                <a:solidFill>
                  <a:srgbClr val="586970"/>
                </a:solidFill>
                <a:latin typeface="Pretendard"/>
                <a:ea typeface="Pretendard"/>
                <a:cs typeface="Pretendard"/>
              </a:rPr>
              <a:t>동일한 조건과 후보 · 합성 개발 시나리오 12개 · 상위 3개</a:t>
            </a:r>
          </a:p>
        </p:txBody>
      </p:sp>
      <p:sp>
        <p:nvSpPr>
          <p:cNvPr id="3" name="">
            <a:extLst xmlns:a="http://schemas.openxmlformats.org/drawingml/2006/main">
              <a:ext uri="{FF2B5EF4-FFF2-40B4-BE49-F238E27FC236}">
                <a16:creationId xmlns:a16="http://schemas.microsoft.com/office/drawing/2014/main" id="{8D6D3166-6A7E-435B-8FE3-7592600CB8F3}"/>
              </a:ext>
            </a:extLst>
          </p:cNvPr>
          <p:cNvSpPr>
            <a:spLocks xmlns:a="http://schemas.openxmlformats.org/drawingml/2006/main" noGrp="1"/>
          </p:cNvSpPr>
          <p:nvPr/>
        </p:nvSpPr>
        <p:spPr>
          <a:xfrm xmlns:a="http://schemas.openxmlformats.org/drawingml/2006/main">
            <a:off x="10953750" y="6343650"/>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586970"/>
                </a:solidFill>
              </a:defRPr>
            </a:defPPr>
          </a:lstStyle>
          <a:p xmlns:a="http://schemas.openxmlformats.org/drawingml/2006/main">
            <a:pPr>
              <a:defRPr sz="1500" b="0">
                <a:solidFill>
                  <a:srgbClr val="586970"/>
                </a:solidFill>
              </a:defRPr>
            </a:pPr>
            <a:r>
              <a:rPr sz="1500" b="0">
                <a:solidFill>
                  <a:srgbClr val="586970"/>
                </a:solidFill>
                <a:latin typeface="Pretendard"/>
                <a:ea typeface="Pretendard"/>
                <a:cs typeface="Pretendard"/>
              </a:rPr>
              <a:t>8 / 10</a:t>
            </a:r>
          </a:p>
        </p:txBody>
      </p:sp>
      <p:graphicFrame>
        <p:nvGraphicFramePr>
          <p:cNvPr id="4" name="Chart">
            <a:extLst xmlns:a="http://schemas.openxmlformats.org/drawingml/2006/main">
              <a:ext uri="{FF2B5EF4-FFF2-40B4-BE49-F238E27FC236}">
                <a16:creationId xmlns:a16="http://schemas.microsoft.com/office/drawing/2014/main" id="{265BD5E0-AE03-4D30-B112-216B1951EA06}"/>
              </a:ext>
            </a:extLst>
          </p:cNvPr>
          <p:cNvGraphicFramePr/>
          <p:nvPr/>
        </p:nvGraphicFramePr>
        <p:xfrm>
          <a:off xmlns:a="http://schemas.openxmlformats.org/drawingml/2006/main" x="609600" y="2028825"/>
          <a:ext xmlns:a="http://schemas.openxmlformats.org/drawingml/2006/main" cx="7305675" cy="3676650"/>
        </p:xfrm>
        <a:graphic xmlns:a="http://schemas.openxmlformats.org/drawingml/2006/main">
          <a:graphicData uri="http://schemas.openxmlformats.org/drawingml/2006/chart">
            <c:chart xmlns:r="http://schemas.openxmlformats.org/officeDocument/2006/relationships" xmlns:c="http://schemas.openxmlformats.org/drawingml/2006/chart" r:id="R0d5fbfb639c24b5d"/>
          </a:graphicData>
        </a:graphic>
      </p:graphicFrame>
      <p:sp>
        <p:nvSpPr>
          <p:cNvPr id="5" name="">
            <a:extLst xmlns:a="http://schemas.openxmlformats.org/drawingml/2006/main">
              <a:ext uri="{FF2B5EF4-FFF2-40B4-BE49-F238E27FC236}">
                <a16:creationId xmlns:a16="http://schemas.microsoft.com/office/drawing/2014/main" id="{18C6803A-8471-4533-84AD-22D808130543}"/>
              </a:ext>
            </a:extLst>
          </p:cNvPr>
          <p:cNvSpPr>
            <a:spLocks xmlns:a="http://schemas.openxmlformats.org/drawingml/2006/main" noGrp="1"/>
          </p:cNvSpPr>
          <p:nvPr/>
        </p:nvSpPr>
        <p:spPr>
          <a:xfrm xmlns:a="http://schemas.openxmlformats.org/drawingml/2006/main">
            <a:off x="8305800" y="231457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25485A"/>
                </a:solidFill>
              </a:defRPr>
            </a:defPPr>
          </a:lstStyle>
          <a:p xmlns:a="http://schemas.openxmlformats.org/drawingml/2006/main">
            <a:pPr>
              <a:defRPr sz="3000" b="1">
                <a:solidFill>
                  <a:srgbClr val="25485A"/>
                </a:solidFill>
              </a:defRPr>
            </a:pPr>
            <a:r>
              <a:rPr sz="3000" b="1">
                <a:solidFill>
                  <a:srgbClr val="25485A"/>
                </a:solidFill>
                <a:latin typeface="Pretendard"/>
                <a:ea typeface="Pretendard"/>
                <a:cs typeface="Pretendard"/>
              </a:rPr>
              <a:t>NDCG@3</a:t>
            </a:r>
          </a:p>
        </p:txBody>
      </p:sp>
      <p:sp>
        <p:nvSpPr>
          <p:cNvPr id="6" name="">
            <a:extLst xmlns:a="http://schemas.openxmlformats.org/drawingml/2006/main">
              <a:ext uri="{FF2B5EF4-FFF2-40B4-BE49-F238E27FC236}">
                <a16:creationId xmlns:a16="http://schemas.microsoft.com/office/drawing/2014/main" id="{2FBCF012-4710-41F9-98A2-491DD5D978D1}"/>
              </a:ext>
            </a:extLst>
          </p:cNvPr>
          <p:cNvSpPr>
            <a:spLocks xmlns:a="http://schemas.openxmlformats.org/drawingml/2006/main" noGrp="1"/>
          </p:cNvSpPr>
          <p:nvPr/>
        </p:nvSpPr>
        <p:spPr>
          <a:xfrm xmlns:a="http://schemas.openxmlformats.org/drawingml/2006/main">
            <a:off x="8305800" y="3333750"/>
            <a:ext cx="3152775"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202C31"/>
                </a:solidFill>
              </a:defRPr>
            </a:defPPr>
          </a:lstStyle>
          <a:p xmlns:a="http://schemas.openxmlformats.org/drawingml/2006/main">
            <a:pPr>
              <a:defRPr sz="2250" b="0">
                <a:solidFill>
                  <a:srgbClr val="202C31"/>
                </a:solidFill>
              </a:defRPr>
            </a:pPr>
            <a:r>
              <a:rPr sz="2250" b="0">
                <a:solidFill>
                  <a:srgbClr val="202C31"/>
                </a:solidFill>
                <a:latin typeface="Pretendard"/>
                <a:ea typeface="Pretendard"/>
                <a:cs typeface="Pretendard"/>
              </a:rPr>
              <a:t>적합한 후보가</a:t>
            </a:r>
            <a:br>
              <a:rPr sz="2250" b="0">
                <a:solidFill>
                  <a:srgbClr val="202C31"/>
                </a:solidFill>
                <a:latin typeface="Pretendard"/>
                <a:ea typeface="Pretendard"/>
                <a:cs typeface="Pretendard"/>
              </a:rPr>
            </a:br>
            <a:r>
              <a:rPr sz="2250" b="0">
                <a:solidFill>
                  <a:srgbClr val="202C31"/>
                </a:solidFill>
                <a:latin typeface="Pretendard"/>
                <a:ea typeface="Pretendard"/>
                <a:cs typeface="Pretendard"/>
              </a:rPr>
              <a:t>앞에 오는 정도</a:t>
            </a:r>
          </a:p>
        </p:txBody>
      </p:sp>
      <p:sp>
        <p:nvSpPr>
          <p:cNvPr id="7" name="">
            <a:extLst xmlns:a="http://schemas.openxmlformats.org/drawingml/2006/main">
              <a:ext uri="{FF2B5EF4-FFF2-40B4-BE49-F238E27FC236}">
                <a16:creationId xmlns:a16="http://schemas.microsoft.com/office/drawing/2014/main" id="{B17C37C8-C07D-4D77-B871-84A810561BE5}"/>
              </a:ext>
            </a:extLst>
          </p:cNvPr>
          <p:cNvSpPr>
            <a:spLocks xmlns:a="http://schemas.openxmlformats.org/drawingml/2006/main" noGrp="1"/>
          </p:cNvSpPr>
          <p:nvPr/>
        </p:nvSpPr>
        <p:spPr>
          <a:xfrm xmlns:a="http://schemas.openxmlformats.org/drawingml/2006/main">
            <a:off x="609600" y="59531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996D50"/>
                </a:solidFill>
              </a:defRPr>
            </a:defPPr>
          </a:lstStyle>
          <a:p xmlns:a="http://schemas.openxmlformats.org/drawingml/2006/main">
            <a:pPr>
              <a:defRPr sz="1875" b="0">
                <a:solidFill>
                  <a:srgbClr val="996D50"/>
                </a:solidFill>
              </a:defRPr>
            </a:pPr>
            <a:r>
              <a:rPr sz="1875" b="0">
                <a:solidFill>
                  <a:srgbClr val="996D50"/>
                </a:solidFill>
                <a:latin typeface="Pretendard"/>
                <a:ea typeface="Pretendard"/>
                <a:cs typeface="Pretendard"/>
              </a:rPr>
              <a:t>합성 개발 평가 · 독립 평가 0개 · 실제 사용자 정확도·만족도 미측정</a:t>
            </a:r>
          </a:p>
        </p:txBody>
      </p:sp>
    </p:spTree>
    <p:extLst>
      <p:ext uri="{BB962C8B-B14F-4D97-AF65-F5344CB8AC3E}">
        <p14:creationId xmlns:p14="http://schemas.microsoft.com/office/powerpoint/2010/main" val="976321125"/>
      </p:ext>
    </p:extLst>
  </p:cSld>
</p:sld>
</file>

<file path=ppt/slides/slide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A0ADCEC-D860-43E6-B1BE-26B06E618DB2}"/>
              </a:ext>
            </a:extLst>
          </p:cNvPr>
          <p:cNvSpPr>
            <a:spLocks xmlns:a="http://schemas.openxmlformats.org/drawingml/2006/main" noGrp="1"/>
          </p:cNvSpPr>
          <p:nvPr/>
        </p:nvSpPr>
        <p:spPr>
          <a:xfrm xmlns:a="http://schemas.openxmlformats.org/drawingml/2006/main">
            <a:off x="609600" y="50482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25485A"/>
                </a:solidFill>
              </a:defRPr>
            </a:defPPr>
          </a:lstStyle>
          <a:p xmlns:a="http://schemas.openxmlformats.org/drawingml/2006/main">
            <a:pPr>
              <a:defRPr sz="3300" b="1">
                <a:solidFill>
                  <a:srgbClr val="25485A"/>
                </a:solidFill>
              </a:defRPr>
            </a:pPr>
            <a:r>
              <a:rPr sz="3300" b="1">
                <a:solidFill>
                  <a:srgbClr val="25485A"/>
                </a:solidFill>
                <a:latin typeface="Pretendard"/>
                <a:ea typeface="Pretendard"/>
                <a:cs typeface="Pretendard"/>
              </a:rPr>
              <a:t>여행 전과 여행 중에</a:t>
            </a:r>
          </a:p>
        </p:txBody>
      </p:sp>
      <p:sp>
        <p:nvSpPr>
          <p:cNvPr id="2" name="">
            <a:extLst xmlns:a="http://schemas.openxmlformats.org/drawingml/2006/main">
              <a:ext uri="{FF2B5EF4-FFF2-40B4-BE49-F238E27FC236}">
                <a16:creationId xmlns:a16="http://schemas.microsoft.com/office/drawing/2014/main" id="{B8C7DB3B-A582-4B82-B5F0-849907459DBF}"/>
              </a:ext>
            </a:extLst>
          </p:cNvPr>
          <p:cNvSpPr>
            <a:spLocks xmlns:a="http://schemas.openxmlformats.org/drawingml/2006/main" noGrp="1"/>
          </p:cNvSpPr>
          <p:nvPr/>
        </p:nvSpPr>
        <p:spPr>
          <a:xfrm xmlns:a="http://schemas.openxmlformats.org/drawingml/2006/main">
            <a:off x="609600" y="12287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86970"/>
                </a:solidFill>
              </a:defRPr>
            </a:defPPr>
          </a:lstStyle>
          <a:p xmlns:a="http://schemas.openxmlformats.org/drawingml/2006/main">
            <a:pPr>
              <a:defRPr sz="2025" b="0">
                <a:solidFill>
                  <a:srgbClr val="586970"/>
                </a:solidFill>
              </a:defRPr>
            </a:pPr>
            <a:r>
              <a:rPr sz="2025" b="0">
                <a:solidFill>
                  <a:srgbClr val="586970"/>
                </a:solidFill>
                <a:latin typeface="Pretendard"/>
                <a:ea typeface="Pretendard"/>
                <a:cs typeface="Pretendard"/>
              </a:rPr>
              <a:t>장소를 고른 다음의 준비도 같은 여행 안에서 이어갑니다</a:t>
            </a:r>
          </a:p>
        </p:txBody>
      </p:sp>
      <p:sp>
        <p:nvSpPr>
          <p:cNvPr id="3" name="">
            <a:extLst xmlns:a="http://schemas.openxmlformats.org/drawingml/2006/main">
              <a:ext uri="{FF2B5EF4-FFF2-40B4-BE49-F238E27FC236}">
                <a16:creationId xmlns:a16="http://schemas.microsoft.com/office/drawing/2014/main" id="{22EC7FC6-D4CD-4578-8434-F7BA4A2AFCC1}"/>
              </a:ext>
            </a:extLst>
          </p:cNvPr>
          <p:cNvSpPr>
            <a:spLocks xmlns:a="http://schemas.openxmlformats.org/drawingml/2006/main" noGrp="1"/>
          </p:cNvSpPr>
          <p:nvPr/>
        </p:nvSpPr>
        <p:spPr>
          <a:xfrm xmlns:a="http://schemas.openxmlformats.org/drawingml/2006/main">
            <a:off x="10953750" y="6343650"/>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586970"/>
                </a:solidFill>
              </a:defRPr>
            </a:defPPr>
          </a:lstStyle>
          <a:p xmlns:a="http://schemas.openxmlformats.org/drawingml/2006/main">
            <a:pPr>
              <a:defRPr sz="1500" b="0">
                <a:solidFill>
                  <a:srgbClr val="586970"/>
                </a:solidFill>
              </a:defRPr>
            </a:pPr>
            <a:r>
              <a:rPr sz="1500" b="0">
                <a:solidFill>
                  <a:srgbClr val="586970"/>
                </a:solidFill>
                <a:latin typeface="Pretendard"/>
                <a:ea typeface="Pretendard"/>
                <a:cs typeface="Pretendard"/>
              </a:rPr>
              <a:t>9 / 10</a:t>
            </a:r>
          </a:p>
        </p:txBody>
      </p:sp>
      <p:sp>
        <p:nvSpPr>
          <p:cNvPr id="4" name="">
            <a:extLst xmlns:a="http://schemas.openxmlformats.org/drawingml/2006/main">
              <a:ext uri="{FF2B5EF4-FFF2-40B4-BE49-F238E27FC236}">
                <a16:creationId xmlns:a16="http://schemas.microsoft.com/office/drawing/2014/main" id="{6BA7D447-4F4E-4B25-87C7-C9E6B08CB645}"/>
              </a:ext>
            </a:extLst>
          </p:cNvPr>
          <p:cNvSpPr>
            <a:spLocks xmlns:a="http://schemas.openxmlformats.org/drawingml/2006/main" noGrp="1"/>
          </p:cNvSpPr>
          <p:nvPr/>
        </p:nvSpPr>
        <p:spPr>
          <a:xfrm xmlns:a="http://schemas.openxmlformats.org/drawingml/2006/main">
            <a:off x="609600" y="2162175"/>
            <a:ext cx="50101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775" b="1">
                <a:solidFill>
                  <a:srgbClr val="25485A"/>
                </a:solidFill>
              </a:defRPr>
            </a:defPPr>
          </a:lstStyle>
          <a:p xmlns:a="http://schemas.openxmlformats.org/drawingml/2006/main">
            <a:pPr>
              <a:defRPr sz="2775" b="1">
                <a:solidFill>
                  <a:srgbClr val="25485A"/>
                </a:solidFill>
              </a:defRPr>
            </a:pPr>
            <a:r>
              <a:rPr sz="2775" b="1">
                <a:solidFill>
                  <a:srgbClr val="25485A"/>
                </a:solidFill>
                <a:latin typeface="Pretendard"/>
                <a:ea typeface="Pretendard"/>
                <a:cs typeface="Pretendard"/>
              </a:rPr>
              <a:t>여행 준비</a:t>
            </a:r>
          </a:p>
        </p:txBody>
      </p:sp>
      <p:sp>
        <p:nvSpPr>
          <p:cNvPr id="5" name="">
            <a:extLst xmlns:a="http://schemas.openxmlformats.org/drawingml/2006/main">
              <a:ext uri="{FF2B5EF4-FFF2-40B4-BE49-F238E27FC236}">
                <a16:creationId xmlns:a16="http://schemas.microsoft.com/office/drawing/2014/main" id="{B304FD0B-9D72-45CE-B20C-A199AFC0A8A5}"/>
              </a:ext>
            </a:extLst>
          </p:cNvPr>
          <p:cNvSpPr>
            <a:spLocks xmlns:a="http://schemas.openxmlformats.org/drawingml/2006/main" noGrp="1"/>
          </p:cNvSpPr>
          <p:nvPr/>
        </p:nvSpPr>
        <p:spPr>
          <a:xfrm xmlns:a="http://schemas.openxmlformats.org/drawingml/2006/main">
            <a:off x="609600" y="3133725"/>
            <a:ext cx="50958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202C31"/>
                </a:solidFill>
              </a:defRPr>
            </a:defPPr>
          </a:lstStyle>
          <a:p xmlns:a="http://schemas.openxmlformats.org/drawingml/2006/main">
            <a:pPr>
              <a:defRPr sz="2250" b="0">
                <a:solidFill>
                  <a:srgbClr val="202C31"/>
                </a:solidFill>
              </a:defRPr>
            </a:pPr>
            <a:r>
              <a:rPr sz="2250" b="0">
                <a:solidFill>
                  <a:srgbClr val="202C31"/>
                </a:solidFill>
                <a:latin typeface="Pretendard"/>
                <a:ea typeface="Pretendard"/>
                <a:cs typeface="Pretendard"/>
              </a:rPr>
              <a:t>예약 오픈일과 할 일</a:t>
            </a:r>
            <a:br>
              <a:rPr sz="2250" b="0">
                <a:solidFill>
                  <a:srgbClr val="202C31"/>
                </a:solidFill>
                <a:latin typeface="Pretendard"/>
                <a:ea typeface="Pretendard"/>
                <a:cs typeface="Pretendard"/>
              </a:rPr>
            </a:br>
            <a:r>
              <a:rPr sz="2250" b="0">
                <a:solidFill>
                  <a:srgbClr val="202C31"/>
                </a:solidFill>
                <a:latin typeface="Pretendard"/>
                <a:ea typeface="Pretendard"/>
                <a:cs typeface="Pretendard"/>
              </a:rPr>
              <a:t>캘린더 ICS · 문의문 초안</a:t>
            </a:r>
            <a:br>
              <a:rPr sz="2250" b="0">
                <a:solidFill>
                  <a:srgbClr val="202C31"/>
                </a:solidFill>
                <a:latin typeface="Pretendard"/>
                <a:ea typeface="Pretendard"/>
                <a:cs typeface="Pretendard"/>
              </a:rPr>
            </a:br>
            <a:r>
              <a:rPr sz="2250" b="0">
                <a:solidFill>
                  <a:srgbClr val="202C31"/>
                </a:solidFill>
                <a:latin typeface="Pretendard"/>
                <a:ea typeface="Pretendard"/>
                <a:cs typeface="Pretendard"/>
              </a:rPr>
              <a:t>통화별 예상 지출</a:t>
            </a:r>
          </a:p>
        </p:txBody>
      </p:sp>
      <p:sp>
        <p:nvSpPr>
          <p:cNvPr id="6" name="">
            <a:extLst xmlns:a="http://schemas.openxmlformats.org/drawingml/2006/main">
              <a:ext uri="{FF2B5EF4-FFF2-40B4-BE49-F238E27FC236}">
                <a16:creationId xmlns:a16="http://schemas.microsoft.com/office/drawing/2014/main" id="{7AE514FB-B89D-4408-9D47-A5E9852184A2}"/>
              </a:ext>
            </a:extLst>
          </p:cNvPr>
          <p:cNvSpPr>
            <a:spLocks xmlns:a="http://schemas.openxmlformats.org/drawingml/2006/main" noGrp="1"/>
          </p:cNvSpPr>
          <p:nvPr/>
        </p:nvSpPr>
        <p:spPr>
          <a:xfrm xmlns:a="http://schemas.openxmlformats.org/drawingml/2006/main">
            <a:off x="6419850" y="21621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775" b="1">
                <a:solidFill>
                  <a:srgbClr val="3F706F"/>
                </a:solidFill>
              </a:defRPr>
            </a:defPPr>
          </a:lstStyle>
          <a:p xmlns:a="http://schemas.openxmlformats.org/drawingml/2006/main">
            <a:pPr>
              <a:defRPr sz="2775" b="1">
                <a:solidFill>
                  <a:srgbClr val="3F706F"/>
                </a:solidFill>
              </a:defRPr>
            </a:pPr>
            <a:r>
              <a:rPr sz="2775" b="1">
                <a:solidFill>
                  <a:srgbClr val="3F706F"/>
                </a:solidFill>
                <a:latin typeface="Pretendard"/>
                <a:ea typeface="Pretendard"/>
                <a:cs typeface="Pretendard"/>
              </a:rPr>
              <a:t>여행 중</a:t>
            </a:r>
          </a:p>
        </p:txBody>
      </p:sp>
      <p:sp>
        <p:nvSpPr>
          <p:cNvPr id="7" name="">
            <a:extLst xmlns:a="http://schemas.openxmlformats.org/drawingml/2006/main">
              <a:ext uri="{FF2B5EF4-FFF2-40B4-BE49-F238E27FC236}">
                <a16:creationId xmlns:a16="http://schemas.microsoft.com/office/drawing/2014/main" id="{2CFAAE3D-D49E-4500-9D8E-6604971A7135}"/>
              </a:ext>
            </a:extLst>
          </p:cNvPr>
          <p:cNvSpPr>
            <a:spLocks xmlns:a="http://schemas.openxmlformats.org/drawingml/2006/main" noGrp="1"/>
          </p:cNvSpPr>
          <p:nvPr/>
        </p:nvSpPr>
        <p:spPr>
          <a:xfrm xmlns:a="http://schemas.openxmlformats.org/drawingml/2006/main">
            <a:off x="6419850" y="3133725"/>
            <a:ext cx="51625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202C31"/>
                </a:solidFill>
              </a:defRPr>
            </a:defPPr>
          </a:lstStyle>
          <a:p xmlns:a="http://schemas.openxmlformats.org/drawingml/2006/main">
            <a:pPr>
              <a:defRPr sz="2250" b="0">
                <a:solidFill>
                  <a:srgbClr val="202C31"/>
                </a:solidFill>
              </a:defRPr>
            </a:pPr>
            <a:r>
              <a:rPr sz="2250" b="0">
                <a:solidFill>
                  <a:srgbClr val="202C31"/>
                </a:solidFill>
                <a:latin typeface="Pretendard"/>
                <a:ea typeface="Pretendard"/>
                <a:cs typeface="Pretendard"/>
              </a:rPr>
              <a:t>비·휴무·피로에 따른 Plan B</a:t>
            </a:r>
            <a:br>
              <a:rPr sz="2250" b="0">
                <a:solidFill>
                  <a:srgbClr val="202C31"/>
                </a:solidFill>
                <a:latin typeface="Pretendard"/>
                <a:ea typeface="Pretendard"/>
                <a:cs typeface="Pretendard"/>
              </a:rPr>
            </a:br>
            <a:r>
              <a:rPr sz="2250" b="0">
                <a:solidFill>
                  <a:srgbClr val="202C31"/>
                </a:solidFill>
                <a:latin typeface="Pretendard"/>
                <a:ea typeface="Pretendard"/>
                <a:cs typeface="Pretendard"/>
              </a:rPr>
              <a:t>현지 날짜 기준 오늘 보기</a:t>
            </a:r>
            <a:br>
              <a:rPr sz="2250" b="0">
                <a:solidFill>
                  <a:srgbClr val="202C31"/>
                </a:solidFill>
                <a:latin typeface="Pretendard"/>
                <a:ea typeface="Pretendard"/>
                <a:cs typeface="Pretendard"/>
              </a:rPr>
            </a:br>
            <a:r>
              <a:rPr sz="2250" b="0">
                <a:solidFill>
                  <a:srgbClr val="202C31"/>
                </a:solidFill>
                <a:latin typeface="Pretendard"/>
                <a:ea typeface="Pretendard"/>
                <a:cs typeface="Pretendard"/>
              </a:rPr>
              <a:t>선택한 여행의 오프라인 읽기</a:t>
            </a:r>
          </a:p>
        </p:txBody>
      </p:sp>
      <p:sp>
        <p:nvSpPr>
          <p:cNvPr id="8" name="">
            <a:extLst xmlns:a="http://schemas.openxmlformats.org/drawingml/2006/main">
              <a:ext uri="{FF2B5EF4-FFF2-40B4-BE49-F238E27FC236}">
                <a16:creationId xmlns:a16="http://schemas.microsoft.com/office/drawing/2014/main" id="{5B5A6945-9634-48D7-B8A3-3EC0978AC09E}"/>
              </a:ext>
            </a:extLst>
          </p:cNvPr>
          <p:cNvSpPr>
            <a:spLocks xmlns:a="http://schemas.openxmlformats.org/drawingml/2006/main" noGrp="1"/>
          </p:cNvSpPr>
          <p:nvPr/>
        </p:nvSpPr>
        <p:spPr>
          <a:xfrm xmlns:a="http://schemas.openxmlformats.org/drawingml/2006/main">
            <a:off x="609600" y="5667375"/>
            <a:ext cx="10934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86970"/>
                </a:solidFill>
              </a:defRPr>
            </a:defPPr>
          </a:lstStyle>
          <a:p xmlns:a="http://schemas.openxmlformats.org/drawingml/2006/main">
            <a:pPr>
              <a:defRPr sz="1875" b="0">
                <a:solidFill>
                  <a:srgbClr val="586970"/>
                </a:solidFill>
              </a:defRPr>
            </a:pPr>
            <a:r>
              <a:rPr sz="1875" b="0">
                <a:solidFill>
                  <a:srgbClr val="586970"/>
                </a:solidFill>
                <a:latin typeface="Pretendard"/>
                <a:ea typeface="Pretendard"/>
                <a:cs typeface="Pretendard"/>
              </a:rPr>
              <a:t>자동 예약·결제·메시지 발송 없음 · 오프라인 기기별 검증은 별도</a:t>
            </a:r>
          </a:p>
        </p:txBody>
      </p:sp>
    </p:spTree>
    <p:extLst>
      <p:ext uri="{BB962C8B-B14F-4D97-AF65-F5344CB8AC3E}">
        <p14:creationId xmlns:p14="http://schemas.microsoft.com/office/powerpoint/2010/main" val="813129690"/>
      </p:ext>
    </p:extLst>
  </p:cSld>
</p:sld>
</file>

<file path=ppt/slides/slide1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3A8A05-6BA9-4393-A607-B5C23B59D0DB}"/>
              </a:ext>
            </a:extLst>
          </p:cNvPr>
          <p:cNvSpPr>
            <a:spLocks xmlns:a="http://schemas.openxmlformats.org/drawingml/2006/main" noGrp="1"/>
          </p:cNvSpPr>
          <p:nvPr/>
        </p:nvSpPr>
        <p:spPr>
          <a:xfrm xmlns:a="http://schemas.openxmlformats.org/drawingml/2006/main">
            <a:off x="609600" y="50482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25485A"/>
                </a:solidFill>
              </a:defRPr>
            </a:defPPr>
          </a:lstStyle>
          <a:p xmlns:a="http://schemas.openxmlformats.org/drawingml/2006/main">
            <a:pPr>
              <a:defRPr sz="3300" b="1">
                <a:solidFill>
                  <a:srgbClr val="25485A"/>
                </a:solidFill>
              </a:defRPr>
            </a:pPr>
            <a:r>
              <a:rPr sz="3300" b="1">
                <a:solidFill>
                  <a:srgbClr val="25485A"/>
                </a:solidFill>
                <a:latin typeface="Pretendard"/>
                <a:ea typeface="Pretendard"/>
                <a:cs typeface="Pretendard"/>
              </a:rPr>
              <a:t>앞으로의 개발 방향</a:t>
            </a:r>
          </a:p>
        </p:txBody>
      </p:sp>
      <p:sp>
        <p:nvSpPr>
          <p:cNvPr id="2" name="">
            <a:extLst xmlns:a="http://schemas.openxmlformats.org/drawingml/2006/main">
              <a:ext uri="{FF2B5EF4-FFF2-40B4-BE49-F238E27FC236}">
                <a16:creationId xmlns:a16="http://schemas.microsoft.com/office/drawing/2014/main" id="{7D2BE623-10EB-4634-9C37-CC5A65D652D4}"/>
              </a:ext>
            </a:extLst>
          </p:cNvPr>
          <p:cNvSpPr>
            <a:spLocks xmlns:a="http://schemas.openxmlformats.org/drawingml/2006/main" noGrp="1"/>
          </p:cNvSpPr>
          <p:nvPr/>
        </p:nvSpPr>
        <p:spPr>
          <a:xfrm xmlns:a="http://schemas.openxmlformats.org/drawingml/2006/main">
            <a:off x="609600" y="12287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86970"/>
                </a:solidFill>
              </a:defRPr>
            </a:defPPr>
          </a:lstStyle>
          <a:p xmlns:a="http://schemas.openxmlformats.org/drawingml/2006/main">
            <a:pPr>
              <a:defRPr sz="2025" b="0">
                <a:solidFill>
                  <a:srgbClr val="586970"/>
                </a:solidFill>
              </a:defRPr>
            </a:pPr>
            <a:r>
              <a:rPr sz="2025" b="0">
                <a:solidFill>
                  <a:srgbClr val="586970"/>
                </a:solidFill>
                <a:latin typeface="Pretendard"/>
                <a:ea typeface="Pretendard"/>
                <a:cs typeface="Pretendard"/>
              </a:rPr>
              <a:t>실제 자료와 사용 경험으로 추천을 검증하려고 합니다</a:t>
            </a:r>
          </a:p>
        </p:txBody>
      </p:sp>
      <p:sp>
        <p:nvSpPr>
          <p:cNvPr id="3" name="">
            <a:extLst xmlns:a="http://schemas.openxmlformats.org/drawingml/2006/main">
              <a:ext uri="{FF2B5EF4-FFF2-40B4-BE49-F238E27FC236}">
                <a16:creationId xmlns:a16="http://schemas.microsoft.com/office/drawing/2014/main" id="{26DF42B1-3BD8-4E17-848A-D9A9494644BC}"/>
              </a:ext>
            </a:extLst>
          </p:cNvPr>
          <p:cNvSpPr>
            <a:spLocks xmlns:a="http://schemas.openxmlformats.org/drawingml/2006/main" noGrp="1"/>
          </p:cNvSpPr>
          <p:nvPr/>
        </p:nvSpPr>
        <p:spPr>
          <a:xfrm xmlns:a="http://schemas.openxmlformats.org/drawingml/2006/main">
            <a:off x="10953750" y="6343650"/>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586970"/>
                </a:solidFill>
              </a:defRPr>
            </a:defPPr>
          </a:lstStyle>
          <a:p xmlns:a="http://schemas.openxmlformats.org/drawingml/2006/main">
            <a:pPr>
              <a:defRPr sz="1500" b="0">
                <a:solidFill>
                  <a:srgbClr val="586970"/>
                </a:solidFill>
              </a:defRPr>
            </a:pPr>
            <a:r>
              <a:rPr sz="1500" b="0">
                <a:solidFill>
                  <a:srgbClr val="586970"/>
                </a:solidFill>
                <a:latin typeface="Pretendard"/>
                <a:ea typeface="Pretendard"/>
                <a:cs typeface="Pretendard"/>
              </a:rPr>
              <a:t>10 / 10</a:t>
            </a:r>
          </a:p>
        </p:txBody>
      </p:sp>
      <p:sp>
        <p:nvSpPr>
          <p:cNvPr id="4" name="">
            <a:extLst xmlns:a="http://schemas.openxmlformats.org/drawingml/2006/main">
              <a:ext uri="{FF2B5EF4-FFF2-40B4-BE49-F238E27FC236}">
                <a16:creationId xmlns:a16="http://schemas.microsoft.com/office/drawing/2014/main" id="{2E884060-A78A-436B-B0E1-B10FBCDC163F}"/>
              </a:ext>
            </a:extLst>
          </p:cNvPr>
          <p:cNvSpPr>
            <a:spLocks xmlns:a="http://schemas.openxmlformats.org/drawingml/2006/main" noGrp="1"/>
          </p:cNvSpPr>
          <p:nvPr/>
        </p:nvSpPr>
        <p:spPr>
          <a:xfrm xmlns:a="http://schemas.openxmlformats.org/drawingml/2006/main">
            <a:off x="609600" y="2152650"/>
            <a:ext cx="1059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25485A"/>
                </a:solidFill>
              </a:defRPr>
            </a:defPPr>
          </a:lstStyle>
          <a:p xmlns:a="http://schemas.openxmlformats.org/drawingml/2006/main">
            <a:pPr>
              <a:defRPr sz="2925" b="1">
                <a:solidFill>
                  <a:srgbClr val="25485A"/>
                </a:solidFill>
              </a:defRPr>
            </a:pPr>
            <a:r>
              <a:rPr sz="2925" b="1">
                <a:solidFill>
                  <a:srgbClr val="25485A"/>
                </a:solidFill>
                <a:latin typeface="Pretendard"/>
                <a:ea typeface="Pretendard"/>
                <a:cs typeface="Pretendard"/>
              </a:rPr>
              <a:t>실제 리뷰와 언어 품질 검증</a:t>
            </a:r>
          </a:p>
        </p:txBody>
      </p:sp>
      <p:sp>
        <p:nvSpPr>
          <p:cNvPr id="5" name="">
            <a:extLst xmlns:a="http://schemas.openxmlformats.org/drawingml/2006/main">
              <a:ext uri="{FF2B5EF4-FFF2-40B4-BE49-F238E27FC236}">
                <a16:creationId xmlns:a16="http://schemas.microsoft.com/office/drawing/2014/main" id="{A36A7902-96F9-4C17-B4CB-2624BA08ADEA}"/>
              </a:ext>
            </a:extLst>
          </p:cNvPr>
          <p:cNvSpPr>
            <a:spLocks xmlns:a="http://schemas.openxmlformats.org/drawingml/2006/main" noGrp="1"/>
          </p:cNvSpPr>
          <p:nvPr/>
        </p:nvSpPr>
        <p:spPr>
          <a:xfrm xmlns:a="http://schemas.openxmlformats.org/drawingml/2006/main">
            <a:off x="609600" y="3495675"/>
            <a:ext cx="10620375"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0">
                <a:solidFill>
                  <a:srgbClr val="202C31"/>
                </a:solidFill>
              </a:defRPr>
            </a:defPPr>
          </a:lstStyle>
          <a:p xmlns:a="http://schemas.openxmlformats.org/drawingml/2006/main">
            <a:pPr>
              <a:defRPr sz="2400" b="0">
                <a:solidFill>
                  <a:srgbClr val="202C31"/>
                </a:solidFill>
              </a:defRPr>
            </a:pPr>
            <a:r>
              <a:rPr sz="2400" b="0">
                <a:solidFill>
                  <a:srgbClr val="202C31"/>
                </a:solidFill>
                <a:latin typeface="Pretendard"/>
                <a:ea typeface="Pretendard"/>
                <a:cs typeface="Pretendard"/>
              </a:rPr>
              <a:t>순위를 숨긴 독립 평가 · 충분한 자료 이후 개인화</a:t>
            </a:r>
            <a:br>
              <a:rPr sz="2400" b="0">
                <a:solidFill>
                  <a:srgbClr val="202C31"/>
                </a:solidFill>
                <a:latin typeface="Pretendard"/>
                <a:ea typeface="Pretendard"/>
                <a:cs typeface="Pretendard"/>
              </a:rPr>
            </a:br>
            <a:r>
              <a:rPr sz="2400" b="0">
                <a:solidFill>
                  <a:srgbClr val="202C31"/>
                </a:solidFill>
                <a:latin typeface="Pretendard"/>
                <a:ea typeface="Pretendard"/>
                <a:cs typeface="Pretendard"/>
              </a:rPr>
              <a:t>도시별 정보 보강 · 모바일과 오프라인 현장 확인</a:t>
            </a:r>
          </a:p>
        </p:txBody>
      </p:sp>
      <p:sp>
        <p:nvSpPr>
          <p:cNvPr id="6" name="">
            <a:extLst xmlns:a="http://schemas.openxmlformats.org/drawingml/2006/main">
              <a:ext uri="{FF2B5EF4-FFF2-40B4-BE49-F238E27FC236}">
                <a16:creationId xmlns:a16="http://schemas.microsoft.com/office/drawing/2014/main" id="{5F7A7EF5-4358-4DDB-B0F6-15F3AFB808EF}"/>
              </a:ext>
            </a:extLst>
          </p:cNvPr>
          <p:cNvSpPr>
            <a:spLocks xmlns:a="http://schemas.openxmlformats.org/drawingml/2006/main" noGrp="1"/>
          </p:cNvSpPr>
          <p:nvPr/>
        </p:nvSpPr>
        <p:spPr>
          <a:xfrm xmlns:a="http://schemas.openxmlformats.org/drawingml/2006/main">
            <a:off x="609600" y="5924550"/>
            <a:ext cx="952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3F706F"/>
                </a:solidFill>
              </a:defRPr>
            </a:defPPr>
          </a:lstStyle>
          <a:p xmlns:a="http://schemas.openxmlformats.org/drawingml/2006/main">
            <a:pPr>
              <a:defRPr sz="1875" b="0">
                <a:solidFill>
                  <a:srgbClr val="3F706F"/>
                </a:solidFill>
              </a:defRPr>
            </a:pPr>
            <a:r>
              <a:rPr sz="1875" b="0">
                <a:solidFill>
                  <a:srgbClr val="3F706F"/>
                </a:solidFill>
                <a:latin typeface="Pretendard"/>
                <a:ea typeface="Pretendard"/>
                <a:cs typeface="Pretendard"/>
              </a:rPr>
              <a:t>github.com/Jin-s-work/Travel-Agent</a:t>
            </a:r>
          </a:p>
        </p:txBody>
      </p:sp>
    </p:spTree>
    <p:extLst>
      <p:ext uri="{BB962C8B-B14F-4D97-AF65-F5344CB8AC3E}">
        <p14:creationId xmlns:p14="http://schemas.microsoft.com/office/powerpoint/2010/main" val="12439750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2026-10-08T01:46:11.9280000Z</dcterms:created>
  <dcterms:modified xsi:type="dcterms:W3CDTF">2026-10-08T01:46:11.9280000Z</dcterms:modified>
</coreProperties>
</file>